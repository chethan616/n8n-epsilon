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embeddedFontLst>
    <p:embeddedFont>
      <p:font typeface="Rubik" pitchFamily="34" charset="0"/>
      <p:regular r:id="rId14"/>
      <p:bold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ServiceNow Incident Monitoring and Alerts assignment for Sanjna J and Manikonda Chethan Krishna. We're using Gmail SMTP instead of Microsoft Teams because Teams notifications need a Microsoft Entra client ID and secret, which aren't available on personal or student Microsoft accounts. A Google Workspace Gmail account with an app password gives us the same real-time notification capability without that blocker.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DFD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54761"/>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01828"/>
                </a:solidFill>
                <a:latin typeface="Rubik" pitchFamily="34" charset="0"/>
                <a:ea typeface="Rubik" pitchFamily="34" charset="-122"/>
                <a:cs typeface="Rubi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997711"/>
            <a:ext cx="10566400" cy="4047489"/>
          </a:xfrm>
          <a:prstGeom prst="rect">
            <a:avLst/>
          </a:prstGeom>
          <a:noFill/>
          <a:ln/>
        </p:spPr>
        <p:txBody>
          <a:bodyPr wrap="square" lIns="0" tIns="0" rIns="0" bIns="0" rtlCol="0" anchor="t"/>
          <a:lstStyle>
            <a:lvl1pPr algn="l" indent="0" marL="0">
              <a:lnSpc>
                <a:spcPct val="140000"/>
              </a:lnSpc>
              <a:buNone/>
              <a:defRPr lang="en-US" sz="1600" dirty="0">
                <a:solidFill>
                  <a:srgbClr val="10182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D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54761"/>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01828"/>
                </a:solidFill>
                <a:latin typeface="Rubik" pitchFamily="34" charset="0"/>
                <a:ea typeface="Rubik" pitchFamily="34" charset="-122"/>
                <a:cs typeface="Rubi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997711"/>
            <a:ext cx="10566400" cy="4047489"/>
          </a:xfrm>
          <a:prstGeom prst="rect">
            <a:avLst/>
          </a:prstGeom>
          <a:noFill/>
          <a:ln/>
        </p:spPr>
        <p:txBody>
          <a:bodyPr wrap="square" lIns="0" tIns="0" rIns="0" bIns="0" rtlCol="0" anchor="t"/>
          <a:lstStyle>
            <a:lvl1pPr algn="l" indent="0" marL="0">
              <a:lnSpc>
                <a:spcPct val="140000"/>
              </a:lnSpc>
              <a:buNone/>
              <a:defRPr lang="en-US" sz="1600" dirty="0">
                <a:solidFill>
                  <a:srgbClr val="10182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2.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Text 0"/>
          <p:cNvSpPr/>
          <p:nvPr/>
        </p:nvSpPr>
        <p:spPr>
          <a:xfrm>
            <a:off x="812800" y="2151142"/>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2994A"/>
                </a:solidFill>
                <a:latin typeface="IBM Plex Sans" pitchFamily="34" charset="0"/>
                <a:ea typeface="IBM Plex Sans" pitchFamily="34" charset="-122"/>
                <a:cs typeface="IBM Plex Sans" pitchFamily="34" charset="-120"/>
              </a:rPr>
              <a:t>EPSILON · PUBLICIS GROUPE AUTOMATION ASSIGNMENT</a:t>
            </a:r>
            <a:endParaRPr lang="en-US" sz="1300" dirty="0"/>
          </a:p>
        </p:txBody>
      </p:sp>
      <p:sp>
        <p:nvSpPr>
          <p:cNvPr id="3" name="Text 1"/>
          <p:cNvSpPr/>
          <p:nvPr>
            <p:ph type="title"/>
          </p:nvPr>
        </p:nvSpPr>
        <p:spPr>
          <a:xfrm>
            <a:off x="812800" y="2560082"/>
            <a:ext cx="10464800" cy="1425416"/>
          </a:xfrm>
          <a:prstGeom prst="rect">
            <a:avLst/>
          </a:prstGeom>
          <a:noFill/>
          <a:ln/>
        </p:spPr>
        <p:txBody>
          <a:bodyPr wrap="square" lIns="0" tIns="0" rIns="0" bIns="0" rtlCol="0" anchor="t">
            <a:normAutofit/>
          </a:bodyPr>
          <a:lstStyle/>
          <a:p>
            <a:pPr algn="l" indent="0" marL="0">
              <a:lnSpc>
                <a:spcPts val="5512"/>
              </a:lnSpc>
              <a:buNone/>
            </a:pPr>
            <a:r>
              <a:rPr lang="en-US" sz="5200" b="1" i="0" dirty="0">
                <a:solidFill>
                  <a:srgbClr val="FFFFFF"/>
                </a:solidFill>
                <a:latin typeface="Rubik" pitchFamily="34" charset="0"/>
                <a:ea typeface="Rubik" pitchFamily="34" charset="-122"/>
                <a:cs typeface="Rubik" pitchFamily="34" charset="-120"/>
              </a:rPr>
              <a:t>ServiceNow Incident</a:t>
            </a:r>
            <a:endParaRPr lang="en-US" sz="5200" dirty="0"/>
          </a:p>
          <a:p>
            <a:pPr algn="l" indent="0" marL="0">
              <a:lnSpc>
                <a:spcPts val="5512"/>
              </a:lnSpc>
              <a:buNone/>
            </a:pPr>
            <a:r>
              <a:rPr lang="en-US" sz="5200" b="1" i="0" dirty="0">
                <a:solidFill>
                  <a:srgbClr val="FFFFFF"/>
                </a:solidFill>
                <a:latin typeface="Rubik" pitchFamily="34" charset="0"/>
                <a:ea typeface="Rubik" pitchFamily="34" charset="-122"/>
                <a:cs typeface="Rubik" pitchFamily="34" charset="-120"/>
              </a:rPr>
              <a:t>Monitoring &amp; Alerts</a:t>
            </a:r>
            <a:endParaRPr lang="en-US" sz="5200" dirty="0"/>
          </a:p>
        </p:txBody>
      </p:sp>
      <p:sp>
        <p:nvSpPr>
          <p:cNvPr id="4" name="Text 2"/>
          <p:cNvSpPr/>
          <p:nvPr/>
        </p:nvSpPr>
        <p:spPr>
          <a:xfrm>
            <a:off x="812800" y="4137898"/>
            <a:ext cx="784860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EB8C9"/>
                </a:solidFill>
                <a:latin typeface="IBM Plex Sans" pitchFamily="34" charset="0"/>
                <a:ea typeface="IBM Plex Sans" pitchFamily="34" charset="-122"/>
                <a:cs typeface="IBM Plex Sans" pitchFamily="34" charset="-120"/>
              </a:rPr>
              <a:t>An n8n workflow that watches ServiceNow incidents and emails the team the moment one needs attention.</a:t>
            </a:r>
            <a:endParaRPr lang="en-US" sz="1600" dirty="0"/>
          </a:p>
        </p:txBody>
      </p:sp>
      <p:sp>
        <p:nvSpPr>
          <p:cNvPr id="5" name="Text 3"/>
          <p:cNvSpPr/>
          <p:nvPr/>
        </p:nvSpPr>
        <p:spPr>
          <a:xfrm>
            <a:off x="812800" y="6238240"/>
            <a:ext cx="72447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5E9F0"/>
                </a:solidFill>
                <a:latin typeface="IBM Plex Sans" pitchFamily="34" charset="0"/>
                <a:ea typeface="IBM Plex Sans" pitchFamily="34" charset="-122"/>
                <a:cs typeface="IBM Plex Sans" pitchFamily="34" charset="-120"/>
              </a:rPr>
              <a:t>Sanjna J</a:t>
            </a:r>
            <a:endParaRPr lang="en-US" sz="1200" dirty="0"/>
          </a:p>
        </p:txBody>
      </p:sp>
      <p:sp>
        <p:nvSpPr>
          <p:cNvPr id="6" name="Text 4"/>
          <p:cNvSpPr/>
          <p:nvPr/>
        </p:nvSpPr>
        <p:spPr>
          <a:xfrm>
            <a:off x="1670526" y="6238240"/>
            <a:ext cx="1004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t>
            </a:r>
            <a:endParaRPr lang="en-US" sz="1200" dirty="0"/>
          </a:p>
        </p:txBody>
      </p:sp>
      <p:sp>
        <p:nvSpPr>
          <p:cNvPr id="7" name="Text 5"/>
          <p:cNvSpPr/>
          <p:nvPr/>
        </p:nvSpPr>
        <p:spPr>
          <a:xfrm>
            <a:off x="1974215" y="6238240"/>
            <a:ext cx="238220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5E9F0"/>
                </a:solidFill>
                <a:latin typeface="IBM Plex Sans" pitchFamily="34" charset="0"/>
                <a:ea typeface="IBM Plex Sans" pitchFamily="34" charset="-122"/>
                <a:cs typeface="IBM Plex Sans" pitchFamily="34" charset="-120"/>
              </a:rPr>
              <a:t>Manikonda Chethan Krishna</a:t>
            </a:r>
            <a:endParaRPr lang="en-US" sz="1200" dirty="0"/>
          </a:p>
        </p:txBody>
      </p:sp>
      <p:sp>
        <p:nvSpPr>
          <p:cNvPr id="8" name="Text 6"/>
          <p:cNvSpPr/>
          <p:nvPr/>
        </p:nvSpPr>
        <p:spPr>
          <a:xfrm>
            <a:off x="9232186" y="6238240"/>
            <a:ext cx="257641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n8n · ServiceNow · Gmail SMTP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94A"/>
                </a:solidFill>
                <a:latin typeface="IBM Plex Sans" pitchFamily="34" charset="0"/>
                <a:ea typeface="IBM Plex Sans" pitchFamily="34" charset="-122"/>
                <a:cs typeface="IBM Plex Sans" pitchFamily="34" charset="-120"/>
              </a:rPr>
              <a:t>PROBLEM STATEMENT</a:t>
            </a:r>
            <a:endParaRPr lang="en-US" sz="1200" dirty="0"/>
          </a:p>
        </p:txBody>
      </p:sp>
      <p:sp>
        <p:nvSpPr>
          <p:cNvPr id="3" name="Text 1"/>
          <p:cNvSpPr/>
          <p:nvPr>
            <p:ph type="title"/>
          </p:nvPr>
        </p:nvSpPr>
        <p:spPr>
          <a:xfrm>
            <a:off x="812800" y="1280160"/>
            <a:ext cx="10137775" cy="1374140"/>
          </a:xfrm>
          <a:prstGeom prst="rect">
            <a:avLst/>
          </a:prstGeom>
          <a:noFill/>
          <a:ln/>
        </p:spPr>
        <p:txBody>
          <a:bodyPr wrap="square" lIns="0" tIns="0" rIns="0" bIns="0" rtlCol="0" anchor="t">
            <a:normAutofit/>
          </a:bodyPr>
          <a:lstStyle/>
          <a:p>
            <a:pPr algn="l" indent="0" marL="0">
              <a:lnSpc>
                <a:spcPts val="3540"/>
              </a:lnSpc>
              <a:buNone/>
            </a:pPr>
            <a:r>
              <a:rPr lang="en-US" sz="3000" b="1" i="0" dirty="0">
                <a:solidFill>
                  <a:srgbClr val="101828"/>
                </a:solidFill>
                <a:latin typeface="Rubik" pitchFamily="34" charset="0"/>
                <a:ea typeface="Rubik" pitchFamily="34" charset="-122"/>
                <a:cs typeface="Rubik" pitchFamily="34" charset="-120"/>
              </a:rPr>
              <a:t>ServiceNow incidents are tracked manually — critical issues can sit unnoticed between manual checks.</a:t>
            </a:r>
            <a:endParaRPr lang="en-US" sz="3000" dirty="0"/>
          </a:p>
        </p:txBody>
      </p:sp>
      <p:sp>
        <p:nvSpPr>
          <p:cNvPr id="4" name="Shape 2"/>
          <p:cNvSpPr/>
          <p:nvPr/>
        </p:nvSpPr>
        <p:spPr>
          <a:xfrm>
            <a:off x="815975" y="2886075"/>
            <a:ext cx="3380264" cy="1624330"/>
          </a:xfrm>
          <a:prstGeom prst="roundRect">
            <a:avLst>
              <a:gd name="adj" fmla="val 6059"/>
            </a:avLst>
          </a:prstGeom>
          <a:solidFill>
            <a:srgbClr val="FFFFFF"/>
          </a:solidFill>
          <a:ln w="6350">
            <a:solidFill>
              <a:srgbClr val="E3E6E4"/>
            </a:solidFill>
            <a:prstDash val="solid"/>
          </a:ln>
        </p:spPr>
      </p:sp>
      <p:pic>
        <p:nvPicPr>
          <p:cNvPr id="5" name="Image 0" descr="Clock">    </p:cNvPr>
          <p:cNvPicPr>
            <a:picLocks noChangeAspect="1"/>
          </p:cNvPicPr>
          <p:nvPr/>
        </p:nvPicPr>
        <p:blipFill>
          <a:blip r:embed="rId1"/>
          <a:srcRect l="0" r="0" t="0" b="0"/>
          <a:stretch/>
        </p:blipFill>
        <p:spPr>
          <a:xfrm>
            <a:off x="1071880" y="3141980"/>
            <a:ext cx="254000" cy="254000"/>
          </a:xfrm>
          <a:prstGeom prst="rect">
            <a:avLst/>
          </a:prstGeom>
        </p:spPr>
      </p:pic>
      <p:sp>
        <p:nvSpPr>
          <p:cNvPr id="6" name="Text 3"/>
          <p:cNvSpPr/>
          <p:nvPr/>
        </p:nvSpPr>
        <p:spPr>
          <a:xfrm>
            <a:off x="1071880" y="3497580"/>
            <a:ext cx="295450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1828"/>
                </a:solidFill>
                <a:latin typeface="IBM Plex Sans" pitchFamily="34" charset="0"/>
                <a:ea typeface="IBM Plex Sans" pitchFamily="34" charset="-122"/>
                <a:cs typeface="IBM Plex Sans" pitchFamily="34" charset="-120"/>
              </a:rPr>
              <a:t>Delayed response</a:t>
            </a:r>
            <a:endParaRPr lang="en-US" sz="1500" dirty="0"/>
          </a:p>
        </p:txBody>
      </p:sp>
      <p:sp>
        <p:nvSpPr>
          <p:cNvPr id="7" name="Text 4"/>
          <p:cNvSpPr/>
          <p:nvPr/>
        </p:nvSpPr>
        <p:spPr>
          <a:xfrm>
            <a:off x="1071880" y="3827780"/>
            <a:ext cx="29545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Teams only notice a critical incident when someone happens to check the console.</a:t>
            </a:r>
            <a:endParaRPr lang="en-US" sz="1200" dirty="0"/>
          </a:p>
        </p:txBody>
      </p:sp>
      <p:sp>
        <p:nvSpPr>
          <p:cNvPr id="8" name="Shape 5"/>
          <p:cNvSpPr/>
          <p:nvPr/>
        </p:nvSpPr>
        <p:spPr>
          <a:xfrm>
            <a:off x="4405789" y="2886075"/>
            <a:ext cx="3380343" cy="1624330"/>
          </a:xfrm>
          <a:prstGeom prst="roundRect">
            <a:avLst>
              <a:gd name="adj" fmla="val 6059"/>
            </a:avLst>
          </a:prstGeom>
          <a:solidFill>
            <a:srgbClr val="FFFFFF"/>
          </a:solidFill>
          <a:ln w="6350">
            <a:solidFill>
              <a:srgbClr val="E3E6E4"/>
            </a:solidFill>
            <a:prstDash val="solid"/>
          </a:ln>
        </p:spPr>
      </p:sp>
      <p:pic>
        <p:nvPicPr>
          <p:cNvPr id="9" name="Image 1" descr="Warning">    </p:cNvPr>
          <p:cNvPicPr>
            <a:picLocks noChangeAspect="1"/>
          </p:cNvPicPr>
          <p:nvPr/>
        </p:nvPicPr>
        <p:blipFill>
          <a:blip r:embed="rId2"/>
          <a:srcRect l="0" r="0" t="0" b="0"/>
          <a:stretch/>
        </p:blipFill>
        <p:spPr>
          <a:xfrm>
            <a:off x="4661694" y="3141980"/>
            <a:ext cx="254000" cy="254000"/>
          </a:xfrm>
          <a:prstGeom prst="rect">
            <a:avLst/>
          </a:prstGeom>
        </p:spPr>
      </p:pic>
      <p:sp>
        <p:nvSpPr>
          <p:cNvPr id="10" name="Text 6"/>
          <p:cNvSpPr/>
          <p:nvPr/>
        </p:nvSpPr>
        <p:spPr>
          <a:xfrm>
            <a:off x="4661694" y="3497580"/>
            <a:ext cx="29545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1828"/>
                </a:solidFill>
                <a:latin typeface="IBM Plex Sans" pitchFamily="34" charset="0"/>
                <a:ea typeface="IBM Plex Sans" pitchFamily="34" charset="-122"/>
                <a:cs typeface="IBM Plex Sans" pitchFamily="34" charset="-120"/>
              </a:rPr>
              <a:t>No escalation path</a:t>
            </a:r>
            <a:endParaRPr lang="en-US" sz="1500" dirty="0"/>
          </a:p>
        </p:txBody>
      </p:sp>
      <p:sp>
        <p:nvSpPr>
          <p:cNvPr id="11" name="Text 7"/>
          <p:cNvSpPr/>
          <p:nvPr/>
        </p:nvSpPr>
        <p:spPr>
          <a:xfrm>
            <a:off x="4661694" y="3827780"/>
            <a:ext cx="29545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High-priority and stale tickets get no automatic nudge when they're missed.</a:t>
            </a:r>
            <a:endParaRPr lang="en-US" sz="1200" dirty="0"/>
          </a:p>
        </p:txBody>
      </p:sp>
      <p:sp>
        <p:nvSpPr>
          <p:cNvPr id="12" name="Shape 8"/>
          <p:cNvSpPr/>
          <p:nvPr/>
        </p:nvSpPr>
        <p:spPr>
          <a:xfrm>
            <a:off x="7995682" y="2886075"/>
            <a:ext cx="3380343" cy="1624330"/>
          </a:xfrm>
          <a:prstGeom prst="roundRect">
            <a:avLst>
              <a:gd name="adj" fmla="val 6059"/>
            </a:avLst>
          </a:prstGeom>
          <a:solidFill>
            <a:srgbClr val="FFFFFF"/>
          </a:solidFill>
          <a:ln w="6350">
            <a:solidFill>
              <a:srgbClr val="E3E6E4"/>
            </a:solidFill>
            <a:prstDash val="solid"/>
          </a:ln>
        </p:spPr>
      </p:sp>
      <p:pic>
        <p:nvPicPr>
          <p:cNvPr id="13" name="Image 2" descr="Chat">    </p:cNvPr>
          <p:cNvPicPr>
            <a:picLocks noChangeAspect="1"/>
          </p:cNvPicPr>
          <p:nvPr/>
        </p:nvPicPr>
        <p:blipFill>
          <a:blip r:embed="rId3"/>
          <a:srcRect l="0" r="0" t="0" b="0"/>
          <a:stretch/>
        </p:blipFill>
        <p:spPr>
          <a:xfrm>
            <a:off x="8251587" y="3141980"/>
            <a:ext cx="254000" cy="254000"/>
          </a:xfrm>
          <a:prstGeom prst="rect">
            <a:avLst/>
          </a:prstGeom>
        </p:spPr>
      </p:pic>
      <p:sp>
        <p:nvSpPr>
          <p:cNvPr id="14" name="Text 9"/>
          <p:cNvSpPr/>
          <p:nvPr/>
        </p:nvSpPr>
        <p:spPr>
          <a:xfrm>
            <a:off x="8251587" y="3497580"/>
            <a:ext cx="29545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1828"/>
                </a:solidFill>
                <a:latin typeface="IBM Plex Sans" pitchFamily="34" charset="0"/>
                <a:ea typeface="IBM Plex Sans" pitchFamily="34" charset="-122"/>
                <a:cs typeface="IBM Plex Sans" pitchFamily="34" charset="-120"/>
              </a:rPr>
              <a:t>Duplicate noise</a:t>
            </a:r>
            <a:endParaRPr lang="en-US" sz="1500" dirty="0"/>
          </a:p>
        </p:txBody>
      </p:sp>
      <p:sp>
        <p:nvSpPr>
          <p:cNvPr id="15" name="Text 10"/>
          <p:cNvSpPr/>
          <p:nvPr/>
        </p:nvSpPr>
        <p:spPr>
          <a:xfrm>
            <a:off x="8251587" y="3827780"/>
            <a:ext cx="29545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Ad-hoc manual follow-ups risk spamming the same incident repeatedly.</a:t>
            </a:r>
            <a:endParaRPr lang="en-US" sz="1200" dirty="0"/>
          </a:p>
        </p:txBody>
      </p:sp>
      <p:sp>
        <p:nvSpPr>
          <p:cNvPr id="16" name="Text 11"/>
          <p:cNvSpPr/>
          <p:nvPr/>
        </p:nvSpPr>
        <p:spPr>
          <a:xfrm>
            <a:off x="812800" y="6238241"/>
            <a:ext cx="74982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Goal: automatically detect, evaluate and notify — without manual polling or duplicate alerts.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D"/>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ph type="title"/>
          </p:nvPr>
        </p:nvSpPr>
        <p:spPr>
          <a:xfrm>
            <a:off x="812800" y="10007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Rubik" pitchFamily="34" charset="0"/>
                <a:ea typeface="Rubik" pitchFamily="34" charset="-122"/>
                <a:cs typeface="Rubik" pitchFamily="34" charset="-120"/>
              </a:rPr>
              <a:t>High-level workflow pipeline</a:t>
            </a:r>
            <a:endParaRPr lang="en-US" sz="2800" dirty="0"/>
          </a:p>
        </p:txBody>
      </p:sp>
      <p:sp>
        <p:nvSpPr>
          <p:cNvPr id="4" name="Shape 2"/>
          <p:cNvSpPr/>
          <p:nvPr/>
        </p:nvSpPr>
        <p:spPr>
          <a:xfrm>
            <a:off x="815975" y="1590675"/>
            <a:ext cx="1644650" cy="1263650"/>
          </a:xfrm>
          <a:prstGeom prst="roundRect">
            <a:avLst>
              <a:gd name="adj" fmla="val 7789"/>
            </a:avLst>
          </a:prstGeom>
          <a:solidFill>
            <a:srgbClr val="FFFFFF"/>
          </a:solidFill>
          <a:ln w="6350">
            <a:solidFill>
              <a:srgbClr val="E3E6E4"/>
            </a:solidFill>
            <a:prstDash val="solid"/>
          </a:ln>
        </p:spPr>
      </p:sp>
      <p:pic>
        <p:nvPicPr>
          <p:cNvPr id="5" name="Image 0" descr="Database">    </p:cNvPr>
          <p:cNvPicPr>
            <a:picLocks noChangeAspect="1"/>
          </p:cNvPicPr>
          <p:nvPr/>
        </p:nvPicPr>
        <p:blipFill>
          <a:blip r:embed="rId1"/>
          <a:srcRect l="0" r="0" t="0" b="0"/>
          <a:stretch/>
        </p:blipFill>
        <p:spPr>
          <a:xfrm>
            <a:off x="1524000" y="1727200"/>
            <a:ext cx="228600" cy="228600"/>
          </a:xfrm>
          <a:prstGeom prst="rect">
            <a:avLst/>
          </a:prstGeom>
        </p:spPr>
      </p:pic>
      <p:sp>
        <p:nvSpPr>
          <p:cNvPr id="6" name="Text 3"/>
          <p:cNvSpPr/>
          <p:nvPr/>
        </p:nvSpPr>
        <p:spPr>
          <a:xfrm>
            <a:off x="1048615" y="2032000"/>
            <a:ext cx="1179290" cy="23876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01828"/>
                </a:solidFill>
                <a:latin typeface="IBM Plex Sans" pitchFamily="34" charset="0"/>
                <a:ea typeface="IBM Plex Sans" pitchFamily="34" charset="-122"/>
                <a:cs typeface="IBM Plex Sans" pitchFamily="34" charset="-120"/>
              </a:rPr>
              <a:t>ServiceNow</a:t>
            </a:r>
            <a:endParaRPr lang="en-US" sz="1400" dirty="0"/>
          </a:p>
        </p:txBody>
      </p:sp>
      <p:sp>
        <p:nvSpPr>
          <p:cNvPr id="7" name="Text 4"/>
          <p:cNvSpPr/>
          <p:nvPr/>
        </p:nvSpPr>
        <p:spPr>
          <a:xfrm>
            <a:off x="919480" y="2321561"/>
            <a:ext cx="1437640" cy="42164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Incident records, priority, state</a:t>
            </a:r>
            <a:endParaRPr lang="en-US" sz="1200" dirty="0"/>
          </a:p>
        </p:txBody>
      </p:sp>
      <p:pic>
        <p:nvPicPr>
          <p:cNvPr id="8" name="Image 1" descr="arrow-right">    </p:cNvPr>
          <p:cNvPicPr>
            <a:picLocks noChangeAspect="1"/>
          </p:cNvPicPr>
          <p:nvPr/>
        </p:nvPicPr>
        <p:blipFill>
          <a:blip r:embed="rId2"/>
          <a:srcRect l="0" r="0" t="0" b="0"/>
          <a:stretch/>
        </p:blipFill>
        <p:spPr>
          <a:xfrm>
            <a:off x="2463800" y="2108200"/>
            <a:ext cx="381000" cy="228600"/>
          </a:xfrm>
          <a:prstGeom prst="rect">
            <a:avLst/>
          </a:prstGeom>
        </p:spPr>
      </p:pic>
      <p:sp>
        <p:nvSpPr>
          <p:cNvPr id="9" name="Shape 5"/>
          <p:cNvSpPr/>
          <p:nvPr/>
        </p:nvSpPr>
        <p:spPr>
          <a:xfrm>
            <a:off x="2847975" y="1590675"/>
            <a:ext cx="1644650" cy="1263650"/>
          </a:xfrm>
          <a:prstGeom prst="roundRect">
            <a:avLst>
              <a:gd name="adj" fmla="val 7789"/>
            </a:avLst>
          </a:prstGeom>
          <a:solidFill>
            <a:srgbClr val="FFFFFF"/>
          </a:solidFill>
          <a:ln w="6350">
            <a:solidFill>
              <a:srgbClr val="E3E6E4"/>
            </a:solidFill>
            <a:prstDash val="solid"/>
          </a:ln>
        </p:spPr>
      </p:sp>
      <p:pic>
        <p:nvPicPr>
          <p:cNvPr id="10" name="Image 2" descr="Clock">    </p:cNvPr>
          <p:cNvPicPr>
            <a:picLocks noChangeAspect="1"/>
          </p:cNvPicPr>
          <p:nvPr/>
        </p:nvPicPr>
        <p:blipFill>
          <a:blip r:embed="rId3"/>
          <a:srcRect l="0" r="0" t="0" b="0"/>
          <a:stretch/>
        </p:blipFill>
        <p:spPr>
          <a:xfrm>
            <a:off x="3556000" y="1727200"/>
            <a:ext cx="228600" cy="228600"/>
          </a:xfrm>
          <a:prstGeom prst="rect">
            <a:avLst/>
          </a:prstGeom>
        </p:spPr>
      </p:pic>
      <p:sp>
        <p:nvSpPr>
          <p:cNvPr id="11" name="Text 6"/>
          <p:cNvSpPr/>
          <p:nvPr/>
        </p:nvSpPr>
        <p:spPr>
          <a:xfrm>
            <a:off x="2851150" y="2032000"/>
            <a:ext cx="1638221" cy="23876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01828"/>
                </a:solidFill>
                <a:latin typeface="IBM Plex Sans" pitchFamily="34" charset="0"/>
                <a:ea typeface="IBM Plex Sans" pitchFamily="34" charset="-122"/>
                <a:cs typeface="IBM Plex Sans" pitchFamily="34" charset="-120"/>
              </a:rPr>
              <a:t>Schedule Trigger</a:t>
            </a:r>
            <a:endParaRPr lang="en-US" sz="1400" dirty="0"/>
          </a:p>
        </p:txBody>
      </p:sp>
      <p:sp>
        <p:nvSpPr>
          <p:cNvPr id="12" name="Text 7"/>
          <p:cNvSpPr/>
          <p:nvPr/>
        </p:nvSpPr>
        <p:spPr>
          <a:xfrm>
            <a:off x="2951480" y="2321561"/>
            <a:ext cx="1437640" cy="42164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n8n polls every 5 minutes</a:t>
            </a:r>
            <a:endParaRPr lang="en-US" sz="1200" dirty="0"/>
          </a:p>
        </p:txBody>
      </p:sp>
      <p:pic>
        <p:nvPicPr>
          <p:cNvPr id="13" name="Image 3" descr="arrow-right">    </p:cNvPr>
          <p:cNvPicPr>
            <a:picLocks noChangeAspect="1"/>
          </p:cNvPicPr>
          <p:nvPr/>
        </p:nvPicPr>
        <p:blipFill>
          <a:blip r:embed="rId4"/>
          <a:srcRect l="0" r="0" t="0" b="0"/>
          <a:stretch/>
        </p:blipFill>
        <p:spPr>
          <a:xfrm>
            <a:off x="4495800" y="2108200"/>
            <a:ext cx="381000" cy="228600"/>
          </a:xfrm>
          <a:prstGeom prst="rect">
            <a:avLst/>
          </a:prstGeom>
        </p:spPr>
      </p:pic>
      <p:sp>
        <p:nvSpPr>
          <p:cNvPr id="14" name="Shape 8"/>
          <p:cNvSpPr/>
          <p:nvPr/>
        </p:nvSpPr>
        <p:spPr>
          <a:xfrm>
            <a:off x="4879975" y="1590675"/>
            <a:ext cx="1644650" cy="1263650"/>
          </a:xfrm>
          <a:prstGeom prst="roundRect">
            <a:avLst>
              <a:gd name="adj" fmla="val 7789"/>
            </a:avLst>
          </a:prstGeom>
          <a:solidFill>
            <a:srgbClr val="FFFFFF"/>
          </a:solidFill>
          <a:ln w="6350">
            <a:solidFill>
              <a:srgbClr val="E3E6E4"/>
            </a:solidFill>
            <a:prstDash val="solid"/>
          </a:ln>
        </p:spPr>
      </p:sp>
      <p:pic>
        <p:nvPicPr>
          <p:cNvPr id="15" name="Image 4" descr="Globe">    </p:cNvPr>
          <p:cNvPicPr>
            <a:picLocks noChangeAspect="1"/>
          </p:cNvPicPr>
          <p:nvPr/>
        </p:nvPicPr>
        <p:blipFill>
          <a:blip r:embed="rId5"/>
          <a:srcRect l="0" r="0" t="0" b="0"/>
          <a:stretch/>
        </p:blipFill>
        <p:spPr>
          <a:xfrm>
            <a:off x="5588000" y="1727200"/>
            <a:ext cx="228600" cy="228600"/>
          </a:xfrm>
          <a:prstGeom prst="rect">
            <a:avLst/>
          </a:prstGeom>
        </p:spPr>
      </p:pic>
      <p:sp>
        <p:nvSpPr>
          <p:cNvPr id="16" name="Text 9"/>
          <p:cNvSpPr/>
          <p:nvPr/>
        </p:nvSpPr>
        <p:spPr>
          <a:xfrm>
            <a:off x="4999069" y="2032000"/>
            <a:ext cx="1406461" cy="23876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01828"/>
                </a:solidFill>
                <a:latin typeface="IBM Plex Sans" pitchFamily="34" charset="0"/>
                <a:ea typeface="IBM Plex Sans" pitchFamily="34" charset="-122"/>
                <a:cs typeface="IBM Plex Sans" pitchFamily="34" charset="-120"/>
              </a:rPr>
              <a:t>HTTP Request</a:t>
            </a:r>
            <a:endParaRPr lang="en-US" sz="1400" dirty="0"/>
          </a:p>
        </p:txBody>
      </p:sp>
      <p:sp>
        <p:nvSpPr>
          <p:cNvPr id="17" name="Text 10"/>
          <p:cNvSpPr/>
          <p:nvPr/>
        </p:nvSpPr>
        <p:spPr>
          <a:xfrm>
            <a:off x="4862909" y="2321561"/>
            <a:ext cx="1678781" cy="42164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GET Table API /api/now/table/incident</a:t>
            </a:r>
            <a:endParaRPr lang="en-US" sz="1200" dirty="0"/>
          </a:p>
        </p:txBody>
      </p:sp>
      <p:pic>
        <p:nvPicPr>
          <p:cNvPr id="18" name="Image 5" descr="arrow-right">    </p:cNvPr>
          <p:cNvPicPr>
            <a:picLocks noChangeAspect="1"/>
          </p:cNvPicPr>
          <p:nvPr/>
        </p:nvPicPr>
        <p:blipFill>
          <a:blip r:embed="rId6"/>
          <a:srcRect l="0" r="0" t="0" b="0"/>
          <a:stretch/>
        </p:blipFill>
        <p:spPr>
          <a:xfrm>
            <a:off x="6527800" y="2108200"/>
            <a:ext cx="381000" cy="228600"/>
          </a:xfrm>
          <a:prstGeom prst="rect">
            <a:avLst/>
          </a:prstGeom>
        </p:spPr>
      </p:pic>
      <p:sp>
        <p:nvSpPr>
          <p:cNvPr id="19" name="Shape 11"/>
          <p:cNvSpPr/>
          <p:nvPr/>
        </p:nvSpPr>
        <p:spPr>
          <a:xfrm>
            <a:off x="6915150" y="1593850"/>
            <a:ext cx="1638300" cy="1257300"/>
          </a:xfrm>
          <a:prstGeom prst="roundRect">
            <a:avLst>
              <a:gd name="adj" fmla="val 7576"/>
            </a:avLst>
          </a:prstGeom>
          <a:solidFill>
            <a:srgbClr val="FFFFFF"/>
          </a:solidFill>
          <a:ln w="12700">
            <a:solidFill>
              <a:srgbClr val="F2994A"/>
            </a:solidFill>
            <a:prstDash val="solid"/>
          </a:ln>
        </p:spPr>
      </p:sp>
      <p:pic>
        <p:nvPicPr>
          <p:cNvPr id="20" name="Image 6" descr="Settings">    </p:cNvPr>
          <p:cNvPicPr>
            <a:picLocks noChangeAspect="1"/>
          </p:cNvPicPr>
          <p:nvPr/>
        </p:nvPicPr>
        <p:blipFill>
          <a:blip r:embed="rId7"/>
          <a:srcRect l="-217" r="-217" t="0" b="0"/>
          <a:stretch/>
        </p:blipFill>
        <p:spPr>
          <a:xfrm>
            <a:off x="7620000" y="1724661"/>
            <a:ext cx="228600" cy="183356"/>
          </a:xfrm>
          <a:prstGeom prst="rect">
            <a:avLst/>
          </a:prstGeom>
        </p:spPr>
      </p:pic>
      <p:sp>
        <p:nvSpPr>
          <p:cNvPr id="21" name="Text 12"/>
          <p:cNvSpPr/>
          <p:nvPr/>
        </p:nvSpPr>
        <p:spPr>
          <a:xfrm>
            <a:off x="6921500" y="1984217"/>
            <a:ext cx="1625521" cy="367586"/>
          </a:xfrm>
          <a:prstGeom prst="rect">
            <a:avLst/>
          </a:prstGeom>
          <a:noFill/>
          <a:ln/>
        </p:spPr>
        <p:txBody>
          <a:bodyPr wrap="square" lIns="0" tIns="0" rIns="0" bIns="0" rtlCol="0" anchor="t">
            <a:normAutofit/>
          </a:bodyPr>
          <a:lstStyle/>
          <a:p>
            <a:pPr algn="ctr" indent="0" marL="0">
              <a:lnSpc>
                <a:spcPts val="1596"/>
              </a:lnSpc>
              <a:buNone/>
            </a:pPr>
            <a:r>
              <a:rPr lang="en-US" sz="1330" b="1" dirty="0">
                <a:solidFill>
                  <a:srgbClr val="101828"/>
                </a:solidFill>
                <a:latin typeface="IBM Plex Sans" pitchFamily="34" charset="0"/>
                <a:ea typeface="IBM Plex Sans" pitchFamily="34" charset="-122"/>
                <a:cs typeface="IBM Plex Sans" pitchFamily="34" charset="-120"/>
              </a:rPr>
              <a:t>Evaluate + Dedup</a:t>
            </a:r>
            <a:endParaRPr lang="en-US" sz="1330" dirty="0"/>
          </a:p>
        </p:txBody>
      </p:sp>
      <p:sp>
        <p:nvSpPr>
          <p:cNvPr id="22" name="Text 13"/>
          <p:cNvSpPr/>
          <p:nvPr/>
        </p:nvSpPr>
        <p:spPr>
          <a:xfrm>
            <a:off x="7020560" y="2402602"/>
            <a:ext cx="1427480" cy="343138"/>
          </a:xfrm>
          <a:prstGeom prst="rect">
            <a:avLst/>
          </a:prstGeom>
          <a:noFill/>
          <a:ln/>
        </p:spPr>
        <p:txBody>
          <a:bodyPr wrap="square" lIns="0" tIns="0" rIns="0" bIns="0" rtlCol="0" anchor="t">
            <a:normAutofit/>
          </a:bodyPr>
          <a:lstStyle/>
          <a:p>
            <a:pPr algn="ctr" indent="0" marL="0">
              <a:lnSpc>
                <a:spcPts val="1258"/>
              </a:lnSpc>
              <a:buNone/>
            </a:pPr>
            <a:r>
              <a:rPr lang="en-US" sz="968" dirty="0">
                <a:solidFill>
                  <a:srgbClr val="4A5568"/>
                </a:solidFill>
                <a:latin typeface="IBM Plex Sans" pitchFamily="34" charset="0"/>
                <a:ea typeface="IBM Plex Sans" pitchFamily="34" charset="-122"/>
                <a:cs typeface="IBM Plex Sans" pitchFamily="34" charset="-120"/>
              </a:rPr>
              <a:t>Critical / high / stale rules</a:t>
            </a:r>
            <a:endParaRPr lang="en-US" sz="968" dirty="0"/>
          </a:p>
        </p:txBody>
      </p:sp>
      <p:pic>
        <p:nvPicPr>
          <p:cNvPr id="23" name="Image 7" descr="arrow-right">    </p:cNvPr>
          <p:cNvPicPr>
            <a:picLocks noChangeAspect="1"/>
          </p:cNvPicPr>
          <p:nvPr/>
        </p:nvPicPr>
        <p:blipFill>
          <a:blip r:embed="rId8"/>
          <a:srcRect l="0" r="0" t="0" b="0"/>
          <a:stretch/>
        </p:blipFill>
        <p:spPr>
          <a:xfrm>
            <a:off x="8559800" y="2108200"/>
            <a:ext cx="381000" cy="228600"/>
          </a:xfrm>
          <a:prstGeom prst="rect">
            <a:avLst/>
          </a:prstGeom>
        </p:spPr>
      </p:pic>
      <p:sp>
        <p:nvSpPr>
          <p:cNvPr id="24" name="Shape 14"/>
          <p:cNvSpPr/>
          <p:nvPr/>
        </p:nvSpPr>
        <p:spPr>
          <a:xfrm>
            <a:off x="8943975" y="1590675"/>
            <a:ext cx="1644650" cy="1263650"/>
          </a:xfrm>
          <a:prstGeom prst="roundRect">
            <a:avLst>
              <a:gd name="adj" fmla="val 7789"/>
            </a:avLst>
          </a:prstGeom>
          <a:solidFill>
            <a:srgbClr val="FFFFFF"/>
          </a:solidFill>
          <a:ln w="6350">
            <a:solidFill>
              <a:srgbClr val="E3E6E4"/>
            </a:solidFill>
            <a:prstDash val="solid"/>
          </a:ln>
        </p:spPr>
      </p:sp>
      <p:pic>
        <p:nvPicPr>
          <p:cNvPr id="25" name="Image 8" descr="PaperPlane">    </p:cNvPr>
          <p:cNvPicPr>
            <a:picLocks noChangeAspect="1"/>
          </p:cNvPicPr>
          <p:nvPr/>
        </p:nvPicPr>
        <p:blipFill>
          <a:blip r:embed="rId9"/>
          <a:srcRect l="-590" r="-590" t="0" b="0"/>
          <a:stretch/>
        </p:blipFill>
        <p:spPr>
          <a:xfrm>
            <a:off x="9652000" y="1719580"/>
            <a:ext cx="228600" cy="188277"/>
          </a:xfrm>
          <a:prstGeom prst="rect">
            <a:avLst/>
          </a:prstGeom>
        </p:spPr>
      </p:pic>
      <p:sp>
        <p:nvSpPr>
          <p:cNvPr id="26" name="Text 15"/>
          <p:cNvSpPr/>
          <p:nvPr/>
        </p:nvSpPr>
        <p:spPr>
          <a:xfrm>
            <a:off x="9259189" y="1984057"/>
            <a:ext cx="1014222" cy="201057"/>
          </a:xfrm>
          <a:prstGeom prst="rect">
            <a:avLst/>
          </a:prstGeom>
          <a:noFill/>
          <a:ln/>
        </p:spPr>
        <p:txBody>
          <a:bodyPr wrap="square" lIns="0" tIns="0" rIns="0" bIns="0" rtlCol="0" anchor="t">
            <a:normAutofit/>
          </a:bodyPr>
          <a:lstStyle/>
          <a:p>
            <a:pPr algn="ctr" indent="0" marL="0">
              <a:lnSpc>
                <a:spcPts val="1423"/>
              </a:lnSpc>
              <a:buNone/>
            </a:pPr>
            <a:r>
              <a:rPr lang="en-US" sz="1186" b="1" dirty="0">
                <a:solidFill>
                  <a:srgbClr val="101828"/>
                </a:solidFill>
                <a:latin typeface="IBM Plex Sans" pitchFamily="34" charset="0"/>
                <a:ea typeface="IBM Plex Sans" pitchFamily="34" charset="-122"/>
                <a:cs typeface="IBM Plex Sans" pitchFamily="34" charset="-120"/>
              </a:rPr>
              <a:t>Gmail SMTP</a:t>
            </a:r>
            <a:endParaRPr lang="en-US" sz="1186" dirty="0"/>
          </a:p>
        </p:txBody>
      </p:sp>
      <p:sp>
        <p:nvSpPr>
          <p:cNvPr id="27" name="Text 16"/>
          <p:cNvSpPr/>
          <p:nvPr/>
        </p:nvSpPr>
        <p:spPr>
          <a:xfrm>
            <a:off x="9047480" y="2235915"/>
            <a:ext cx="1437640" cy="514906"/>
          </a:xfrm>
          <a:prstGeom prst="rect">
            <a:avLst/>
          </a:prstGeom>
          <a:noFill/>
          <a:ln/>
        </p:spPr>
        <p:txBody>
          <a:bodyPr wrap="square" lIns="0" tIns="0" rIns="0" bIns="0" rtlCol="0" anchor="t">
            <a:normAutofit/>
          </a:bodyPr>
          <a:lstStyle/>
          <a:p>
            <a:pPr algn="ctr" indent="0" marL="0">
              <a:lnSpc>
                <a:spcPts val="1511"/>
              </a:lnSpc>
              <a:buNone/>
            </a:pPr>
            <a:r>
              <a:rPr lang="en-US" sz="1163" dirty="0">
                <a:solidFill>
                  <a:srgbClr val="4A5568"/>
                </a:solidFill>
                <a:latin typeface="IBM Plex Sans" pitchFamily="34" charset="0"/>
                <a:ea typeface="IBM Plex Sans" pitchFamily="34" charset="-122"/>
                <a:cs typeface="IBM Plex Sans" pitchFamily="34" charset="-120"/>
              </a:rPr>
              <a:t>Sends the structured alert email</a:t>
            </a:r>
            <a:endParaRPr lang="en-US" sz="1163" dirty="0"/>
          </a:p>
        </p:txBody>
      </p:sp>
      <p:pic>
        <p:nvPicPr>
          <p:cNvPr id="28" name="Image 9" descr="connector">    </p:cNvPr>
          <p:cNvPicPr>
            <a:picLocks noChangeAspect="1"/>
          </p:cNvPicPr>
          <p:nvPr/>
        </p:nvPicPr>
        <p:blipFill>
          <a:blip r:embed="rId10"/>
          <a:srcRect l="0" r="0" t="0" b="0"/>
          <a:stretch/>
        </p:blipFill>
        <p:spPr>
          <a:xfrm>
            <a:off x="7683500" y="2806700"/>
            <a:ext cx="101600" cy="609600"/>
          </a:xfrm>
          <a:prstGeom prst="rect">
            <a:avLst/>
          </a:prstGeom>
        </p:spPr>
      </p:pic>
      <p:sp>
        <p:nvSpPr>
          <p:cNvPr id="29" name="Shape 17"/>
          <p:cNvSpPr/>
          <p:nvPr/>
        </p:nvSpPr>
        <p:spPr>
          <a:xfrm>
            <a:off x="6400800" y="3365500"/>
            <a:ext cx="2667000" cy="1016000"/>
          </a:xfrm>
          <a:prstGeom prst="roundRect">
            <a:avLst>
              <a:gd name="adj" fmla="val 10000"/>
            </a:avLst>
          </a:prstGeom>
          <a:solidFill>
            <a:srgbClr val="101828"/>
          </a:solidFill>
          <a:ln/>
        </p:spPr>
      </p:sp>
      <p:pic>
        <p:nvPicPr>
          <p:cNvPr id="30" name="Image 10" descr="Lock">    </p:cNvPr>
          <p:cNvPicPr>
            <a:picLocks noChangeAspect="1"/>
          </p:cNvPicPr>
          <p:nvPr/>
        </p:nvPicPr>
        <p:blipFill>
          <a:blip r:embed="rId11"/>
          <a:srcRect l="0" r="0" t="-951" b="-951"/>
          <a:stretch/>
        </p:blipFill>
        <p:spPr>
          <a:xfrm>
            <a:off x="7632700" y="3517900"/>
            <a:ext cx="203200" cy="148828"/>
          </a:xfrm>
          <a:prstGeom prst="rect">
            <a:avLst/>
          </a:prstGeom>
        </p:spPr>
      </p:pic>
      <p:sp>
        <p:nvSpPr>
          <p:cNvPr id="31" name="Text 18"/>
          <p:cNvSpPr/>
          <p:nvPr/>
        </p:nvSpPr>
        <p:spPr>
          <a:xfrm>
            <a:off x="7160991" y="3730228"/>
            <a:ext cx="1146620" cy="170498"/>
          </a:xfrm>
          <a:prstGeom prst="rect">
            <a:avLst/>
          </a:prstGeom>
          <a:noFill/>
          <a:ln/>
        </p:spPr>
        <p:txBody>
          <a:bodyPr wrap="square" lIns="0" tIns="0" rIns="0" bIns="0" rtlCol="0" anchor="t">
            <a:normAutofit/>
          </a:bodyPr>
          <a:lstStyle/>
          <a:p>
            <a:pPr algn="ctr" indent="0" marL="0">
              <a:lnSpc>
                <a:spcPts val="1170"/>
              </a:lnSpc>
              <a:buNone/>
            </a:pPr>
            <a:r>
              <a:rPr lang="en-US" sz="975" b="1" dirty="0">
                <a:solidFill>
                  <a:srgbClr val="FFFFFF"/>
                </a:solidFill>
                <a:latin typeface="IBM Plex Sans" pitchFamily="34" charset="0"/>
                <a:ea typeface="IBM Plex Sans" pitchFamily="34" charset="-122"/>
                <a:cs typeface="IBM Plex Sans" pitchFamily="34" charset="-120"/>
              </a:rPr>
              <a:t>Alert State Store</a:t>
            </a:r>
            <a:endParaRPr lang="en-US" sz="975" dirty="0"/>
          </a:p>
        </p:txBody>
      </p:sp>
      <p:sp>
        <p:nvSpPr>
          <p:cNvPr id="32" name="Text 19"/>
          <p:cNvSpPr/>
          <p:nvPr/>
        </p:nvSpPr>
        <p:spPr>
          <a:xfrm>
            <a:off x="6400801" y="3938826"/>
            <a:ext cx="2666999" cy="315674"/>
          </a:xfrm>
          <a:prstGeom prst="rect">
            <a:avLst/>
          </a:prstGeom>
          <a:noFill/>
          <a:ln/>
        </p:spPr>
        <p:txBody>
          <a:bodyPr wrap="square" lIns="0" tIns="0" rIns="0" bIns="0" rtlCol="0" anchor="t">
            <a:normAutofit/>
          </a:bodyPr>
          <a:lstStyle/>
          <a:p>
            <a:pPr algn="ctr" indent="0" marL="0">
              <a:lnSpc>
                <a:spcPts val="1380"/>
              </a:lnSpc>
              <a:buNone/>
            </a:pPr>
            <a:r>
              <a:rPr lang="en-US" sz="1061" dirty="0">
                <a:solidFill>
                  <a:srgbClr val="AEB8C9"/>
                </a:solidFill>
                <a:latin typeface="IBM Plex Sans" pitchFamily="34" charset="0"/>
                <a:ea typeface="IBM Plex Sans" pitchFamily="34" charset="-122"/>
                <a:cs typeface="IBM Plex Sans" pitchFamily="34" charset="-120"/>
              </a:rPr>
              <a:t>incident + alert type → sent timestamp</a:t>
            </a:r>
            <a:endParaRPr lang="en-US" sz="1061" dirty="0"/>
          </a:p>
        </p:txBody>
      </p:sp>
      <p:sp>
        <p:nvSpPr>
          <p:cNvPr id="33" name="Text 20"/>
          <p:cNvSpPr/>
          <p:nvPr/>
        </p:nvSpPr>
        <p:spPr>
          <a:xfrm>
            <a:off x="812800" y="6339841"/>
            <a:ext cx="56285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Execution logs and error handling apply to every step of this pipeline.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D"/>
                </a:solidFill>
                <a:latin typeface="IBM Plex Sans" pitchFamily="34" charset="0"/>
                <a:ea typeface="IBM Plex Sans" pitchFamily="34" charset="-122"/>
                <a:cs typeface="IBM Plex Sans" pitchFamily="34" charset="-120"/>
              </a:rPr>
              <a:t>TECH STACK</a:t>
            </a:r>
            <a:endParaRPr lang="en-US" sz="1200" dirty="0"/>
          </a:p>
        </p:txBody>
      </p:sp>
      <p:sp>
        <p:nvSpPr>
          <p:cNvPr id="3" name="Text 1"/>
          <p:cNvSpPr/>
          <p:nvPr>
            <p:ph type="title"/>
          </p:nvPr>
        </p:nvSpPr>
        <p:spPr>
          <a:xfrm>
            <a:off x="812800" y="1280161"/>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Rubik" pitchFamily="34" charset="0"/>
                <a:ea typeface="Rubik" pitchFamily="34" charset="-122"/>
                <a:cs typeface="Rubik" pitchFamily="34" charset="-120"/>
              </a:rPr>
              <a:t>Six pieces, no new infrastructure</a:t>
            </a:r>
            <a:endParaRPr lang="en-US" sz="3000" dirty="0"/>
          </a:p>
        </p:txBody>
      </p:sp>
      <p:sp>
        <p:nvSpPr>
          <p:cNvPr id="4" name="Shape 2"/>
          <p:cNvSpPr/>
          <p:nvPr/>
        </p:nvSpPr>
        <p:spPr>
          <a:xfrm>
            <a:off x="815975" y="1975486"/>
            <a:ext cx="3397250" cy="1375410"/>
          </a:xfrm>
          <a:prstGeom prst="roundRect">
            <a:avLst>
              <a:gd name="adj" fmla="val 7156"/>
            </a:avLst>
          </a:prstGeom>
          <a:solidFill>
            <a:srgbClr val="FFFFFF"/>
          </a:solidFill>
          <a:ln w="6350">
            <a:solidFill>
              <a:srgbClr val="E3E6E4"/>
            </a:solidFill>
            <a:prstDash val="solid"/>
          </a:ln>
        </p:spPr>
      </p:sp>
      <p:pic>
        <p:nvPicPr>
          <p:cNvPr id="5" name="Image 0" descr="Database">    </p:cNvPr>
          <p:cNvPicPr>
            <a:picLocks noChangeAspect="1"/>
          </p:cNvPicPr>
          <p:nvPr/>
        </p:nvPicPr>
        <p:blipFill>
          <a:blip r:embed="rId1"/>
          <a:srcRect l="0" r="0" t="0" b="0"/>
          <a:stretch/>
        </p:blipFill>
        <p:spPr>
          <a:xfrm>
            <a:off x="1021080" y="2180591"/>
            <a:ext cx="203200" cy="203200"/>
          </a:xfrm>
          <a:prstGeom prst="rect">
            <a:avLst/>
          </a:prstGeom>
        </p:spPr>
      </p:pic>
      <p:sp>
        <p:nvSpPr>
          <p:cNvPr id="6" name="Text 3"/>
          <p:cNvSpPr/>
          <p:nvPr/>
        </p:nvSpPr>
        <p:spPr>
          <a:xfrm>
            <a:off x="1021080" y="2459991"/>
            <a:ext cx="307665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1828"/>
                </a:solidFill>
                <a:latin typeface="IBM Plex Sans" pitchFamily="34" charset="0"/>
                <a:ea typeface="IBM Plex Sans" pitchFamily="34" charset="-122"/>
                <a:cs typeface="IBM Plex Sans" pitchFamily="34" charset="-120"/>
              </a:rPr>
              <a:t>ServiceNow</a:t>
            </a:r>
            <a:endParaRPr lang="en-US" sz="1300" dirty="0"/>
          </a:p>
        </p:txBody>
      </p:sp>
      <p:sp>
        <p:nvSpPr>
          <p:cNvPr id="7" name="Text 4"/>
          <p:cNvSpPr/>
          <p:nvPr/>
        </p:nvSpPr>
        <p:spPr>
          <a:xfrm>
            <a:off x="1021080" y="2734311"/>
            <a:ext cx="307665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Incident source — Table API, developer instance</a:t>
            </a:r>
            <a:endParaRPr lang="en-US" sz="1200" dirty="0"/>
          </a:p>
        </p:txBody>
      </p:sp>
      <p:sp>
        <p:nvSpPr>
          <p:cNvPr id="8" name="Shape 5"/>
          <p:cNvSpPr/>
          <p:nvPr/>
        </p:nvSpPr>
        <p:spPr>
          <a:xfrm>
            <a:off x="4397375" y="1975486"/>
            <a:ext cx="3397250" cy="1375410"/>
          </a:xfrm>
          <a:prstGeom prst="roundRect">
            <a:avLst>
              <a:gd name="adj" fmla="val 7156"/>
            </a:avLst>
          </a:prstGeom>
          <a:solidFill>
            <a:srgbClr val="FFFFFF"/>
          </a:solidFill>
          <a:ln w="6350">
            <a:solidFill>
              <a:srgbClr val="E3E6E4"/>
            </a:solidFill>
            <a:prstDash val="solid"/>
          </a:ln>
        </p:spPr>
      </p:sp>
      <p:pic>
        <p:nvPicPr>
          <p:cNvPr id="9" name="Image 1" descr="Lightning">    </p:cNvPr>
          <p:cNvPicPr>
            <a:picLocks noChangeAspect="1"/>
          </p:cNvPicPr>
          <p:nvPr/>
        </p:nvPicPr>
        <p:blipFill>
          <a:blip r:embed="rId2"/>
          <a:srcRect l="0" r="0" t="0" b="0"/>
          <a:stretch/>
        </p:blipFill>
        <p:spPr>
          <a:xfrm>
            <a:off x="4602480" y="2180591"/>
            <a:ext cx="203200" cy="203200"/>
          </a:xfrm>
          <a:prstGeom prst="rect">
            <a:avLst/>
          </a:prstGeom>
        </p:spPr>
      </p:pic>
      <p:sp>
        <p:nvSpPr>
          <p:cNvPr id="10" name="Text 6"/>
          <p:cNvSpPr/>
          <p:nvPr/>
        </p:nvSpPr>
        <p:spPr>
          <a:xfrm>
            <a:off x="4602480" y="2459991"/>
            <a:ext cx="307665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1828"/>
                </a:solidFill>
                <a:latin typeface="IBM Plex Sans" pitchFamily="34" charset="0"/>
                <a:ea typeface="IBM Plex Sans" pitchFamily="34" charset="-122"/>
                <a:cs typeface="IBM Plex Sans" pitchFamily="34" charset="-120"/>
              </a:rPr>
              <a:t>n8n Community Edition</a:t>
            </a:r>
            <a:endParaRPr lang="en-US" sz="1300" dirty="0"/>
          </a:p>
        </p:txBody>
      </p:sp>
      <p:sp>
        <p:nvSpPr>
          <p:cNvPr id="11" name="Text 7"/>
          <p:cNvSpPr/>
          <p:nvPr/>
        </p:nvSpPr>
        <p:spPr>
          <a:xfrm>
            <a:off x="4602480" y="2734311"/>
            <a:ext cx="307665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Self-hosted orchestration — Schedule, HTTP, IF, Code nodes</a:t>
            </a:r>
            <a:endParaRPr lang="en-US" sz="1200" dirty="0"/>
          </a:p>
        </p:txBody>
      </p:sp>
      <p:sp>
        <p:nvSpPr>
          <p:cNvPr id="12" name="Shape 8"/>
          <p:cNvSpPr/>
          <p:nvPr/>
        </p:nvSpPr>
        <p:spPr>
          <a:xfrm>
            <a:off x="7978775" y="1975486"/>
            <a:ext cx="3397250" cy="1375410"/>
          </a:xfrm>
          <a:prstGeom prst="roundRect">
            <a:avLst>
              <a:gd name="adj" fmla="val 7156"/>
            </a:avLst>
          </a:prstGeom>
          <a:solidFill>
            <a:srgbClr val="FFFFFF"/>
          </a:solidFill>
          <a:ln w="6350">
            <a:solidFill>
              <a:srgbClr val="E3E6E4"/>
            </a:solidFill>
            <a:prstDash val="solid"/>
          </a:ln>
        </p:spPr>
      </p:sp>
      <p:pic>
        <p:nvPicPr>
          <p:cNvPr id="13" name="Image 2" descr="Globe">    </p:cNvPr>
          <p:cNvPicPr>
            <a:picLocks noChangeAspect="1"/>
          </p:cNvPicPr>
          <p:nvPr/>
        </p:nvPicPr>
        <p:blipFill>
          <a:blip r:embed="rId3"/>
          <a:srcRect l="0" r="0" t="0" b="0"/>
          <a:stretch/>
        </p:blipFill>
        <p:spPr>
          <a:xfrm>
            <a:off x="8183880" y="2180591"/>
            <a:ext cx="203200" cy="203200"/>
          </a:xfrm>
          <a:prstGeom prst="rect">
            <a:avLst/>
          </a:prstGeom>
        </p:spPr>
      </p:pic>
      <p:sp>
        <p:nvSpPr>
          <p:cNvPr id="14" name="Text 9"/>
          <p:cNvSpPr/>
          <p:nvPr/>
        </p:nvSpPr>
        <p:spPr>
          <a:xfrm>
            <a:off x="8183880" y="2459991"/>
            <a:ext cx="307665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1828"/>
                </a:solidFill>
                <a:latin typeface="IBM Plex Sans" pitchFamily="34" charset="0"/>
                <a:ea typeface="IBM Plex Sans" pitchFamily="34" charset="-122"/>
                <a:cs typeface="IBM Plex Sans" pitchFamily="34" charset="-120"/>
              </a:rPr>
              <a:t>REST Table API</a:t>
            </a:r>
            <a:endParaRPr lang="en-US" sz="1300" dirty="0"/>
          </a:p>
        </p:txBody>
      </p:sp>
      <p:sp>
        <p:nvSpPr>
          <p:cNvPr id="15" name="Text 10"/>
          <p:cNvSpPr/>
          <p:nvPr/>
        </p:nvSpPr>
        <p:spPr>
          <a:xfrm>
            <a:off x="8183880" y="2734311"/>
            <a:ext cx="307665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Authenticated GET — field-filtered, paginated queries</a:t>
            </a:r>
            <a:endParaRPr lang="en-US" sz="1200" dirty="0"/>
          </a:p>
        </p:txBody>
      </p:sp>
      <p:sp>
        <p:nvSpPr>
          <p:cNvPr id="16" name="Shape 11"/>
          <p:cNvSpPr/>
          <p:nvPr/>
        </p:nvSpPr>
        <p:spPr>
          <a:xfrm>
            <a:off x="815975" y="3535045"/>
            <a:ext cx="3397250" cy="1375410"/>
          </a:xfrm>
          <a:prstGeom prst="roundRect">
            <a:avLst>
              <a:gd name="adj" fmla="val 7156"/>
            </a:avLst>
          </a:prstGeom>
          <a:solidFill>
            <a:srgbClr val="FFFFFF"/>
          </a:solidFill>
          <a:ln w="6350">
            <a:solidFill>
              <a:srgbClr val="E3E6E4"/>
            </a:solidFill>
            <a:prstDash val="solid"/>
          </a:ln>
        </p:spPr>
      </p:sp>
      <p:pic>
        <p:nvPicPr>
          <p:cNvPr id="17" name="Image 3" descr="PaperPlane">    </p:cNvPr>
          <p:cNvPicPr>
            <a:picLocks noChangeAspect="1"/>
          </p:cNvPicPr>
          <p:nvPr/>
        </p:nvPicPr>
        <p:blipFill>
          <a:blip r:embed="rId4"/>
          <a:srcRect l="0" r="0" t="0" b="0"/>
          <a:stretch/>
        </p:blipFill>
        <p:spPr>
          <a:xfrm>
            <a:off x="1021080" y="3740150"/>
            <a:ext cx="203200" cy="203200"/>
          </a:xfrm>
          <a:prstGeom prst="rect">
            <a:avLst/>
          </a:prstGeom>
        </p:spPr>
      </p:pic>
      <p:sp>
        <p:nvSpPr>
          <p:cNvPr id="18" name="Text 12"/>
          <p:cNvSpPr/>
          <p:nvPr/>
        </p:nvSpPr>
        <p:spPr>
          <a:xfrm>
            <a:off x="1021080" y="4019550"/>
            <a:ext cx="307665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1828"/>
                </a:solidFill>
                <a:latin typeface="IBM Plex Sans" pitchFamily="34" charset="0"/>
                <a:ea typeface="IBM Plex Sans" pitchFamily="34" charset="-122"/>
                <a:cs typeface="IBM Plex Sans" pitchFamily="34" charset="-120"/>
              </a:rPr>
              <a:t>Gmail SMTP</a:t>
            </a:r>
            <a:endParaRPr lang="en-US" sz="1300" dirty="0"/>
          </a:p>
        </p:txBody>
      </p:sp>
      <p:sp>
        <p:nvSpPr>
          <p:cNvPr id="19" name="Text 13"/>
          <p:cNvSpPr/>
          <p:nvPr/>
        </p:nvSpPr>
        <p:spPr>
          <a:xfrm>
            <a:off x="1021080" y="4293870"/>
            <a:ext cx="307665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smtp.gmail.com + app password, Google Workspace account</a:t>
            </a:r>
            <a:endParaRPr lang="en-US" sz="1200" dirty="0"/>
          </a:p>
        </p:txBody>
      </p:sp>
      <p:sp>
        <p:nvSpPr>
          <p:cNvPr id="20" name="Shape 14"/>
          <p:cNvSpPr/>
          <p:nvPr/>
        </p:nvSpPr>
        <p:spPr>
          <a:xfrm>
            <a:off x="4397375" y="3535045"/>
            <a:ext cx="3397250" cy="1375410"/>
          </a:xfrm>
          <a:prstGeom prst="roundRect">
            <a:avLst>
              <a:gd name="adj" fmla="val 7156"/>
            </a:avLst>
          </a:prstGeom>
          <a:solidFill>
            <a:srgbClr val="FFFFFF"/>
          </a:solidFill>
          <a:ln w="6350">
            <a:solidFill>
              <a:srgbClr val="E3E6E4"/>
            </a:solidFill>
            <a:prstDash val="solid"/>
          </a:ln>
        </p:spPr>
      </p:sp>
      <p:pic>
        <p:nvPicPr>
          <p:cNvPr id="21" name="Image 4" descr="Lock">    </p:cNvPr>
          <p:cNvPicPr>
            <a:picLocks noChangeAspect="1"/>
          </p:cNvPicPr>
          <p:nvPr/>
        </p:nvPicPr>
        <p:blipFill>
          <a:blip r:embed="rId5"/>
          <a:srcRect l="0" r="0" t="0" b="0"/>
          <a:stretch/>
        </p:blipFill>
        <p:spPr>
          <a:xfrm>
            <a:off x="4602480" y="3740150"/>
            <a:ext cx="203200" cy="203200"/>
          </a:xfrm>
          <a:prstGeom prst="rect">
            <a:avLst/>
          </a:prstGeom>
        </p:spPr>
      </p:pic>
      <p:sp>
        <p:nvSpPr>
          <p:cNvPr id="22" name="Text 15"/>
          <p:cNvSpPr/>
          <p:nvPr/>
        </p:nvSpPr>
        <p:spPr>
          <a:xfrm>
            <a:off x="4602480" y="4019550"/>
            <a:ext cx="307665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1828"/>
                </a:solidFill>
                <a:latin typeface="IBM Plex Sans" pitchFamily="34" charset="0"/>
                <a:ea typeface="IBM Plex Sans" pitchFamily="34" charset="-122"/>
                <a:cs typeface="IBM Plex Sans" pitchFamily="34" charset="-120"/>
              </a:rPr>
              <a:t>n8n Data Table</a:t>
            </a:r>
            <a:endParaRPr lang="en-US" sz="1300" dirty="0"/>
          </a:p>
        </p:txBody>
      </p:sp>
      <p:sp>
        <p:nvSpPr>
          <p:cNvPr id="23" name="Text 16"/>
          <p:cNvSpPr/>
          <p:nvPr/>
        </p:nvSpPr>
        <p:spPr>
          <a:xfrm>
            <a:off x="4602480" y="4293870"/>
            <a:ext cx="307665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Persistent dedup store — incident + alert type → sent?</a:t>
            </a:r>
            <a:endParaRPr lang="en-US" sz="1200" dirty="0"/>
          </a:p>
        </p:txBody>
      </p:sp>
      <p:sp>
        <p:nvSpPr>
          <p:cNvPr id="24" name="Shape 17"/>
          <p:cNvSpPr/>
          <p:nvPr/>
        </p:nvSpPr>
        <p:spPr>
          <a:xfrm>
            <a:off x="7978775" y="3535045"/>
            <a:ext cx="3397250" cy="1375410"/>
          </a:xfrm>
          <a:prstGeom prst="roundRect">
            <a:avLst>
              <a:gd name="adj" fmla="val 7156"/>
            </a:avLst>
          </a:prstGeom>
          <a:solidFill>
            <a:srgbClr val="FFFFFF"/>
          </a:solidFill>
          <a:ln w="6350">
            <a:solidFill>
              <a:srgbClr val="E3E6E4"/>
            </a:solidFill>
            <a:prstDash val="solid"/>
          </a:ln>
        </p:spPr>
      </p:sp>
      <p:pic>
        <p:nvPicPr>
          <p:cNvPr id="25" name="Image 5" descr="Activity">    </p:cNvPr>
          <p:cNvPicPr>
            <a:picLocks noChangeAspect="1"/>
          </p:cNvPicPr>
          <p:nvPr/>
        </p:nvPicPr>
        <p:blipFill>
          <a:blip r:embed="rId6"/>
          <a:srcRect l="0" r="0" t="0" b="0"/>
          <a:stretch/>
        </p:blipFill>
        <p:spPr>
          <a:xfrm>
            <a:off x="8183880" y="3740150"/>
            <a:ext cx="203200" cy="203200"/>
          </a:xfrm>
          <a:prstGeom prst="rect">
            <a:avLst/>
          </a:prstGeom>
        </p:spPr>
      </p:pic>
      <p:sp>
        <p:nvSpPr>
          <p:cNvPr id="26" name="Text 18"/>
          <p:cNvSpPr/>
          <p:nvPr/>
        </p:nvSpPr>
        <p:spPr>
          <a:xfrm>
            <a:off x="8183880" y="4019550"/>
            <a:ext cx="3076651"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1828"/>
                </a:solidFill>
                <a:latin typeface="IBM Plex Sans" pitchFamily="34" charset="0"/>
                <a:ea typeface="IBM Plex Sans" pitchFamily="34" charset="-122"/>
                <a:cs typeface="IBM Plex Sans" pitchFamily="34" charset="-120"/>
              </a:rPr>
              <a:t>Execution Logging</a:t>
            </a:r>
            <a:endParaRPr lang="en-US" sz="1300" dirty="0"/>
          </a:p>
        </p:txBody>
      </p:sp>
      <p:sp>
        <p:nvSpPr>
          <p:cNvPr id="27" name="Text 19"/>
          <p:cNvSpPr/>
          <p:nvPr/>
        </p:nvSpPr>
        <p:spPr>
          <a:xfrm>
            <a:off x="8183880" y="4293870"/>
            <a:ext cx="307665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Built-in n8n history — retries and error visibility</a:t>
            </a:r>
            <a:endParaRPr lang="en-US" sz="1200" dirty="0"/>
          </a:p>
        </p:txBody>
      </p:sp>
      <p:sp>
        <p:nvSpPr>
          <p:cNvPr id="28" name="Text 20"/>
          <p:cNvSpPr/>
          <p:nvPr/>
        </p:nvSpPr>
        <p:spPr>
          <a:xfrm>
            <a:off x="812800" y="6238239"/>
            <a:ext cx="104066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Why Gmail, not Teams: Teams alerts need a Microsoft Entra client ID and secret — unavailable on personal or student accounts.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94A"/>
                </a:solidFill>
                <a:latin typeface="IBM Plex Sans" pitchFamily="34" charset="0"/>
                <a:ea typeface="IBM Plex Sans" pitchFamily="34" charset="-122"/>
                <a:cs typeface="IBM Plex Sans" pitchFamily="34" charset="-120"/>
              </a:rPr>
              <a:t>ALERT RULES</a:t>
            </a:r>
            <a:endParaRPr lang="en-US" sz="1200" dirty="0"/>
          </a:p>
        </p:txBody>
      </p:sp>
      <p:sp>
        <p:nvSpPr>
          <p:cNvPr id="3" name="Text 1"/>
          <p:cNvSpPr/>
          <p:nvPr>
            <p:ph type="title"/>
          </p:nvPr>
        </p:nvSpPr>
        <p:spPr>
          <a:xfrm>
            <a:off x="812800" y="1254761"/>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828"/>
                </a:solidFill>
                <a:latin typeface="Rubik" pitchFamily="34" charset="0"/>
                <a:ea typeface="Rubik" pitchFamily="34" charset="-122"/>
                <a:cs typeface="Rubik" pitchFamily="34" charset="-120"/>
              </a:rPr>
              <a:t>Three rules decide who gets emailed</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31671"/>
          <a:ext cx="10556240" cy="2052320"/>
        </p:xfrm>
        <a:graphic>
          <a:graphicData uri="http://schemas.openxmlformats.org/drawingml/2006/table">
            <a:tbl>
              <a:tblPr/>
              <a:tblGrid>
                <a:gridCol w="3166872"/>
                <a:gridCol w="4011371"/>
                <a:gridCol w="3377997"/>
              </a:tblGrid>
              <a:tr h="513080">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Rule</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ACAC8"/>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Condition</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c>
                  <a:txBody>
                    <a:bodyPr/>
                    <a:lstStyle/>
                    <a:p>
                      <a:pP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Action</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111723"/>
                      </a:solidFill>
                      <a:prstDash val="solid"/>
                      <a:round/>
                      <a:headEnd type="none" w="med" len="med"/>
                      <a:tailEnd type="none" w="med" len="med"/>
                    </a:lnL>
                    <a:lnR w="12700" cap="flat" cmpd="sng" algn="ctr">
                      <a:solidFill>
                        <a:srgbClr val="111723"/>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111723"/>
                      </a:solidFill>
                      <a:prstDash val="solid"/>
                      <a:round/>
                      <a:headEnd type="none" w="med" len="med"/>
                      <a:tailEnd type="none" w="med" len="med"/>
                    </a:lnB>
                    <a:solidFill>
                      <a:srgbClr val="101828"/>
                    </a:solidFill>
                  </a:tcPr>
                </a:tc>
              </a:tr>
              <a:tr h="513080">
                <a:tc>
                  <a:txBody>
                    <a:bodyPr/>
                    <a:lstStyle/>
                    <a:p>
                      <a:pPr indent="0" marL="0">
                        <a:lnSpc>
                          <a:spcPts val="1960"/>
                        </a:lnSpc>
                        <a:buNone/>
                      </a:pPr>
                      <a:r>
                        <a:rPr lang="en-US" sz="1400" dirty="0">
                          <a:solidFill>
                            <a:srgbClr val="101828"/>
                          </a:solidFill>
                          <a:latin typeface="IBM Plex Sans" pitchFamily="34" charset="0"/>
                          <a:ea typeface="IBM Plex Sans" pitchFamily="34" charset="-122"/>
                          <a:cs typeface="IBM Plex Sans" pitchFamily="34" charset="-120"/>
                        </a:rPr>
                        <a:t>Critical incident</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ACA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Priority 1 — Critical</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Immediate alert on detection</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1172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13080">
                <a:tc>
                  <a:txBody>
                    <a:bodyPr/>
                    <a:lstStyle/>
                    <a:p>
                      <a:pPr indent="0" marL="0">
                        <a:lnSpc>
                          <a:spcPts val="1960"/>
                        </a:lnSpc>
                        <a:buNone/>
                      </a:pPr>
                      <a:r>
                        <a:rPr lang="en-US" sz="1400" dirty="0">
                          <a:solidFill>
                            <a:srgbClr val="101828"/>
                          </a:solidFill>
                          <a:latin typeface="IBM Plex Sans" pitchFamily="34" charset="0"/>
                          <a:ea typeface="IBM Plex Sans" pitchFamily="34" charset="-122"/>
                          <a:cs typeface="IBM Plex Sans" pitchFamily="34" charset="-120"/>
                        </a:rPr>
                        <a:t>High-priority incident</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ACAC8"/>
                      </a:solidFill>
                      <a:prstDash val="solid"/>
                      <a:round/>
                      <a:headEnd type="none" w="med" len="med"/>
                      <a:tailEnd type="none" w="med" len="med"/>
                    </a:lnL>
                    <a:lnR w="12700" cap="flat" cmpd="sng" algn="ctr">
                      <a:solidFill>
                        <a:srgbClr val="C2C3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3C0"/>
                      </a:solidFill>
                      <a:prstDash val="solid"/>
                      <a:round/>
                      <a:headEnd type="none" w="med" len="med"/>
                      <a:tailEnd type="none" w="med" len="med"/>
                    </a:lnB>
                    <a:solidFill>
                      <a:srgbClr val="F3F4F1"/>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Priority 2 — High</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2C3C0"/>
                      </a:solidFill>
                      <a:prstDash val="solid"/>
                      <a:round/>
                      <a:headEnd type="none" w="med" len="med"/>
                      <a:tailEnd type="none" w="med" len="med"/>
                    </a:lnL>
                    <a:lnR w="12700" cap="flat" cmpd="sng" algn="ctr">
                      <a:solidFill>
                        <a:srgbClr val="C2C3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3C0"/>
                      </a:solidFill>
                      <a:prstDash val="solid"/>
                      <a:round/>
                      <a:headEnd type="none" w="med" len="med"/>
                      <a:tailEnd type="none" w="med" len="med"/>
                    </a:lnB>
                    <a:solidFill>
                      <a:srgbClr val="F3F4F1"/>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Alert per configured policy</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2C3C0"/>
                      </a:solidFill>
                      <a:prstDash val="solid"/>
                      <a:round/>
                      <a:headEnd type="none" w="med" len="med"/>
                      <a:tailEnd type="none" w="med" len="med"/>
                    </a:lnL>
                    <a:lnR w="12700" cap="flat" cmpd="sng" algn="ctr">
                      <a:solidFill>
                        <a:srgbClr val="C2C3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3C0"/>
                      </a:solidFill>
                      <a:prstDash val="solid"/>
                      <a:round/>
                      <a:headEnd type="none" w="med" len="med"/>
                      <a:tailEnd type="none" w="med" len="med"/>
                    </a:lnB>
                    <a:solidFill>
                      <a:srgbClr val="F3F4F1"/>
                    </a:solidFill>
                  </a:tcPr>
                </a:tc>
              </a:tr>
              <a:tr h="513080">
                <a:tc>
                  <a:txBody>
                    <a:bodyPr/>
                    <a:lstStyle/>
                    <a:p>
                      <a:pPr indent="0" marL="0">
                        <a:lnSpc>
                          <a:spcPts val="1960"/>
                        </a:lnSpc>
                        <a:buNone/>
                      </a:pPr>
                      <a:r>
                        <a:rPr lang="en-US" sz="1400" dirty="0">
                          <a:solidFill>
                            <a:srgbClr val="101828"/>
                          </a:solidFill>
                          <a:latin typeface="IBM Plex Sans" pitchFamily="34" charset="0"/>
                          <a:ea typeface="IBM Plex Sans" pitchFamily="34" charset="-122"/>
                          <a:cs typeface="IBM Plex Sans" pitchFamily="34" charset="-120"/>
                        </a:rPr>
                        <a:t>Stale incident</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ACA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3C0"/>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Unresolved, no update in 24h</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3C0"/>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Send a reminder</a:t>
                      </a:r>
                      <a:endParaRPr lang="en-US" sz="14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3C0"/>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Shape 2"/>
          <p:cNvSpPr/>
          <p:nvPr/>
        </p:nvSpPr>
        <p:spPr>
          <a:xfrm>
            <a:off x="812800" y="4212589"/>
            <a:ext cx="10566400" cy="901700"/>
          </a:xfrm>
          <a:prstGeom prst="roundRect">
            <a:avLst>
              <a:gd name="adj" fmla="val 11268"/>
            </a:avLst>
          </a:prstGeom>
          <a:solidFill>
            <a:srgbClr val="101828"/>
          </a:solidFill>
          <a:ln/>
        </p:spPr>
      </p:sp>
      <p:pic>
        <p:nvPicPr>
          <p:cNvPr id="6" name="Image 0" descr="Key">    </p:cNvPr>
          <p:cNvPicPr>
            <a:picLocks noChangeAspect="1"/>
          </p:cNvPicPr>
          <p:nvPr/>
        </p:nvPicPr>
        <p:blipFill>
          <a:blip r:embed="rId1"/>
          <a:srcRect l="0" r="0" t="-50" b="-50"/>
          <a:stretch/>
        </p:blipFill>
        <p:spPr>
          <a:xfrm>
            <a:off x="1066800" y="4549139"/>
            <a:ext cx="158591" cy="228600"/>
          </a:xfrm>
          <a:prstGeom prst="rect">
            <a:avLst/>
          </a:prstGeom>
        </p:spPr>
      </p:pic>
      <p:sp>
        <p:nvSpPr>
          <p:cNvPr id="7" name="Text 3"/>
          <p:cNvSpPr/>
          <p:nvPr/>
        </p:nvSpPr>
        <p:spPr>
          <a:xfrm>
            <a:off x="1377791" y="4415789"/>
            <a:ext cx="10039831"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5E9F0"/>
                </a:solidFill>
                <a:latin typeface="IBM Plex Sans" pitchFamily="34" charset="0"/>
                <a:ea typeface="IBM Plex Sans" pitchFamily="34" charset="-122"/>
                <a:cs typeface="IBM Plex Sans" pitchFamily="34" charset="-120"/>
              </a:rPr>
              <a:t>Dedup key = </a:t>
            </a:r>
            <a:r>
              <a:rPr lang="en-US" sz="1300" b="1" dirty="0">
                <a:solidFill>
                  <a:srgbClr val="FFFFFF"/>
                </a:solidFill>
                <a:latin typeface="IBM Plex Sans" pitchFamily="34" charset="0"/>
                <a:ea typeface="IBM Plex Sans" pitchFamily="34" charset="-122"/>
                <a:cs typeface="IBM Plex Sans" pitchFamily="34" charset="-120"/>
              </a:rPr>
              <a:t>incident number + alert type</a:t>
            </a:r>
            <a:r>
              <a:rPr lang="en-US" sz="1300" dirty="0">
                <a:solidFill>
                  <a:srgbClr val="E5E9F0"/>
                </a:solidFill>
                <a:latin typeface="IBM Plex Sans" pitchFamily="34" charset="0"/>
                <a:ea typeface="IBM Plex Sans" pitchFamily="34" charset="-122"/>
                <a:cs typeface="IBM Plex Sans" pitchFamily="34" charset="-120"/>
              </a:rPr>
              <a:t> (e.g. </a:t>
            </a:r>
            <a:r>
              <a:rPr lang="en-US" sz="1300" dirty="0">
                <a:solidFill>
                  <a:srgbClr val="F2994A"/>
                </a:solidFill>
                <a:latin typeface="IBM Plex Sans" pitchFamily="34" charset="0"/>
                <a:ea typeface="IBM Plex Sans" pitchFamily="34" charset="-122"/>
                <a:cs typeface="IBM Plex Sans" pitchFamily="34" charset="-120"/>
              </a:rPr>
              <a:t>INC0010042:critical</a:t>
            </a:r>
            <a:r>
              <a:rPr lang="en-US" sz="1300" dirty="0">
                <a:solidFill>
                  <a:srgbClr val="E5E9F0"/>
                </a:solidFill>
                <a:latin typeface="IBM Plex Sans" pitchFamily="34" charset="0"/>
                <a:ea typeface="IBM Plex Sans" pitchFamily="34" charset="-122"/>
                <a:cs typeface="IBM Plex Sans" pitchFamily="34" charset="-120"/>
              </a:rPr>
              <a:t>). Checked against the Alert State Store before sending; stale reminders may repeat after a configurable interval, e.g. 24h.</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DFB"/>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D"/>
                </a:solidFill>
                <a:latin typeface="IBM Plex Sans" pitchFamily="34" charset="0"/>
                <a:ea typeface="IBM Plex Sans" pitchFamily="34" charset="-122"/>
                <a:cs typeface="IBM Plex Sans" pitchFamily="34" charset="-120"/>
              </a:rPr>
              <a:t>N8N WORKFLOW</a:t>
            </a:r>
            <a:endParaRPr lang="en-US" sz="1200" dirty="0"/>
          </a:p>
        </p:txBody>
      </p:sp>
      <p:sp>
        <p:nvSpPr>
          <p:cNvPr id="3" name="Text 1"/>
          <p:cNvSpPr/>
          <p:nvPr>
            <p:ph type="title"/>
          </p:nvPr>
        </p:nvSpPr>
        <p:spPr>
          <a:xfrm>
            <a:off x="812800" y="100076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01828"/>
                </a:solidFill>
                <a:latin typeface="Rubik" pitchFamily="34" charset="0"/>
                <a:ea typeface="Rubik" pitchFamily="34" charset="-122"/>
                <a:cs typeface="Rubik" pitchFamily="34" charset="-120"/>
              </a:rPr>
              <a:t>Seven nodes, one monitoring cycle</a:t>
            </a:r>
            <a:endParaRPr lang="en-US" sz="2800" dirty="0"/>
          </a:p>
        </p:txBody>
      </p:sp>
      <p:sp>
        <p:nvSpPr>
          <p:cNvPr id="4" name="Shape 2"/>
          <p:cNvSpPr/>
          <p:nvPr/>
        </p:nvSpPr>
        <p:spPr>
          <a:xfrm>
            <a:off x="815975" y="1590675"/>
            <a:ext cx="5213350" cy="730250"/>
          </a:xfrm>
          <a:prstGeom prst="roundRect">
            <a:avLst>
              <a:gd name="adj" fmla="val 13478"/>
            </a:avLst>
          </a:prstGeom>
          <a:solidFill>
            <a:srgbClr val="FFFFFF"/>
          </a:solidFill>
          <a:ln w="6350">
            <a:solidFill>
              <a:srgbClr val="E3E6E4"/>
            </a:solidFill>
            <a:prstDash val="solid"/>
          </a:ln>
        </p:spPr>
      </p:sp>
      <p:sp>
        <p:nvSpPr>
          <p:cNvPr id="5" name="Text 3"/>
          <p:cNvSpPr/>
          <p:nvPr/>
        </p:nvSpPr>
        <p:spPr>
          <a:xfrm>
            <a:off x="995680" y="179070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2F6FED"/>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1452880" y="1744982"/>
            <a:ext cx="1975394"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1828"/>
                </a:solidFill>
                <a:latin typeface="IBM Plex Sans" pitchFamily="34" charset="0"/>
                <a:ea typeface="IBM Plex Sans" pitchFamily="34" charset="-122"/>
                <a:cs typeface="IBM Plex Sans" pitchFamily="34" charset="-120"/>
              </a:rPr>
              <a:t>Schedule Trigger</a:t>
            </a:r>
            <a:endParaRPr lang="en-US" sz="1300" dirty="0"/>
          </a:p>
        </p:txBody>
      </p:sp>
      <p:sp>
        <p:nvSpPr>
          <p:cNvPr id="7" name="Text 5"/>
          <p:cNvSpPr/>
          <p:nvPr/>
        </p:nvSpPr>
        <p:spPr>
          <a:xfrm>
            <a:off x="1452880" y="1968500"/>
            <a:ext cx="230143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Starts a run every 5 minutes</a:t>
            </a:r>
            <a:endParaRPr lang="en-US" sz="1200" dirty="0"/>
          </a:p>
        </p:txBody>
      </p:sp>
      <p:sp>
        <p:nvSpPr>
          <p:cNvPr id="8" name="Shape 6"/>
          <p:cNvSpPr/>
          <p:nvPr/>
        </p:nvSpPr>
        <p:spPr>
          <a:xfrm>
            <a:off x="6162675" y="1590675"/>
            <a:ext cx="5213350" cy="730250"/>
          </a:xfrm>
          <a:prstGeom prst="roundRect">
            <a:avLst>
              <a:gd name="adj" fmla="val 13478"/>
            </a:avLst>
          </a:prstGeom>
          <a:solidFill>
            <a:srgbClr val="FFFFFF"/>
          </a:solidFill>
          <a:ln w="6350">
            <a:solidFill>
              <a:srgbClr val="E3E6E4"/>
            </a:solidFill>
            <a:prstDash val="solid"/>
          </a:ln>
        </p:spPr>
      </p:sp>
      <p:sp>
        <p:nvSpPr>
          <p:cNvPr id="9" name="Text 7"/>
          <p:cNvSpPr/>
          <p:nvPr/>
        </p:nvSpPr>
        <p:spPr>
          <a:xfrm>
            <a:off x="6342380" y="179070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2F6FED"/>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IBM Plex Sans" pitchFamily="34" charset="0"/>
                <a:ea typeface="IBM Plex Sans" pitchFamily="34" charset="-122"/>
                <a:cs typeface="IBM Plex Sans" pitchFamily="34" charset="-120"/>
              </a:rPr>
              <a:t>02</a:t>
            </a:r>
            <a:endParaRPr lang="en-US" sz="1200" dirty="0"/>
          </a:p>
        </p:txBody>
      </p:sp>
      <p:sp>
        <p:nvSpPr>
          <p:cNvPr id="10" name="Text 8"/>
          <p:cNvSpPr/>
          <p:nvPr/>
        </p:nvSpPr>
        <p:spPr>
          <a:xfrm>
            <a:off x="6799580" y="1744982"/>
            <a:ext cx="2389817"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1828"/>
                </a:solidFill>
                <a:latin typeface="IBM Plex Sans" pitchFamily="34" charset="0"/>
                <a:ea typeface="IBM Plex Sans" pitchFamily="34" charset="-122"/>
                <a:cs typeface="IBM Plex Sans" pitchFamily="34" charset="-120"/>
              </a:rPr>
              <a:t>HTTP Request</a:t>
            </a:r>
            <a:endParaRPr lang="en-US" sz="1300" dirty="0"/>
          </a:p>
        </p:txBody>
      </p:sp>
      <p:sp>
        <p:nvSpPr>
          <p:cNvPr id="11" name="Text 9"/>
          <p:cNvSpPr/>
          <p:nvPr/>
        </p:nvSpPr>
        <p:spPr>
          <a:xfrm>
            <a:off x="6799580" y="1968500"/>
            <a:ext cx="278425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GETs incidents from the Table API</a:t>
            </a:r>
            <a:endParaRPr lang="en-US" sz="1200" dirty="0"/>
          </a:p>
        </p:txBody>
      </p:sp>
      <p:sp>
        <p:nvSpPr>
          <p:cNvPr id="12" name="Shape 10"/>
          <p:cNvSpPr/>
          <p:nvPr/>
        </p:nvSpPr>
        <p:spPr>
          <a:xfrm>
            <a:off x="815975" y="2454275"/>
            <a:ext cx="5213350" cy="730250"/>
          </a:xfrm>
          <a:prstGeom prst="roundRect">
            <a:avLst>
              <a:gd name="adj" fmla="val 13478"/>
            </a:avLst>
          </a:prstGeom>
          <a:solidFill>
            <a:srgbClr val="FFFFFF"/>
          </a:solidFill>
          <a:ln w="6350">
            <a:solidFill>
              <a:srgbClr val="E3E6E4"/>
            </a:solidFill>
            <a:prstDash val="solid"/>
          </a:ln>
        </p:spPr>
      </p:sp>
      <p:sp>
        <p:nvSpPr>
          <p:cNvPr id="13" name="Text 11"/>
          <p:cNvSpPr/>
          <p:nvPr/>
        </p:nvSpPr>
        <p:spPr>
          <a:xfrm>
            <a:off x="995680" y="265430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2F6FED"/>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IBM Plex Sans" pitchFamily="34" charset="0"/>
                <a:ea typeface="IBM Plex Sans" pitchFamily="34" charset="-122"/>
                <a:cs typeface="IBM Plex Sans" pitchFamily="34" charset="-120"/>
              </a:rPr>
              <a:t>03</a:t>
            </a:r>
            <a:endParaRPr lang="en-US" sz="1200" dirty="0"/>
          </a:p>
        </p:txBody>
      </p:sp>
      <p:sp>
        <p:nvSpPr>
          <p:cNvPr id="14" name="Text 12"/>
          <p:cNvSpPr/>
          <p:nvPr/>
        </p:nvSpPr>
        <p:spPr>
          <a:xfrm>
            <a:off x="1452880" y="2608582"/>
            <a:ext cx="1524079"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1828"/>
                </a:solidFill>
                <a:latin typeface="IBM Plex Sans" pitchFamily="34" charset="0"/>
                <a:ea typeface="IBM Plex Sans" pitchFamily="34" charset="-122"/>
                <a:cs typeface="IBM Plex Sans" pitchFamily="34" charset="-120"/>
              </a:rPr>
              <a:t>Split Out</a:t>
            </a:r>
            <a:endParaRPr lang="en-US" sz="1300" dirty="0"/>
          </a:p>
        </p:txBody>
      </p:sp>
      <p:sp>
        <p:nvSpPr>
          <p:cNvPr id="15" name="Text 13"/>
          <p:cNvSpPr/>
          <p:nvPr/>
        </p:nvSpPr>
        <p:spPr>
          <a:xfrm>
            <a:off x="1452880" y="2832100"/>
            <a:ext cx="176793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One item per incident</a:t>
            </a:r>
            <a:endParaRPr lang="en-US" sz="1200" dirty="0"/>
          </a:p>
        </p:txBody>
      </p:sp>
      <p:sp>
        <p:nvSpPr>
          <p:cNvPr id="16" name="Shape 14"/>
          <p:cNvSpPr/>
          <p:nvPr/>
        </p:nvSpPr>
        <p:spPr>
          <a:xfrm>
            <a:off x="6162675" y="2454275"/>
            <a:ext cx="5213350" cy="730250"/>
          </a:xfrm>
          <a:prstGeom prst="roundRect">
            <a:avLst>
              <a:gd name="adj" fmla="val 13478"/>
            </a:avLst>
          </a:prstGeom>
          <a:solidFill>
            <a:srgbClr val="FFFFFF"/>
          </a:solidFill>
          <a:ln w="6350">
            <a:solidFill>
              <a:srgbClr val="E3E6E4"/>
            </a:solidFill>
            <a:prstDash val="solid"/>
          </a:ln>
        </p:spPr>
      </p:sp>
      <p:sp>
        <p:nvSpPr>
          <p:cNvPr id="17" name="Text 15"/>
          <p:cNvSpPr/>
          <p:nvPr/>
        </p:nvSpPr>
        <p:spPr>
          <a:xfrm>
            <a:off x="6342380" y="265430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2F6FED"/>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IBM Plex Sans" pitchFamily="34" charset="0"/>
                <a:ea typeface="IBM Plex Sans" pitchFamily="34" charset="-122"/>
                <a:cs typeface="IBM Plex Sans" pitchFamily="34" charset="-120"/>
              </a:rPr>
              <a:t>04</a:t>
            </a:r>
            <a:endParaRPr lang="en-US" sz="1200" dirty="0"/>
          </a:p>
        </p:txBody>
      </p:sp>
      <p:sp>
        <p:nvSpPr>
          <p:cNvPr id="18" name="Text 16"/>
          <p:cNvSpPr/>
          <p:nvPr/>
        </p:nvSpPr>
        <p:spPr>
          <a:xfrm>
            <a:off x="6799580" y="2608582"/>
            <a:ext cx="2493075"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1828"/>
                </a:solidFill>
                <a:latin typeface="IBM Plex Sans" pitchFamily="34" charset="0"/>
                <a:ea typeface="IBM Plex Sans" pitchFamily="34" charset="-122"/>
                <a:cs typeface="IBM Plex Sans" pitchFamily="34" charset="-120"/>
              </a:rPr>
              <a:t>IF / Filter</a:t>
            </a:r>
            <a:endParaRPr lang="en-US" sz="1300" dirty="0"/>
          </a:p>
        </p:txBody>
      </p:sp>
      <p:sp>
        <p:nvSpPr>
          <p:cNvPr id="19" name="Text 17"/>
          <p:cNvSpPr/>
          <p:nvPr/>
        </p:nvSpPr>
        <p:spPr>
          <a:xfrm>
            <a:off x="6799580" y="2832100"/>
            <a:ext cx="29045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Evaluates critical &amp; stale conditions</a:t>
            </a:r>
            <a:endParaRPr lang="en-US" sz="1200" dirty="0"/>
          </a:p>
        </p:txBody>
      </p:sp>
      <p:sp>
        <p:nvSpPr>
          <p:cNvPr id="20" name="Shape 18"/>
          <p:cNvSpPr/>
          <p:nvPr/>
        </p:nvSpPr>
        <p:spPr>
          <a:xfrm>
            <a:off x="815975" y="3317875"/>
            <a:ext cx="5213350" cy="730250"/>
          </a:xfrm>
          <a:prstGeom prst="roundRect">
            <a:avLst>
              <a:gd name="adj" fmla="val 13478"/>
            </a:avLst>
          </a:prstGeom>
          <a:solidFill>
            <a:srgbClr val="FFFFFF"/>
          </a:solidFill>
          <a:ln w="6350">
            <a:solidFill>
              <a:srgbClr val="E3E6E4"/>
            </a:solidFill>
            <a:prstDash val="solid"/>
          </a:ln>
        </p:spPr>
      </p:sp>
      <p:sp>
        <p:nvSpPr>
          <p:cNvPr id="21" name="Text 19"/>
          <p:cNvSpPr/>
          <p:nvPr/>
        </p:nvSpPr>
        <p:spPr>
          <a:xfrm>
            <a:off x="995680" y="351790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F2994A"/>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IBM Plex Sans" pitchFamily="34" charset="0"/>
                <a:ea typeface="IBM Plex Sans" pitchFamily="34" charset="-122"/>
                <a:cs typeface="IBM Plex Sans" pitchFamily="34" charset="-120"/>
              </a:rPr>
              <a:t>05</a:t>
            </a:r>
            <a:endParaRPr lang="en-US" sz="1200" dirty="0"/>
          </a:p>
        </p:txBody>
      </p:sp>
      <p:sp>
        <p:nvSpPr>
          <p:cNvPr id="22" name="Text 20"/>
          <p:cNvSpPr/>
          <p:nvPr/>
        </p:nvSpPr>
        <p:spPr>
          <a:xfrm>
            <a:off x="1452880" y="3472182"/>
            <a:ext cx="1771004"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1828"/>
                </a:solidFill>
                <a:latin typeface="IBM Plex Sans" pitchFamily="34" charset="0"/>
                <a:ea typeface="IBM Plex Sans" pitchFamily="34" charset="-122"/>
                <a:cs typeface="IBM Plex Sans" pitchFamily="34" charset="-120"/>
              </a:rPr>
              <a:t>Look Up Alert State</a:t>
            </a:r>
            <a:endParaRPr lang="en-US" sz="1300" dirty="0"/>
          </a:p>
        </p:txBody>
      </p:sp>
      <p:sp>
        <p:nvSpPr>
          <p:cNvPr id="23" name="Text 21"/>
          <p:cNvSpPr/>
          <p:nvPr/>
        </p:nvSpPr>
        <p:spPr>
          <a:xfrm>
            <a:off x="1452880" y="3695700"/>
            <a:ext cx="206330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Checks if already notified</a:t>
            </a:r>
            <a:endParaRPr lang="en-US" sz="1200" dirty="0"/>
          </a:p>
        </p:txBody>
      </p:sp>
      <p:sp>
        <p:nvSpPr>
          <p:cNvPr id="24" name="Shape 22"/>
          <p:cNvSpPr/>
          <p:nvPr/>
        </p:nvSpPr>
        <p:spPr>
          <a:xfrm>
            <a:off x="6162675" y="3317875"/>
            <a:ext cx="5213350" cy="730250"/>
          </a:xfrm>
          <a:prstGeom prst="roundRect">
            <a:avLst>
              <a:gd name="adj" fmla="val 13478"/>
            </a:avLst>
          </a:prstGeom>
          <a:solidFill>
            <a:srgbClr val="FFFFFF"/>
          </a:solidFill>
          <a:ln w="6350">
            <a:solidFill>
              <a:srgbClr val="E3E6E4"/>
            </a:solidFill>
            <a:prstDash val="solid"/>
          </a:ln>
        </p:spPr>
      </p:sp>
      <p:sp>
        <p:nvSpPr>
          <p:cNvPr id="25" name="Text 23"/>
          <p:cNvSpPr/>
          <p:nvPr/>
        </p:nvSpPr>
        <p:spPr>
          <a:xfrm>
            <a:off x="6342380" y="351790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F2994A"/>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IBM Plex Sans" pitchFamily="34" charset="0"/>
                <a:ea typeface="IBM Plex Sans" pitchFamily="34" charset="-122"/>
                <a:cs typeface="IBM Plex Sans" pitchFamily="34" charset="-120"/>
              </a:rPr>
              <a:t>06</a:t>
            </a:r>
            <a:endParaRPr lang="en-US" sz="1200" dirty="0"/>
          </a:p>
        </p:txBody>
      </p:sp>
      <p:sp>
        <p:nvSpPr>
          <p:cNvPr id="26" name="Text 24"/>
          <p:cNvSpPr/>
          <p:nvPr/>
        </p:nvSpPr>
        <p:spPr>
          <a:xfrm>
            <a:off x="6799580" y="3472182"/>
            <a:ext cx="207554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01828"/>
                </a:solidFill>
                <a:latin typeface="IBM Plex Sans" pitchFamily="34" charset="0"/>
                <a:ea typeface="IBM Plex Sans" pitchFamily="34" charset="-122"/>
                <a:cs typeface="IBM Plex Sans" pitchFamily="34" charset="-120"/>
              </a:rPr>
              <a:t>Send Email</a:t>
            </a:r>
            <a:endParaRPr lang="en-US" sz="1300" dirty="0"/>
          </a:p>
        </p:txBody>
      </p:sp>
      <p:sp>
        <p:nvSpPr>
          <p:cNvPr id="27" name="Text 25"/>
          <p:cNvSpPr/>
          <p:nvPr/>
        </p:nvSpPr>
        <p:spPr>
          <a:xfrm>
            <a:off x="6799580" y="3695700"/>
            <a:ext cx="241811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Gmail SMTP delivers the alert</a:t>
            </a:r>
            <a:endParaRPr lang="en-US" sz="1200" dirty="0"/>
          </a:p>
        </p:txBody>
      </p:sp>
      <p:sp>
        <p:nvSpPr>
          <p:cNvPr id="28" name="Shape 26"/>
          <p:cNvSpPr/>
          <p:nvPr/>
        </p:nvSpPr>
        <p:spPr>
          <a:xfrm>
            <a:off x="812800" y="4178300"/>
            <a:ext cx="5219700" cy="726440"/>
          </a:xfrm>
          <a:prstGeom prst="roundRect">
            <a:avLst>
              <a:gd name="adj" fmla="val 13986"/>
            </a:avLst>
          </a:prstGeom>
          <a:solidFill>
            <a:srgbClr val="101828"/>
          </a:solidFill>
          <a:ln/>
        </p:spPr>
      </p:sp>
      <p:sp>
        <p:nvSpPr>
          <p:cNvPr id="29" name="Text 27"/>
          <p:cNvSpPr/>
          <p:nvPr/>
        </p:nvSpPr>
        <p:spPr>
          <a:xfrm>
            <a:off x="990600" y="4376421"/>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F2994A"/>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IBM Plex Sans" pitchFamily="34" charset="0"/>
                <a:ea typeface="IBM Plex Sans" pitchFamily="34" charset="-122"/>
                <a:cs typeface="IBM Plex Sans" pitchFamily="34" charset="-120"/>
              </a:rPr>
              <a:t>07</a:t>
            </a:r>
            <a:endParaRPr lang="en-US" sz="1200" dirty="0"/>
          </a:p>
        </p:txBody>
      </p:sp>
      <p:sp>
        <p:nvSpPr>
          <p:cNvPr id="30" name="Text 28"/>
          <p:cNvSpPr/>
          <p:nvPr/>
        </p:nvSpPr>
        <p:spPr>
          <a:xfrm>
            <a:off x="1447800" y="4330700"/>
            <a:ext cx="285313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FFFFF"/>
                </a:solidFill>
                <a:latin typeface="IBM Plex Sans" pitchFamily="34" charset="0"/>
                <a:ea typeface="IBM Plex Sans" pitchFamily="34" charset="-122"/>
                <a:cs typeface="IBM Plex Sans" pitchFamily="34" charset="-120"/>
              </a:rPr>
              <a:t>Save Alert State</a:t>
            </a:r>
            <a:endParaRPr lang="en-US" sz="1300" dirty="0"/>
          </a:p>
        </p:txBody>
      </p:sp>
      <p:sp>
        <p:nvSpPr>
          <p:cNvPr id="31" name="Text 29"/>
          <p:cNvSpPr/>
          <p:nvPr/>
        </p:nvSpPr>
        <p:spPr>
          <a:xfrm>
            <a:off x="1447800" y="4554221"/>
            <a:ext cx="332403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EB8C9"/>
                </a:solidFill>
                <a:latin typeface="IBM Plex Sans" pitchFamily="34" charset="0"/>
                <a:ea typeface="IBM Plex Sans" pitchFamily="34" charset="-122"/>
                <a:cs typeface="IBM Plex Sans" pitchFamily="34" charset="-120"/>
              </a:rPr>
              <a:t>Marked sent only after a successful send</a:t>
            </a:r>
            <a:endParaRPr lang="en-US" sz="1200" dirty="0"/>
          </a:p>
        </p:txBody>
      </p:sp>
      <p:sp>
        <p:nvSpPr>
          <p:cNvPr id="32" name="Text 30"/>
          <p:cNvSpPr/>
          <p:nvPr/>
        </p:nvSpPr>
        <p:spPr>
          <a:xfrm>
            <a:off x="812800" y="6339839"/>
            <a:ext cx="86833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Email and state-save are decoupled: a save failure never blocks delivery, and is reconciled on the next run.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82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94A"/>
                </a:solidFill>
                <a:latin typeface="IBM Plex Sans" pitchFamily="34" charset="0"/>
                <a:ea typeface="IBM Plex Sans" pitchFamily="34" charset="-122"/>
                <a:cs typeface="IBM Plex Sans" pitchFamily="34" charset="-120"/>
              </a:rPr>
              <a:t>EXPECTED OUTCOME</a:t>
            </a:r>
            <a:endParaRPr lang="en-US" sz="1200" dirty="0"/>
          </a:p>
        </p:txBody>
      </p:sp>
      <p:sp>
        <p:nvSpPr>
          <p:cNvPr id="3" name="Text 1"/>
          <p:cNvSpPr/>
          <p:nvPr>
            <p:ph type="title"/>
          </p:nvPr>
        </p:nvSpPr>
        <p:spPr>
          <a:xfrm>
            <a:off x="812800" y="1254761"/>
            <a:ext cx="10137775" cy="1284129"/>
          </a:xfrm>
          <a:prstGeom prst="rect">
            <a:avLst/>
          </a:prstGeom>
          <a:noFill/>
          <a:ln/>
        </p:spPr>
        <p:txBody>
          <a:bodyPr wrap="square" lIns="0" tIns="0" rIns="0" bIns="0" rtlCol="0" anchor="t">
            <a:normAutofit/>
          </a:bodyPr>
          <a:lstStyle/>
          <a:p>
            <a:pPr algn="l" indent="0" marL="0">
              <a:lnSpc>
                <a:spcPts val="3304"/>
              </a:lnSpc>
              <a:buNone/>
            </a:pPr>
            <a:r>
              <a:rPr lang="en-US" sz="2800" b="1" i="0" dirty="0">
                <a:solidFill>
                  <a:srgbClr val="FFFFFF"/>
                </a:solidFill>
                <a:latin typeface="Rubik" pitchFamily="34" charset="0"/>
                <a:ea typeface="Rubik" pitchFamily="34" charset="-122"/>
                <a:cs typeface="Rubik" pitchFamily="34" charset="-120"/>
              </a:rPr>
              <a:t>A working n8n workflow that monitors incidents and emails the team automatically — no duplicates, full visibility.</a:t>
            </a:r>
            <a:endParaRPr lang="en-US" sz="2800" dirty="0"/>
          </a:p>
        </p:txBody>
      </p:sp>
      <p:pic>
        <p:nvPicPr>
          <p:cNvPr id="4" name="Image 0" descr="CheckCircle">    </p:cNvPr>
          <p:cNvPicPr>
            <a:picLocks noChangeAspect="1"/>
          </p:cNvPicPr>
          <p:nvPr/>
        </p:nvPicPr>
        <p:blipFill>
          <a:blip r:embed="rId1"/>
          <a:srcRect l="0" r="0" t="0" b="0"/>
          <a:stretch/>
        </p:blipFill>
        <p:spPr>
          <a:xfrm>
            <a:off x="812800" y="2768758"/>
            <a:ext cx="177800" cy="177800"/>
          </a:xfrm>
          <a:prstGeom prst="rect">
            <a:avLst/>
          </a:prstGeom>
        </p:spPr>
      </p:pic>
      <p:sp>
        <p:nvSpPr>
          <p:cNvPr id="5" name="Text 2"/>
          <p:cNvSpPr/>
          <p:nvPr/>
        </p:nvSpPr>
        <p:spPr>
          <a:xfrm>
            <a:off x="1092200" y="2742090"/>
            <a:ext cx="348834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5E9F0"/>
                </a:solidFill>
                <a:latin typeface="IBM Plex Sans" pitchFamily="34" charset="0"/>
                <a:ea typeface="IBM Plex Sans" pitchFamily="34" charset="-122"/>
                <a:cs typeface="IBM Plex Sans" pitchFamily="34" charset="-120"/>
              </a:rPr>
              <a:t>API connectivity to ServiceNow verified</a:t>
            </a:r>
            <a:endParaRPr lang="en-US" sz="1300" dirty="0"/>
          </a:p>
        </p:txBody>
      </p:sp>
      <p:pic>
        <p:nvPicPr>
          <p:cNvPr id="6" name="Image 1" descr="CheckCircle">    </p:cNvPr>
          <p:cNvPicPr>
            <a:picLocks noChangeAspect="1"/>
          </p:cNvPicPr>
          <p:nvPr/>
        </p:nvPicPr>
        <p:blipFill>
          <a:blip r:embed="rId2"/>
          <a:srcRect l="0" r="0" t="0" b="0"/>
          <a:stretch/>
        </p:blipFill>
        <p:spPr>
          <a:xfrm>
            <a:off x="6153150" y="2768758"/>
            <a:ext cx="177800" cy="177800"/>
          </a:xfrm>
          <a:prstGeom prst="rect">
            <a:avLst/>
          </a:prstGeom>
        </p:spPr>
      </p:pic>
      <p:sp>
        <p:nvSpPr>
          <p:cNvPr id="7" name="Text 3"/>
          <p:cNvSpPr/>
          <p:nvPr/>
        </p:nvSpPr>
        <p:spPr>
          <a:xfrm>
            <a:off x="6432550" y="2742090"/>
            <a:ext cx="333365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5E9F0"/>
                </a:solidFill>
                <a:latin typeface="IBM Plex Sans" pitchFamily="34" charset="0"/>
                <a:ea typeface="IBM Plex Sans" pitchFamily="34" charset="-122"/>
                <a:cs typeface="IBM Plex Sans" pitchFamily="34" charset="-120"/>
              </a:rPr>
              <a:t>Critical (P1) incident triggers an email</a:t>
            </a:r>
            <a:endParaRPr lang="en-US" sz="1300" dirty="0"/>
          </a:p>
        </p:txBody>
      </p:sp>
      <p:pic>
        <p:nvPicPr>
          <p:cNvPr id="8" name="Image 2" descr="CheckCircle">    </p:cNvPr>
          <p:cNvPicPr>
            <a:picLocks noChangeAspect="1"/>
          </p:cNvPicPr>
          <p:nvPr/>
        </p:nvPicPr>
        <p:blipFill>
          <a:blip r:embed="rId3"/>
          <a:srcRect l="0" r="0" t="0" b="0"/>
          <a:stretch/>
        </p:blipFill>
        <p:spPr>
          <a:xfrm>
            <a:off x="812800" y="3114201"/>
            <a:ext cx="177800" cy="177800"/>
          </a:xfrm>
          <a:prstGeom prst="rect">
            <a:avLst/>
          </a:prstGeom>
        </p:spPr>
      </p:pic>
      <p:sp>
        <p:nvSpPr>
          <p:cNvPr id="9" name="Text 4"/>
          <p:cNvSpPr/>
          <p:nvPr/>
        </p:nvSpPr>
        <p:spPr>
          <a:xfrm>
            <a:off x="1092200" y="3087529"/>
            <a:ext cx="295303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5E9F0"/>
                </a:solidFill>
                <a:latin typeface="IBM Plex Sans" pitchFamily="34" charset="0"/>
                <a:ea typeface="IBM Plex Sans" pitchFamily="34" charset="-122"/>
                <a:cs typeface="IBM Plex Sans" pitchFamily="34" charset="-120"/>
              </a:rPr>
              <a:t>Stale incident triggers a reminder</a:t>
            </a:r>
            <a:endParaRPr lang="en-US" sz="1300" dirty="0"/>
          </a:p>
        </p:txBody>
      </p:sp>
      <p:pic>
        <p:nvPicPr>
          <p:cNvPr id="10" name="Image 3" descr="CheckCircle">    </p:cNvPr>
          <p:cNvPicPr>
            <a:picLocks noChangeAspect="1"/>
          </p:cNvPicPr>
          <p:nvPr/>
        </p:nvPicPr>
        <p:blipFill>
          <a:blip r:embed="rId4"/>
          <a:srcRect l="0" r="0" t="0" b="0"/>
          <a:stretch/>
        </p:blipFill>
        <p:spPr>
          <a:xfrm>
            <a:off x="6153150" y="3114201"/>
            <a:ext cx="177800" cy="177800"/>
          </a:xfrm>
          <a:prstGeom prst="rect">
            <a:avLst/>
          </a:prstGeom>
        </p:spPr>
      </p:pic>
      <p:sp>
        <p:nvSpPr>
          <p:cNvPr id="11" name="Text 5"/>
          <p:cNvSpPr/>
          <p:nvPr/>
        </p:nvSpPr>
        <p:spPr>
          <a:xfrm>
            <a:off x="6432550" y="3087529"/>
            <a:ext cx="312581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5E9F0"/>
                </a:solidFill>
                <a:latin typeface="IBM Plex Sans" pitchFamily="34" charset="0"/>
                <a:ea typeface="IBM Plex Sans" pitchFamily="34" charset="-122"/>
                <a:cs typeface="IBM Plex Sans" pitchFamily="34" charset="-120"/>
              </a:rPr>
              <a:t>Non-qualifying incidents stay silent</a:t>
            </a:r>
            <a:endParaRPr lang="en-US" sz="1300" dirty="0"/>
          </a:p>
        </p:txBody>
      </p:sp>
      <p:pic>
        <p:nvPicPr>
          <p:cNvPr id="12" name="Image 4" descr="CheckCircle">    </p:cNvPr>
          <p:cNvPicPr>
            <a:picLocks noChangeAspect="1"/>
          </p:cNvPicPr>
          <p:nvPr/>
        </p:nvPicPr>
        <p:blipFill>
          <a:blip r:embed="rId5"/>
          <a:srcRect l="0" r="0" t="0" b="0"/>
          <a:stretch/>
        </p:blipFill>
        <p:spPr>
          <a:xfrm>
            <a:off x="812800" y="3459640"/>
            <a:ext cx="177800" cy="177800"/>
          </a:xfrm>
          <a:prstGeom prst="rect">
            <a:avLst/>
          </a:prstGeom>
        </p:spPr>
      </p:pic>
      <p:sp>
        <p:nvSpPr>
          <p:cNvPr id="13" name="Text 6"/>
          <p:cNvSpPr/>
          <p:nvPr/>
        </p:nvSpPr>
        <p:spPr>
          <a:xfrm>
            <a:off x="1092200" y="3432969"/>
            <a:ext cx="28161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5E9F0"/>
                </a:solidFill>
                <a:latin typeface="IBM Plex Sans" pitchFamily="34" charset="0"/>
                <a:ea typeface="IBM Plex Sans" pitchFamily="34" charset="-122"/>
                <a:cs typeface="IBM Plex Sans" pitchFamily="34" charset="-120"/>
              </a:rPr>
              <a:t>Duplicate alerts are suppressed</a:t>
            </a:r>
            <a:endParaRPr lang="en-US" sz="1300" dirty="0"/>
          </a:p>
        </p:txBody>
      </p:sp>
      <p:pic>
        <p:nvPicPr>
          <p:cNvPr id="14" name="Image 5" descr="CheckCircle">    </p:cNvPr>
          <p:cNvPicPr>
            <a:picLocks noChangeAspect="1"/>
          </p:cNvPicPr>
          <p:nvPr/>
        </p:nvPicPr>
        <p:blipFill>
          <a:blip r:embed="rId6"/>
          <a:srcRect l="0" r="0" t="0" b="0"/>
          <a:stretch/>
        </p:blipFill>
        <p:spPr>
          <a:xfrm>
            <a:off x="6153150" y="3459640"/>
            <a:ext cx="177800" cy="177800"/>
          </a:xfrm>
          <a:prstGeom prst="rect">
            <a:avLst/>
          </a:prstGeom>
        </p:spPr>
      </p:pic>
      <p:sp>
        <p:nvSpPr>
          <p:cNvPr id="15" name="Text 7"/>
          <p:cNvSpPr/>
          <p:nvPr/>
        </p:nvSpPr>
        <p:spPr>
          <a:xfrm>
            <a:off x="6432550" y="3432969"/>
            <a:ext cx="300256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5E9F0"/>
                </a:solidFill>
                <a:latin typeface="IBM Plex Sans" pitchFamily="34" charset="0"/>
                <a:ea typeface="IBM Plex Sans" pitchFamily="34" charset="-122"/>
                <a:cs typeface="IBM Plex Sans" pitchFamily="34" charset="-120"/>
              </a:rPr>
              <a:t>Alert state survives an n8n restart</a:t>
            </a:r>
            <a:endParaRPr lang="en-US" sz="1300" dirty="0"/>
          </a:p>
        </p:txBody>
      </p:sp>
      <p:sp>
        <p:nvSpPr>
          <p:cNvPr id="16" name="Text 8"/>
          <p:cNvSpPr/>
          <p:nvPr/>
        </p:nvSpPr>
        <p:spPr>
          <a:xfrm>
            <a:off x="812800" y="6220461"/>
            <a:ext cx="94726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IBM Plex Sans" pitchFamily="34" charset="0"/>
                <a:ea typeface="IBM Plex Sans" pitchFamily="34" charset="-122"/>
                <a:cs typeface="IBM Plex Sans" pitchFamily="34" charset="-120"/>
              </a:rPr>
              <a:t>Thank you</a:t>
            </a:r>
            <a:endParaRPr lang="en-US" sz="1300" dirty="0"/>
          </a:p>
        </p:txBody>
      </p:sp>
      <p:sp>
        <p:nvSpPr>
          <p:cNvPr id="17" name="Text 9"/>
          <p:cNvSpPr/>
          <p:nvPr/>
        </p:nvSpPr>
        <p:spPr>
          <a:xfrm>
            <a:off x="1856184" y="6229350"/>
            <a:ext cx="1004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t>
            </a:r>
            <a:endParaRPr lang="en-US" sz="1200" dirty="0"/>
          </a:p>
        </p:txBody>
      </p:sp>
      <p:sp>
        <p:nvSpPr>
          <p:cNvPr id="18" name="Text 10"/>
          <p:cNvSpPr/>
          <p:nvPr/>
        </p:nvSpPr>
        <p:spPr>
          <a:xfrm>
            <a:off x="2159873" y="6229350"/>
            <a:ext cx="31989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8C9"/>
                </a:solidFill>
                <a:latin typeface="IBM Plex Sans" pitchFamily="34" charset="0"/>
                <a:ea typeface="IBM Plex Sans" pitchFamily="34" charset="-122"/>
                <a:cs typeface="IBM Plex Sans" pitchFamily="34" charset="-120"/>
              </a:rPr>
              <a:t>Sanjna J &amp; Manikonda Chethan Krishna</a:t>
            </a:r>
            <a:endParaRPr lang="en-US" sz="1200" dirty="0"/>
          </a:p>
        </p:txBody>
      </p:sp>
    </p:spTree>
  </p:cSld>
  <p:clrMapOvr>
    <a:masterClrMapping/>
  </p:clrMapOvr>
</p:sld>
</file>

<file path=ppt/theme/theme1.xml><?xml version="1.0" encoding="utf-8"?>
<a:theme xmlns:a="http://schemas.openxmlformats.org/drawingml/2006/main" name="ServiceNow Incident Monitoring — n8n">
  <a:themeElements>
    <a:clrScheme name="ServiceNow Incident Monitoring — n8n">
      <a:dk1>
        <a:srgbClr val="101828"/>
      </a:dk1>
      <a:lt1>
        <a:srgbClr val="FDFDFB"/>
      </a:lt1>
      <a:dk2>
        <a:srgbClr val="4B515D"/>
      </a:dk2>
      <a:lt2>
        <a:srgbClr val="E5E6E6"/>
      </a:lt2>
      <a:accent1>
        <a:srgbClr val="2F6FED"/>
      </a:accent1>
      <a:accent2>
        <a:srgbClr val="F2994A"/>
      </a:accent2>
      <a:accent3>
        <a:srgbClr val="4A5568"/>
      </a:accent3>
      <a:accent4>
        <a:srgbClr val="AEB8C9"/>
      </a:accent4>
      <a:accent5>
        <a:srgbClr val="6A7179"/>
      </a:accent5>
      <a:accent6>
        <a:srgbClr val="9AA0A6"/>
      </a:accent6>
      <a:hlink>
        <a:srgbClr val="0563C1"/>
      </a:hlink>
      <a:folHlink>
        <a:srgbClr val="954F72"/>
      </a:folHlink>
    </a:clrScheme>
    <a:fontScheme name="ServiceNow Incident Monitoring — n8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ServiceNow Incident Monitoring — n8n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2026-10-24T14:31:47Z</dcterms:created>
  <dcterms:modified xsi:type="dcterms:W3CDTF">2026-10-24T14:31:47Z</dcterms:modified>
</cp:coreProperties>
</file>
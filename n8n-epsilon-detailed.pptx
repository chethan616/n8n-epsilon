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139c69fd-f968-e223-f586-ad01923921d3}">
          <p14:sldIdLst>
            <p14:sldId id="256"/>
          </p14:sldIdLst>
        </p14:section>
        <p14:section name="Overview" id="{0d57b266-616e-167c-7fce-a8cddc9d46f8}">
          <p14:sldIdLst>
            <p14:sldId id="257"/>
            <p14:sldId id="258"/>
          </p14:sldIdLst>
        </p14:section>
        <p14:section name="Architecture" id="{172d912e-9df9-6c25-9c73-69453eacd038}">
          <p14:sldIdLst>
            <p14:sldId id="259"/>
            <p14:sldId id="260"/>
          </p14:sldIdLst>
        </p14:section>
        <p14:section name="Logic" id="{333f03b9-0834-7af6-e2d9-0604ab579450}">
          <p14:sldIdLst>
            <p14:sldId id="261"/>
          </p14:sldIdLst>
        </p14:section>
        <p14:section name="Pipeline" id="{0491a843-9780-bb4e-e718-d476169036ce}">
          <p14:sldIdLst>
            <p14:sldId id="262"/>
          </p14:sldIdLst>
        </p14:section>
        <p14:section name="RestApi" id="{89655295-1fee-fbbc-6353-aae8a533f03f}">
          <p14:sldIdLst>
            <p14:sldId id="263"/>
            <p14:sldId id="264"/>
            <p14:sldId id="265"/>
          </p14:sldIdLst>
        </p14:section>
        <p14:section name="Reliability" id="{b103373e-7289-c91e-5fee-2ead839fc83b}">
          <p14:sldIdLst>
            <p14:sldId id="266"/>
            <p14:sldId id="267"/>
            <p14:sldId id="268"/>
            <p14:sldId id="269"/>
            <p14:sldId id="270"/>
            <p14:sldId id="271"/>
          </p14:sldIdLst>
        </p14:section>
        <p14:section name="Delivery" id="{0881d30b-2a0d-6f6e-810e-7a29de008016}">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10515600" cy="16459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822960" y="4023360"/>
            <a:ext cx="9601200" cy="1463040"/>
          </a:xfrm>
          <a:prstGeom prst="rect">
            <a:avLst/>
          </a:prstGeom>
          <a:noFill/>
          <a:ln/>
        </p:spPr>
        <p:txBody>
          <a:bodyPr wrap="square" rtlCol="0"/>
          <a:lstStyle>
            <a:lvl1pPr algn="l" indent="0" marL="0">
              <a:buNone/>
              <a:defRPr lang="en-US" sz="1800" dirty="0">
                <a:solidFill>
                  <a:srgbClr val="AEB8C9"/>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743200"/>
            <a:ext cx="10515600" cy="14630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822960" y="4160520"/>
            <a:ext cx="9601200" cy="1097280"/>
          </a:xfrm>
          <a:prstGeom prst="rect">
            <a:avLst/>
          </a:prstGeom>
          <a:noFill/>
          <a:ln/>
        </p:spPr>
        <p:txBody>
          <a:bodyPr wrap="square" rtlCol="0"/>
          <a:lstStyle>
            <a:lvl1pPr algn="l" indent="0" marL="0">
              <a:buNone/>
              <a:defRPr lang="en-US" sz="1600" dirty="0">
                <a:solidFill>
                  <a:srgbClr val="AEB8C9"/>
                </a:solidFill>
                <a:latin typeface="Calibri" pitchFamily="34" charset="0"/>
                <a:ea typeface="Calibri" pitchFamily="34" charset="-122"/>
                <a:cs typeface="Calibri" pitchFamily="34" charset="-120"/>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320040"/>
          </a:xfrm>
          <a:prstGeom prst="rect">
            <a:avLst/>
          </a:prstGeom>
          <a:noFill/>
          <a:ln/>
        </p:spPr>
        <p:txBody>
          <a:bodyPr wrap="square" rtlCol="0"/>
          <a:lstStyle>
            <a:lvl1pPr algn="l" indent="0" marL="0">
              <a:buNone/>
              <a:defRPr lang="en-US" sz="1300" b="1" spc="200" kern="0" dirty="0">
                <a:solidFill>
                  <a:schemeClr val="accent2"/>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510528"/>
            <a:ext cx="7315200" cy="274320"/>
          </a:xfrm>
          <a:prstGeom prst="rect">
            <a:avLst/>
          </a:prstGeom>
          <a:noFill/>
          <a:ln/>
        </p:spPr>
        <p:txBody>
          <a:bodyPr wrap="square" rtlCol="0" anchor="ctr"/>
          <a:lstStyle/>
          <a:p>
            <a:pPr algn="l" indent="0" marL="0">
              <a:buNone/>
            </a:pPr>
            <a:r>
              <a:rPr lang="en-US" sz="1000" dirty="0">
                <a:solidFill>
                  <a:schemeClr val="accent4"/>
                </a:solidFill>
                <a:latin typeface="Calibri" pitchFamily="34" charset="0"/>
                <a:ea typeface="Calibri" pitchFamily="34" charset="-122"/>
                <a:cs typeface="Calibri" pitchFamily="34" charset="-120"/>
              </a:rPr>
              <a:t>n8n-epsilon · ServiceNow Incident Monitoring &amp; Alerts</a:t>
            </a:r>
            <a:endParaRPr lang="en-US" sz="1000" dirty="0"/>
          </a:p>
        </p:txBody>
      </p:sp>
      <p:sp>
        <p:nvSpPr>
          <p:cNvPr id="25" name="Slide Number Placeholder 0"/>
          <p:cNvSpPr>
            <a:spLocks noGrp="1"/>
          </p:cNvSpPr>
          <p:nvPr>
            <p:ph type="sldNum" sz="quarter" idx="4294967295"/>
          </p:nvPr>
        </p:nvSpPr>
        <p:spPr>
          <a:xfrm>
            <a:off x="114300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822960"/>
            <a:ext cx="10515600" cy="100584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554480"/>
            <a:ext cx="9144000" cy="365760"/>
          </a:xfrm>
          <a:prstGeom prst="rect">
            <a:avLst/>
          </a:prstGeom>
          <a:noFill/>
          <a:ln/>
        </p:spPr>
        <p:txBody>
          <a:bodyPr wrap="square" lIns="0" tIns="0" rIns="0" bIns="0" rtlCol="0" anchor="ctr"/>
          <a:lstStyle/>
          <a:p>
            <a:pPr algn="l" indent="0" marL="0">
              <a:buNone/>
            </a:pPr>
            <a:r>
              <a:rPr lang="en-US" sz="1400" b="1" spc="200" kern="0" dirty="0">
                <a:solidFill>
                  <a:schemeClr val="accent1"/>
                </a:solidFill>
                <a:latin typeface="Calibri" pitchFamily="34" charset="0"/>
                <a:ea typeface="Calibri" pitchFamily="34" charset="-122"/>
                <a:cs typeface="Calibri" pitchFamily="34" charset="-120"/>
              </a:rPr>
              <a:t>EPSILON · PUBLICIS GROUPE AUTOMATION ASSIGNMENT</a:t>
            </a:r>
            <a:endParaRPr lang="en-US" sz="1400" dirty="0"/>
          </a:p>
        </p:txBody>
      </p:sp>
      <p:sp>
        <p:nvSpPr>
          <p:cNvPr id="3" name="Text 0"/>
          <p:cNvSpPr/>
          <p:nvPr>
            <p:ph idx="100" type="title" hasCustomPrompt="1"/>
          </p:nvPr>
        </p:nvSpPr>
        <p:spPr>
          <a:xfrm>
            <a:off x="822960" y="2286000"/>
            <a:ext cx="10515600" cy="164592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ServiceNow Incident Monitoring &amp; Alerts</a:t>
            </a:r>
            <a:endParaRPr lang="en-US" sz="4400" dirty="0"/>
          </a:p>
        </p:txBody>
      </p:sp>
      <p:sp>
        <p:nvSpPr>
          <p:cNvPr id="4" name="Text 0"/>
          <p:cNvSpPr/>
          <p:nvPr>
            <p:ph idx="101" type="body" hasCustomPrompt="1"/>
          </p:nvPr>
        </p:nvSpPr>
        <p:spPr>
          <a:xfrm>
            <a:off x="822960" y="4023360"/>
            <a:ext cx="9601200" cy="1463040"/>
          </a:xfrm>
          <a:prstGeom prst="rect">
            <a:avLst/>
          </a:prstGeom>
          <a:noFill/>
          <a:ln/>
        </p:spPr>
        <p:txBody>
          <a:bodyPr wrap="square" rtlCol="0"/>
          <a:lstStyle/>
          <a:p>
            <a:pPr algn="l" indent="0" marL="0">
              <a:buNone/>
            </a:pPr>
            <a:r>
              <a:rPr lang="en-US" sz="1800" dirty="0">
                <a:solidFill>
                  <a:srgbClr val="AEB8C9"/>
                </a:solidFill>
                <a:latin typeface="Calibri" pitchFamily="34" charset="0"/>
                <a:ea typeface="Calibri" pitchFamily="34" charset="-122"/>
                <a:cs typeface="Calibri" pitchFamily="34" charset="-120"/>
              </a:rPr>
              <a:t>How we built a crash-safe n8n workflow that watches ServiceNow and emails the team the moment an incident needs attention.</a:t>
            </a:r>
            <a:endParaRPr lang="en-US" sz="1800" dirty="0"/>
          </a:p>
        </p:txBody>
      </p:sp>
      <p:sp>
        <p:nvSpPr>
          <p:cNvPr id="5" name="Text 3"/>
          <p:cNvSpPr txBox="1"/>
          <p:nvPr/>
        </p:nvSpPr>
        <p:spPr>
          <a:xfrm>
            <a:off x="822960" y="5806440"/>
            <a:ext cx="9144000" cy="36576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Sanjna J</a:t>
            </a:r>
            <a:pPr algn="l" indent="0" marL="0">
              <a:buNone/>
            </a:pPr>
            <a:r>
              <a:rPr lang="en-US" sz="1500" dirty="0">
                <a:solidFill>
                  <a:schemeClr val="accent4"/>
                </a:solidFill>
                <a:latin typeface="Calibri" pitchFamily="34" charset="0"/>
                <a:ea typeface="Calibri" pitchFamily="34" charset="-122"/>
                <a:cs typeface="Calibri" pitchFamily="34" charset="-120"/>
              </a:rPr>
              <a:t>   ·   </a:t>
            </a:r>
            <a:pPr algn="l" indent="0" marL="0">
              <a:buNone/>
            </a:pPr>
            <a:r>
              <a:rPr lang="en-US" sz="1500" b="1" dirty="0">
                <a:solidFill>
                  <a:srgbClr val="FFFFFF"/>
                </a:solidFill>
                <a:latin typeface="Calibri" pitchFamily="34" charset="0"/>
                <a:ea typeface="Calibri" pitchFamily="34" charset="-122"/>
                <a:cs typeface="Calibri" pitchFamily="34" charset="-120"/>
              </a:rPr>
              <a:t>Manikonda Chethan Krishna</a:t>
            </a:r>
            <a:endParaRPr lang="en-US" sz="1500" dirty="0"/>
          </a:p>
        </p:txBody>
      </p:sp>
      <p:sp>
        <p:nvSpPr>
          <p:cNvPr id="6" name="Text 4"/>
          <p:cNvSpPr txBox="1"/>
          <p:nvPr/>
        </p:nvSpPr>
        <p:spPr>
          <a:xfrm>
            <a:off x="822960" y="6172200"/>
            <a:ext cx="9144000" cy="320040"/>
          </a:xfrm>
          <a:prstGeom prst="rect">
            <a:avLst/>
          </a:prstGeom>
          <a:noFill/>
          <a:ln/>
        </p:spPr>
        <p:txBody>
          <a:bodyPr wrap="square" lIns="0" tIns="0" rIns="0" bIns="0" rtlCol="0" anchor="ctr"/>
          <a:lstStyle/>
          <a:p>
            <a:pPr algn="l" indent="0" marL="0">
              <a:buNone/>
            </a:pPr>
            <a:r>
              <a:rPr lang="en-US" sz="1200" dirty="0">
                <a:solidFill>
                  <a:schemeClr val="accent4"/>
                </a:solidFill>
                <a:latin typeface="Calibri" pitchFamily="34" charset="0"/>
                <a:ea typeface="Calibri" pitchFamily="34" charset="-122"/>
                <a:cs typeface="Calibri" pitchFamily="34" charset="-120"/>
              </a:rPr>
              <a:t>n8n Community Edition  ·  ServiceNow Table API  ·  Gmail SMTP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320040"/>
          </a:xfrm>
          <a:prstGeom prst="rect">
            <a:avLst/>
          </a:prstGeom>
          <a:noFill/>
          <a:ln/>
        </p:spPr>
        <p:txBody>
          <a:bodyPr wrap="square" rtlCol="0"/>
          <a:lstStyle/>
          <a:p>
            <a:pPr algn="l" indent="0" marL="0">
              <a:buNone/>
            </a:pPr>
            <a:r>
              <a:rPr lang="en-US" sz="1300" b="1" spc="200" kern="0" dirty="0">
                <a:solidFill>
                  <a:schemeClr val="accent2"/>
                </a:solidFill>
                <a:latin typeface="Calibri" pitchFamily="34" charset="0"/>
                <a:ea typeface="Calibri" pitchFamily="34" charset="-122"/>
                <a:cs typeface="Calibri" pitchFamily="34" charset="-120"/>
              </a:rPr>
              <a:t>PROBLEM STATEMENT</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rtlCol="0"/>
          <a:lstStyle/>
          <a:p>
            <a:pPr algn="l" indent="0" marL="0">
              <a:buNone/>
            </a:pPr>
            <a:r>
              <a:rPr lang="en-US" sz="3200" b="1" dirty="0">
                <a:solidFill>
                  <a:schemeClr val="tx1"/>
                </a:solidFill>
                <a:latin typeface="Cambria" pitchFamily="34" charset="0"/>
                <a:ea typeface="Cambria" pitchFamily="34" charset="-122"/>
                <a:cs typeface="Cambria" pitchFamily="34" charset="-120"/>
              </a:rPr>
              <a:t>Critical incidents can sit unnoticed between manual checks</a:t>
            </a:r>
            <a:endParaRPr lang="en-US" sz="3200" dirty="0"/>
          </a:p>
        </p:txBody>
      </p:sp>
      <p:sp>
        <p:nvSpPr>
          <p:cNvPr id="4" name="Text 2"/>
          <p:cNvSpPr txBox="1"/>
          <p:nvPr/>
        </p:nvSpPr>
        <p:spPr>
          <a:xfrm>
            <a:off x="548640" y="1691640"/>
            <a:ext cx="11064240" cy="777240"/>
          </a:xfrm>
          <a:prstGeom prst="rect">
            <a:avLst/>
          </a:prstGeom>
          <a:noFill/>
          <a:ln/>
        </p:spPr>
        <p:txBody>
          <a:bodyPr wrap="square" lIns="0" tIns="0" rIns="0" bIns="0" rtlCol="0" anchor="ctr"/>
          <a:lstStyle/>
          <a:p>
            <a:pPr algn="l" indent="0" marL="0">
              <a:lnSpc>
                <a:spcPct val="125000"/>
              </a:lnSpc>
              <a:buNone/>
            </a:pPr>
            <a:r>
              <a:rPr lang="en-US" sz="1500" dirty="0">
                <a:solidFill>
                  <a:schemeClr val="accent6"/>
                </a:solidFill>
                <a:latin typeface="Calibri" pitchFamily="34" charset="0"/>
                <a:ea typeface="Calibri" pitchFamily="34" charset="-122"/>
                <a:cs typeface="Calibri" pitchFamily="34" charset="-120"/>
              </a:rPr>
              <a:t>ServiceNow incidents are tracked manually today. There is no automated path from “an incident needs attention” to “the right person was told.” Once an email is sent, nothing ensures it's not sent twice, or that a still-unresolved critical incident gets a second look.</a:t>
            </a:r>
            <a:endParaRPr lang="en-US" sz="1500" dirty="0"/>
          </a:p>
        </p:txBody>
      </p:sp>
      <p:sp>
        <p:nvSpPr>
          <p:cNvPr id="5" name="Shape 3"/>
          <p:cNvSpPr/>
          <p:nvPr/>
        </p:nvSpPr>
        <p:spPr>
          <a:xfrm>
            <a:off x="548640" y="2743200"/>
            <a:ext cx="3520440" cy="2651760"/>
          </a:xfrm>
          <a:prstGeom prst="roundRect">
            <a:avLst>
              <a:gd name="adj" fmla="val 2759"/>
            </a:avLst>
          </a:prstGeom>
          <a:solidFill>
            <a:schemeClr val="bg1"/>
          </a:solidFill>
          <a:ln w="12700">
            <a:solidFill>
              <a:schemeClr val="accent5"/>
            </a:solidFill>
            <a:prstDash val="solid"/>
          </a:ln>
          <a:effectLst>
            <a:outerShdw sx="100000" sy="100000" kx="0" ky="0" algn="bl" rotWithShape="0" blurRad="127000" dist="38100" dir="5400000">
              <a:srgbClr val="1A1F2B">
                <a:alpha val="18000"/>
              </a:srgbClr>
            </a:outerShdw>
          </a:effectLst>
        </p:spPr>
      </p:sp>
      <p:sp>
        <p:nvSpPr>
          <p:cNvPr id="6" name="Shape 4"/>
          <p:cNvSpPr/>
          <p:nvPr/>
        </p:nvSpPr>
        <p:spPr>
          <a:xfrm>
            <a:off x="822960" y="3017520"/>
            <a:ext cx="502920" cy="502920"/>
          </a:xfrm>
          <a:prstGeom prst="roundRect">
            <a:avLst>
              <a:gd name="adj" fmla="val 18182"/>
            </a:avLst>
          </a:prstGeom>
          <a:solidFill>
            <a:schemeClr val="accent1"/>
          </a:solidFill>
          <a:ln/>
        </p:spPr>
      </p:sp>
      <p:sp>
        <p:nvSpPr>
          <p:cNvPr id="7" name="Text 5"/>
          <p:cNvSpPr txBox="1"/>
          <p:nvPr/>
        </p:nvSpPr>
        <p:spPr>
          <a:xfrm>
            <a:off x="822960" y="30175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txBox="1"/>
          <p:nvPr/>
        </p:nvSpPr>
        <p:spPr>
          <a:xfrm>
            <a:off x="822960" y="3703320"/>
            <a:ext cx="2971800" cy="45720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Delayed response</a:t>
            </a:r>
            <a:endParaRPr lang="en-US" sz="1700" dirty="0"/>
          </a:p>
        </p:txBody>
      </p:sp>
      <p:sp>
        <p:nvSpPr>
          <p:cNvPr id="9" name="Text 7"/>
          <p:cNvSpPr txBox="1"/>
          <p:nvPr/>
        </p:nvSpPr>
        <p:spPr>
          <a:xfrm>
            <a:off x="822960" y="4160520"/>
            <a:ext cx="2971800" cy="1097280"/>
          </a:xfrm>
          <a:prstGeom prst="rect">
            <a:avLst/>
          </a:prstGeom>
          <a:noFill/>
          <a:ln/>
        </p:spPr>
        <p:txBody>
          <a:bodyPr wrap="square" lIns="0" tIns="0" rIns="0" bIns="0" rtlCol="0" anchor="ctr"/>
          <a:lstStyle/>
          <a:p>
            <a:pPr algn="l" indent="0" marL="0">
              <a:lnSpc>
                <a:spcPct val="125000"/>
              </a:lnSpc>
              <a:buNone/>
            </a:pPr>
            <a:r>
              <a:rPr lang="en-US" sz="1300" dirty="0">
                <a:solidFill>
                  <a:schemeClr val="accent6"/>
                </a:solidFill>
                <a:latin typeface="Calibri" pitchFamily="34" charset="0"/>
                <a:ea typeface="Calibri" pitchFamily="34" charset="-122"/>
                <a:cs typeface="Calibri" pitchFamily="34" charset="-120"/>
              </a:rPr>
              <a:t>Teams only notice a critical incident when someone happens to check the console.</a:t>
            </a:r>
            <a:endParaRPr lang="en-US" sz="1300" dirty="0"/>
          </a:p>
        </p:txBody>
      </p:sp>
      <p:sp>
        <p:nvSpPr>
          <p:cNvPr id="10" name="Shape 8"/>
          <p:cNvSpPr/>
          <p:nvPr/>
        </p:nvSpPr>
        <p:spPr>
          <a:xfrm>
            <a:off x="4343400" y="2743200"/>
            <a:ext cx="3520440" cy="2651760"/>
          </a:xfrm>
          <a:prstGeom prst="roundRect">
            <a:avLst>
              <a:gd name="adj" fmla="val 2759"/>
            </a:avLst>
          </a:prstGeom>
          <a:solidFill>
            <a:schemeClr val="bg1"/>
          </a:solidFill>
          <a:ln w="12700">
            <a:solidFill>
              <a:schemeClr val="accent5"/>
            </a:solidFill>
            <a:prstDash val="solid"/>
          </a:ln>
          <a:effectLst>
            <a:outerShdw sx="100000" sy="100000" kx="0" ky="0" algn="bl" rotWithShape="0" blurRad="127000" dist="38100" dir="5400000">
              <a:srgbClr val="1A1F2B">
                <a:alpha val="18000"/>
              </a:srgbClr>
            </a:outerShdw>
          </a:effectLst>
        </p:spPr>
      </p:sp>
      <p:sp>
        <p:nvSpPr>
          <p:cNvPr id="11" name="Shape 9"/>
          <p:cNvSpPr/>
          <p:nvPr/>
        </p:nvSpPr>
        <p:spPr>
          <a:xfrm>
            <a:off x="4617720" y="3017520"/>
            <a:ext cx="502920" cy="502920"/>
          </a:xfrm>
          <a:prstGeom prst="roundRect">
            <a:avLst>
              <a:gd name="adj" fmla="val 18182"/>
            </a:avLst>
          </a:prstGeom>
          <a:solidFill>
            <a:schemeClr val="accent1"/>
          </a:solidFill>
          <a:ln/>
        </p:spPr>
      </p:sp>
      <p:sp>
        <p:nvSpPr>
          <p:cNvPr id="12" name="Text 10"/>
          <p:cNvSpPr txBox="1"/>
          <p:nvPr/>
        </p:nvSpPr>
        <p:spPr>
          <a:xfrm>
            <a:off x="4617720" y="30175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txBox="1"/>
          <p:nvPr/>
        </p:nvSpPr>
        <p:spPr>
          <a:xfrm>
            <a:off x="4617720" y="3703320"/>
            <a:ext cx="2971800" cy="45720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No escalation</a:t>
            </a:r>
            <a:endParaRPr lang="en-US" sz="1700" dirty="0"/>
          </a:p>
        </p:txBody>
      </p:sp>
      <p:sp>
        <p:nvSpPr>
          <p:cNvPr id="14" name="Text 12"/>
          <p:cNvSpPr txBox="1"/>
          <p:nvPr/>
        </p:nvSpPr>
        <p:spPr>
          <a:xfrm>
            <a:off x="4617720" y="4160520"/>
            <a:ext cx="2971800" cy="1097280"/>
          </a:xfrm>
          <a:prstGeom prst="rect">
            <a:avLst/>
          </a:prstGeom>
          <a:noFill/>
          <a:ln/>
        </p:spPr>
        <p:txBody>
          <a:bodyPr wrap="square" lIns="0" tIns="0" rIns="0" bIns="0" rtlCol="0" anchor="ctr"/>
          <a:lstStyle/>
          <a:p>
            <a:pPr algn="l" indent="0" marL="0">
              <a:lnSpc>
                <a:spcPct val="125000"/>
              </a:lnSpc>
              <a:buNone/>
            </a:pPr>
            <a:r>
              <a:rPr lang="en-US" sz="1300" dirty="0">
                <a:solidFill>
                  <a:schemeClr val="accent6"/>
                </a:solidFill>
                <a:latin typeface="Calibri" pitchFamily="34" charset="0"/>
                <a:ea typeface="Calibri" pitchFamily="34" charset="-122"/>
                <a:cs typeface="Calibri" pitchFamily="34" charset="-120"/>
              </a:rPr>
              <a:t>High-priority and stale tickets get no automatic nudge when missed, and no reminder while they stay open.</a:t>
            </a:r>
            <a:endParaRPr lang="en-US" sz="1300" dirty="0"/>
          </a:p>
        </p:txBody>
      </p:sp>
      <p:sp>
        <p:nvSpPr>
          <p:cNvPr id="15" name="Shape 13"/>
          <p:cNvSpPr/>
          <p:nvPr/>
        </p:nvSpPr>
        <p:spPr>
          <a:xfrm>
            <a:off x="8138160" y="2743200"/>
            <a:ext cx="3520440" cy="2651760"/>
          </a:xfrm>
          <a:prstGeom prst="roundRect">
            <a:avLst>
              <a:gd name="adj" fmla="val 2759"/>
            </a:avLst>
          </a:prstGeom>
          <a:solidFill>
            <a:schemeClr val="bg1"/>
          </a:solidFill>
          <a:ln w="12700">
            <a:solidFill>
              <a:schemeClr val="accent5"/>
            </a:solidFill>
            <a:prstDash val="solid"/>
          </a:ln>
          <a:effectLst>
            <a:outerShdw sx="100000" sy="100000" kx="0" ky="0" algn="bl" rotWithShape="0" blurRad="127000" dist="38100" dir="5400000">
              <a:srgbClr val="1A1F2B">
                <a:alpha val="18000"/>
              </a:srgbClr>
            </a:outerShdw>
          </a:effectLst>
        </p:spPr>
      </p:sp>
      <p:sp>
        <p:nvSpPr>
          <p:cNvPr id="16" name="Shape 14"/>
          <p:cNvSpPr/>
          <p:nvPr/>
        </p:nvSpPr>
        <p:spPr>
          <a:xfrm>
            <a:off x="8412480" y="3017520"/>
            <a:ext cx="502920" cy="502920"/>
          </a:xfrm>
          <a:prstGeom prst="roundRect">
            <a:avLst>
              <a:gd name="adj" fmla="val 18182"/>
            </a:avLst>
          </a:prstGeom>
          <a:solidFill>
            <a:schemeClr val="accent1"/>
          </a:solidFill>
          <a:ln/>
        </p:spPr>
      </p:sp>
      <p:sp>
        <p:nvSpPr>
          <p:cNvPr id="17" name="Text 15"/>
          <p:cNvSpPr txBox="1"/>
          <p:nvPr/>
        </p:nvSpPr>
        <p:spPr>
          <a:xfrm>
            <a:off x="8412480" y="30175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txBox="1"/>
          <p:nvPr/>
        </p:nvSpPr>
        <p:spPr>
          <a:xfrm>
            <a:off x="8412480" y="3703320"/>
            <a:ext cx="2971800" cy="457200"/>
          </a:xfrm>
          <a:prstGeom prst="rect">
            <a:avLst/>
          </a:prstGeom>
          <a:noFill/>
          <a:ln/>
        </p:spPr>
        <p:txBody>
          <a:bodyPr wrap="square" lIns="0" tIns="0" rIns="0" bIns="0" rtlCol="0" anchor="ctr"/>
          <a:lstStyle/>
          <a:p>
            <a:pPr algn="l" indent="0" marL="0">
              <a:buNone/>
            </a:pPr>
            <a:r>
              <a:rPr lang="en-US" sz="1700" b="1" dirty="0">
                <a:solidFill>
                  <a:schemeClr val="tx1"/>
                </a:solidFill>
                <a:latin typeface="Cambria" pitchFamily="34" charset="0"/>
                <a:ea typeface="Cambria" pitchFamily="34" charset="-122"/>
                <a:cs typeface="Cambria" pitchFamily="34" charset="-120"/>
              </a:rPr>
              <a:t>Duplicate risk</a:t>
            </a:r>
            <a:endParaRPr lang="en-US" sz="1700" dirty="0"/>
          </a:p>
        </p:txBody>
      </p:sp>
      <p:sp>
        <p:nvSpPr>
          <p:cNvPr id="19" name="Text 17"/>
          <p:cNvSpPr txBox="1"/>
          <p:nvPr/>
        </p:nvSpPr>
        <p:spPr>
          <a:xfrm>
            <a:off x="8412480" y="4160520"/>
            <a:ext cx="2971800" cy="1097280"/>
          </a:xfrm>
          <a:prstGeom prst="rect">
            <a:avLst/>
          </a:prstGeom>
          <a:noFill/>
          <a:ln/>
        </p:spPr>
        <p:txBody>
          <a:bodyPr wrap="square" lIns="0" tIns="0" rIns="0" bIns="0" rtlCol="0" anchor="ctr"/>
          <a:lstStyle/>
          <a:p>
            <a:pPr algn="l" indent="0" marL="0">
              <a:lnSpc>
                <a:spcPct val="125000"/>
              </a:lnSpc>
              <a:buNone/>
            </a:pPr>
            <a:r>
              <a:rPr lang="en-US" sz="1300" dirty="0">
                <a:solidFill>
                  <a:schemeClr val="accent6"/>
                </a:solidFill>
                <a:latin typeface="Calibri" pitchFamily="34" charset="0"/>
                <a:ea typeface="Calibri" pitchFamily="34" charset="-122"/>
                <a:cs typeface="Calibri" pitchFamily="34" charset="-120"/>
              </a:rPr>
              <a:t>A crash between “email sent” and “state saved” can silently resend the same alert.</a:t>
            </a:r>
            <a:endParaRPr lang="en-US" sz="1300" dirty="0"/>
          </a:p>
        </p:txBody>
      </p:sp>
      <p:sp>
        <p:nvSpPr>
          <p:cNvPr id="25" name="Slide Number Placeholder 0"/>
          <p:cNvSpPr>
            <a:spLocks noGrp="1"/>
          </p:cNvSpPr>
          <p:nvPr>
            <p:ph type="sldNum" sz="quarter" idx="4294967295"/>
          </p:nvPr>
        </p:nvSpPr>
        <p:spPr>
          <a:xfrm>
            <a:off x="114300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320040"/>
          </a:xfrm>
          <a:prstGeom prst="rect">
            <a:avLst/>
          </a:prstGeom>
          <a:noFill/>
          <a:ln/>
        </p:spPr>
        <p:txBody>
          <a:bodyPr wrap="square" rtlCol="0"/>
          <a:lstStyle/>
          <a:p>
            <a:pPr algn="l" indent="0" marL="0">
              <a:buNone/>
            </a:pPr>
            <a:r>
              <a:rPr lang="en-US" sz="1300" b="1" spc="200" kern="0" dirty="0">
                <a:solidFill>
                  <a:schemeClr val="accent2"/>
                </a:solidFill>
                <a:latin typeface="Calibri" pitchFamily="34" charset="0"/>
                <a:ea typeface="Calibri" pitchFamily="34" charset="-122"/>
                <a:cs typeface="Calibri" pitchFamily="34" charset="-120"/>
              </a:rPr>
              <a:t>SOLUTION</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rtlCol="0"/>
          <a:lstStyle/>
          <a:p>
            <a:pPr algn="l" indent="0" marL="0">
              <a:buNone/>
            </a:pPr>
            <a:r>
              <a:rPr lang="en-US" sz="3200" b="1" dirty="0">
                <a:solidFill>
                  <a:schemeClr val="tx1"/>
                </a:solidFill>
                <a:latin typeface="Cambria" pitchFamily="34" charset="0"/>
                <a:ea typeface="Cambria" pitchFamily="34" charset="-122"/>
                <a:cs typeface="Cambria" pitchFamily="34" charset="-120"/>
              </a:rPr>
              <a:t>A scheduled n8n workflow with crash-safe delivery</a:t>
            </a:r>
            <a:endParaRPr lang="en-US" sz="3200" dirty="0"/>
          </a:p>
        </p:txBody>
      </p:sp>
      <p:sp>
        <p:nvSpPr>
          <p:cNvPr id="4" name="Text 2"/>
          <p:cNvSpPr txBox="1"/>
          <p:nvPr/>
        </p:nvSpPr>
        <p:spPr>
          <a:xfrm>
            <a:off x="548640" y="1691640"/>
            <a:ext cx="11064240" cy="685800"/>
          </a:xfrm>
          <a:prstGeom prst="rect">
            <a:avLst/>
          </a:prstGeom>
          <a:noFill/>
          <a:ln/>
        </p:spPr>
        <p:txBody>
          <a:bodyPr wrap="square" lIns="0" tIns="0" rIns="0" bIns="0" rtlCol="0" anchor="ctr"/>
          <a:lstStyle/>
          <a:p>
            <a:pPr algn="l" indent="0" marL="0">
              <a:lnSpc>
                <a:spcPct val="125000"/>
              </a:lnSpc>
              <a:buNone/>
            </a:pPr>
            <a:r>
              <a:rPr lang="en-US" sz="1500" dirty="0">
                <a:solidFill>
                  <a:schemeClr val="accent6"/>
                </a:solidFill>
                <a:latin typeface="Calibri" pitchFamily="34" charset="0"/>
                <a:ea typeface="Calibri" pitchFamily="34" charset="-122"/>
                <a:cs typeface="Calibri" pitchFamily="34" charset="-120"/>
              </a:rPr>
              <a:t>Every 5 minutes, n8n polls the ServiceNow Table API, evaluates each incident against alert rules, checks a claim-based dedup store, and emails the team over Gmail SMTP when a rule fires, with reminders for incidents that stay open.</a:t>
            </a:r>
            <a:endParaRPr lang="en-US" sz="1500" dirty="0"/>
          </a:p>
        </p:txBody>
      </p:sp>
      <p:sp>
        <p:nvSpPr>
          <p:cNvPr id="5" name="Shape 3"/>
          <p:cNvSpPr/>
          <p:nvPr/>
        </p:nvSpPr>
        <p:spPr>
          <a:xfrm>
            <a:off x="548640" y="2697480"/>
            <a:ext cx="3520440" cy="3017520"/>
          </a:xfrm>
          <a:prstGeom prst="roundRect">
            <a:avLst>
              <a:gd name="adj" fmla="val 2424"/>
            </a:avLst>
          </a:prstGeom>
          <a:solidFill>
            <a:schemeClr val="bg1"/>
          </a:solidFill>
          <a:ln w="12700">
            <a:solidFill>
              <a:schemeClr val="accent5"/>
            </a:solidFill>
            <a:prstDash val="solid"/>
          </a:ln>
          <a:effectLst>
            <a:outerShdw sx="100000" sy="100000" kx="0" ky="0" algn="bl" rotWithShape="0" blurRad="127000" dist="38100" dir="5400000">
              <a:srgbClr val="1A1F2B">
                <a:alpha val="18000"/>
              </a:srgbClr>
            </a:outerShdw>
          </a:effectLst>
        </p:spPr>
      </p:sp>
      <p:sp>
        <p:nvSpPr>
          <p:cNvPr id="6" name="Shape 4"/>
          <p:cNvSpPr/>
          <p:nvPr/>
        </p:nvSpPr>
        <p:spPr>
          <a:xfrm>
            <a:off x="548640" y="2697480"/>
            <a:ext cx="3520440" cy="73152"/>
          </a:xfrm>
          <a:prstGeom prst="roundRect">
            <a:avLst/>
          </a:prstGeom>
          <a:solidFill>
            <a:schemeClr val="accent2"/>
          </a:solidFill>
          <a:ln/>
        </p:spPr>
      </p:sp>
      <p:sp>
        <p:nvSpPr>
          <p:cNvPr id="7" name="Text 5"/>
          <p:cNvSpPr txBox="1"/>
          <p:nvPr/>
        </p:nvSpPr>
        <p:spPr>
          <a:xfrm>
            <a:off x="822960" y="3017520"/>
            <a:ext cx="2971800" cy="365760"/>
          </a:xfrm>
          <a:prstGeom prst="rect">
            <a:avLst/>
          </a:prstGeom>
          <a:noFill/>
          <a:ln/>
        </p:spPr>
        <p:txBody>
          <a:bodyPr wrap="square" lIns="0" tIns="0" rIns="0" bIns="0" rtlCol="0" anchor="ctr"/>
          <a:lstStyle/>
          <a:p>
            <a:pPr algn="l" indent="0" marL="0">
              <a:buNone/>
            </a:pPr>
            <a:r>
              <a:rPr lang="en-US" sz="1400" b="1" spc="200" kern="0" dirty="0">
                <a:solidFill>
                  <a:schemeClr val="accent2"/>
                </a:solidFill>
                <a:latin typeface="Calibri" pitchFamily="34" charset="0"/>
                <a:ea typeface="Calibri" pitchFamily="34" charset="-122"/>
                <a:cs typeface="Calibri" pitchFamily="34" charset="-120"/>
              </a:rPr>
              <a:t>DETECT</a:t>
            </a:r>
            <a:endParaRPr lang="en-US" sz="1400" dirty="0"/>
          </a:p>
        </p:txBody>
      </p:sp>
      <p:sp>
        <p:nvSpPr>
          <p:cNvPr id="8" name="Text 6"/>
          <p:cNvSpPr txBox="1"/>
          <p:nvPr/>
        </p:nvSpPr>
        <p:spPr>
          <a:xfrm>
            <a:off x="822960" y="3474720"/>
            <a:ext cx="2971800" cy="2011680"/>
          </a:xfrm>
          <a:prstGeom prst="rect">
            <a:avLst/>
          </a:prstGeom>
          <a:noFill/>
          <a:ln/>
        </p:spPr>
        <p:txBody>
          <a:bodyPr wrap="square" lIns="0" tIns="0" rIns="0" bIns="0" rtlCol="0" anchor="ctr"/>
          <a:lstStyle/>
          <a:p>
            <a:pPr algn="l" indent="0" marL="0">
              <a:lnSpc>
                <a:spcPct val="130000"/>
              </a:lnSpc>
              <a:buNone/>
            </a:pPr>
            <a:r>
              <a:rPr lang="en-US" sz="1350" dirty="0">
                <a:solidFill>
                  <a:schemeClr val="accent6"/>
                </a:solidFill>
                <a:latin typeface="Calibri" pitchFamily="34" charset="0"/>
                <a:ea typeface="Calibri" pitchFamily="34" charset="-122"/>
                <a:cs typeface="Calibri" pitchFamily="34" charset="-120"/>
              </a:rPr>
              <a:t>Poll ServiceNow's Table API every 5 minutes for unresolved incidents, filtered server-side.</a:t>
            </a:r>
            <a:endParaRPr lang="en-US" sz="1350" dirty="0"/>
          </a:p>
        </p:txBody>
      </p:sp>
      <p:sp>
        <p:nvSpPr>
          <p:cNvPr id="9" name="Shape 7"/>
          <p:cNvSpPr/>
          <p:nvPr/>
        </p:nvSpPr>
        <p:spPr>
          <a:xfrm>
            <a:off x="4343400" y="2697480"/>
            <a:ext cx="3520440" cy="3017520"/>
          </a:xfrm>
          <a:prstGeom prst="roundRect">
            <a:avLst>
              <a:gd name="adj" fmla="val 2424"/>
            </a:avLst>
          </a:prstGeom>
          <a:solidFill>
            <a:schemeClr val="bg1"/>
          </a:solidFill>
          <a:ln w="12700">
            <a:solidFill>
              <a:schemeClr val="accent5"/>
            </a:solidFill>
            <a:prstDash val="solid"/>
          </a:ln>
          <a:effectLst>
            <a:outerShdw sx="100000" sy="100000" kx="0" ky="0" algn="bl" rotWithShape="0" blurRad="127000" dist="38100" dir="5400000">
              <a:srgbClr val="1A1F2B">
                <a:alpha val="18000"/>
              </a:srgbClr>
            </a:outerShdw>
          </a:effectLst>
        </p:spPr>
      </p:sp>
      <p:sp>
        <p:nvSpPr>
          <p:cNvPr id="10" name="Shape 8"/>
          <p:cNvSpPr/>
          <p:nvPr/>
        </p:nvSpPr>
        <p:spPr>
          <a:xfrm>
            <a:off x="4343400" y="2697480"/>
            <a:ext cx="3520440" cy="73152"/>
          </a:xfrm>
          <a:prstGeom prst="roundRect">
            <a:avLst/>
          </a:prstGeom>
          <a:solidFill>
            <a:schemeClr val="accent1"/>
          </a:solidFill>
          <a:ln/>
        </p:spPr>
      </p:sp>
      <p:sp>
        <p:nvSpPr>
          <p:cNvPr id="11" name="Text 9"/>
          <p:cNvSpPr txBox="1"/>
          <p:nvPr/>
        </p:nvSpPr>
        <p:spPr>
          <a:xfrm>
            <a:off x="4617720" y="3017520"/>
            <a:ext cx="2971800" cy="365760"/>
          </a:xfrm>
          <a:prstGeom prst="rect">
            <a:avLst/>
          </a:prstGeom>
          <a:noFill/>
          <a:ln/>
        </p:spPr>
        <p:txBody>
          <a:bodyPr wrap="square" lIns="0" tIns="0" rIns="0" bIns="0" rtlCol="0" anchor="ctr"/>
          <a:lstStyle/>
          <a:p>
            <a:pPr algn="l" indent="0" marL="0">
              <a:buNone/>
            </a:pPr>
            <a:r>
              <a:rPr lang="en-US" sz="1400" b="1" spc="200" kern="0" dirty="0">
                <a:solidFill>
                  <a:schemeClr val="accent1"/>
                </a:solidFill>
                <a:latin typeface="Calibri" pitchFamily="34" charset="0"/>
                <a:ea typeface="Calibri" pitchFamily="34" charset="-122"/>
                <a:cs typeface="Calibri" pitchFamily="34" charset="-120"/>
              </a:rPr>
              <a:t>DECIDE</a:t>
            </a:r>
            <a:endParaRPr lang="en-US" sz="1400" dirty="0"/>
          </a:p>
        </p:txBody>
      </p:sp>
      <p:sp>
        <p:nvSpPr>
          <p:cNvPr id="12" name="Text 10"/>
          <p:cNvSpPr txBox="1"/>
          <p:nvPr/>
        </p:nvSpPr>
        <p:spPr>
          <a:xfrm>
            <a:off x="4617720" y="3474720"/>
            <a:ext cx="2971800" cy="2011680"/>
          </a:xfrm>
          <a:prstGeom prst="rect">
            <a:avLst/>
          </a:prstGeom>
          <a:noFill/>
          <a:ln/>
        </p:spPr>
        <p:txBody>
          <a:bodyPr wrap="square" lIns="0" tIns="0" rIns="0" bIns="0" rtlCol="0" anchor="ctr"/>
          <a:lstStyle/>
          <a:p>
            <a:pPr algn="l" indent="0" marL="0">
              <a:lnSpc>
                <a:spcPct val="130000"/>
              </a:lnSpc>
              <a:buNone/>
            </a:pPr>
            <a:r>
              <a:rPr lang="en-US" sz="1350" dirty="0">
                <a:solidFill>
                  <a:schemeClr val="accent6"/>
                </a:solidFill>
                <a:latin typeface="Calibri" pitchFamily="34" charset="0"/>
                <a:ea typeface="Calibri" pitchFamily="34" charset="-122"/>
                <a:cs typeface="Calibri" pitchFamily="34" charset="-120"/>
              </a:rPr>
              <a:t>Evaluate critical / high / stale rules, then claim the alert key before sending. Crash-safe, at-least-once.</a:t>
            </a:r>
            <a:endParaRPr lang="en-US" sz="1350" dirty="0"/>
          </a:p>
        </p:txBody>
      </p:sp>
      <p:sp>
        <p:nvSpPr>
          <p:cNvPr id="13" name="Shape 11"/>
          <p:cNvSpPr/>
          <p:nvPr/>
        </p:nvSpPr>
        <p:spPr>
          <a:xfrm>
            <a:off x="8138160" y="2697480"/>
            <a:ext cx="3520440" cy="3017520"/>
          </a:xfrm>
          <a:prstGeom prst="roundRect">
            <a:avLst>
              <a:gd name="adj" fmla="val 2424"/>
            </a:avLst>
          </a:prstGeom>
          <a:solidFill>
            <a:schemeClr val="bg1"/>
          </a:solidFill>
          <a:ln w="12700">
            <a:solidFill>
              <a:schemeClr val="accent5"/>
            </a:solidFill>
            <a:prstDash val="solid"/>
          </a:ln>
          <a:effectLst>
            <a:outerShdw sx="100000" sy="100000" kx="0" ky="0" algn="bl" rotWithShape="0" blurRad="127000" dist="38100" dir="5400000">
              <a:srgbClr val="1A1F2B">
                <a:alpha val="18000"/>
              </a:srgbClr>
            </a:outerShdw>
          </a:effectLst>
        </p:spPr>
      </p:sp>
      <p:sp>
        <p:nvSpPr>
          <p:cNvPr id="14" name="Shape 12"/>
          <p:cNvSpPr/>
          <p:nvPr/>
        </p:nvSpPr>
        <p:spPr>
          <a:xfrm>
            <a:off x="8138160" y="2697480"/>
            <a:ext cx="3520440" cy="73152"/>
          </a:xfrm>
          <a:prstGeom prst="roundRect">
            <a:avLst/>
          </a:prstGeom>
          <a:solidFill>
            <a:schemeClr val="accent3"/>
          </a:solidFill>
          <a:ln/>
        </p:spPr>
      </p:sp>
      <p:sp>
        <p:nvSpPr>
          <p:cNvPr id="15" name="Text 13"/>
          <p:cNvSpPr txBox="1"/>
          <p:nvPr/>
        </p:nvSpPr>
        <p:spPr>
          <a:xfrm>
            <a:off x="8412480" y="3017520"/>
            <a:ext cx="2971800" cy="365760"/>
          </a:xfrm>
          <a:prstGeom prst="rect">
            <a:avLst/>
          </a:prstGeom>
          <a:noFill/>
          <a:ln/>
        </p:spPr>
        <p:txBody>
          <a:bodyPr wrap="square" lIns="0" tIns="0" rIns="0" bIns="0" rtlCol="0" anchor="ctr"/>
          <a:lstStyle/>
          <a:p>
            <a:pPr algn="l" indent="0" marL="0">
              <a:buNone/>
            </a:pPr>
            <a:r>
              <a:rPr lang="en-US" sz="1400" b="1" spc="200" kern="0" dirty="0">
                <a:solidFill>
                  <a:schemeClr val="accent3"/>
                </a:solidFill>
                <a:latin typeface="Calibri" pitchFamily="34" charset="0"/>
                <a:ea typeface="Calibri" pitchFamily="34" charset="-122"/>
                <a:cs typeface="Calibri" pitchFamily="34" charset="-120"/>
              </a:rPr>
              <a:t>NOTIFY</a:t>
            </a:r>
            <a:endParaRPr lang="en-US" sz="1400" dirty="0"/>
          </a:p>
        </p:txBody>
      </p:sp>
      <p:sp>
        <p:nvSpPr>
          <p:cNvPr id="16" name="Text 14"/>
          <p:cNvSpPr txBox="1"/>
          <p:nvPr/>
        </p:nvSpPr>
        <p:spPr>
          <a:xfrm>
            <a:off x="8412480" y="3474720"/>
            <a:ext cx="2971800" cy="2011680"/>
          </a:xfrm>
          <a:prstGeom prst="rect">
            <a:avLst/>
          </a:prstGeom>
          <a:noFill/>
          <a:ln/>
        </p:spPr>
        <p:txBody>
          <a:bodyPr wrap="square" lIns="0" tIns="0" rIns="0" bIns="0" rtlCol="0" anchor="ctr"/>
          <a:lstStyle/>
          <a:p>
            <a:pPr algn="l" indent="0" marL="0">
              <a:lnSpc>
                <a:spcPct val="130000"/>
              </a:lnSpc>
              <a:buNone/>
            </a:pPr>
            <a:r>
              <a:rPr lang="en-US" sz="1350" dirty="0">
                <a:solidFill>
                  <a:schemeClr val="accent6"/>
                </a:solidFill>
                <a:latin typeface="Calibri" pitchFamily="34" charset="0"/>
                <a:ea typeface="Calibri" pitchFamily="34" charset="-122"/>
                <a:cs typeface="Calibri" pitchFamily="34" charset="-120"/>
              </a:rPr>
              <a:t>Send a structured Gmail SMTP email, with reminders for incidents that stay unresolved.</a:t>
            </a:r>
            <a:endParaRPr lang="en-US" sz="1350" dirty="0"/>
          </a:p>
        </p:txBody>
      </p:sp>
      <p:sp>
        <p:nvSpPr>
          <p:cNvPr id="25" name="Slide Number Placeholder 0"/>
          <p:cNvSpPr>
            <a:spLocks noGrp="1"/>
          </p:cNvSpPr>
          <p:nvPr>
            <p:ph type="sldNum" sz="quarter" idx="4294967295"/>
          </p:nvPr>
        </p:nvSpPr>
        <p:spPr>
          <a:xfrm>
            <a:off x="114300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320040"/>
          </a:xfrm>
          <a:prstGeom prst="rect">
            <a:avLst/>
          </a:prstGeom>
          <a:noFill/>
          <a:ln/>
        </p:spPr>
        <p:txBody>
          <a:bodyPr wrap="square" rtlCol="0"/>
          <a:lstStyle/>
          <a:p>
            <a:pPr algn="l" indent="0" marL="0">
              <a:buNone/>
            </a:pPr>
            <a:r>
              <a:rPr lang="en-US" sz="1300" b="1" spc="200" kern="0" dirty="0">
                <a:solidFill>
                  <a:schemeClr val="accent2"/>
                </a:solidFill>
                <a:latin typeface="Calibri" pitchFamily="34" charset="0"/>
                <a:ea typeface="Calibri" pitchFamily="34" charset="-122"/>
                <a:cs typeface="Calibri" pitchFamily="34" charset="-120"/>
              </a:rPr>
              <a:t>ARCHITECTURE</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rtlCol="0"/>
          <a:lstStyle/>
          <a:p>
            <a:pPr algn="l" indent="0" marL="0">
              <a:buNone/>
            </a:pPr>
            <a:r>
              <a:rPr lang="en-US" sz="3200" b="1" dirty="0">
                <a:solidFill>
                  <a:schemeClr val="tx1"/>
                </a:solidFill>
                <a:latin typeface="Cambria" pitchFamily="34" charset="0"/>
                <a:ea typeface="Cambria" pitchFamily="34" charset="-122"/>
                <a:cs typeface="Cambria" pitchFamily="34" charset="-120"/>
              </a:rPr>
              <a:t>High-level system view</a:t>
            </a:r>
            <a:endParaRPr lang="en-US" sz="3200" dirty="0"/>
          </a:p>
        </p:txBody>
      </p:sp>
      <p:sp>
        <p:nvSpPr>
          <p:cNvPr id="4" name="Shape 2"/>
          <p:cNvSpPr/>
          <p:nvPr/>
        </p:nvSpPr>
        <p:spPr>
          <a:xfrm>
            <a:off x="2240280" y="2263140"/>
            <a:ext cx="137160" cy="0"/>
          </a:xfrm>
          <a:prstGeom prst="line">
            <a:avLst/>
          </a:prstGeom>
          <a:noFill/>
          <a:ln w="25400">
            <a:solidFill>
              <a:schemeClr val="accent2"/>
            </a:solidFill>
            <a:prstDash val="solid"/>
            <a:tailEnd type="none"/>
          </a:ln>
        </p:spPr>
      </p:sp>
      <p:sp>
        <p:nvSpPr>
          <p:cNvPr id="5" name="Shape 3"/>
          <p:cNvSpPr/>
          <p:nvPr/>
        </p:nvSpPr>
        <p:spPr>
          <a:xfrm>
            <a:off x="2377440" y="2263140"/>
            <a:ext cx="0" cy="662940"/>
          </a:xfrm>
          <a:prstGeom prst="line">
            <a:avLst/>
          </a:prstGeom>
          <a:noFill/>
          <a:ln w="25400">
            <a:solidFill>
              <a:schemeClr val="accent2"/>
            </a:solidFill>
            <a:prstDash val="solid"/>
            <a:tailEnd type="none"/>
          </a:ln>
        </p:spPr>
      </p:sp>
      <p:sp>
        <p:nvSpPr>
          <p:cNvPr id="6" name="Shape 4"/>
          <p:cNvSpPr/>
          <p:nvPr/>
        </p:nvSpPr>
        <p:spPr>
          <a:xfrm>
            <a:off x="2377440" y="2926080"/>
            <a:ext cx="137160" cy="0"/>
          </a:xfrm>
          <a:prstGeom prst="line">
            <a:avLst/>
          </a:prstGeom>
          <a:noFill/>
          <a:ln w="25400">
            <a:solidFill>
              <a:schemeClr val="accent2"/>
            </a:solidFill>
            <a:prstDash val="solid"/>
            <a:tailEnd type="triangle"/>
          </a:ln>
        </p:spPr>
      </p:sp>
      <p:sp>
        <p:nvSpPr>
          <p:cNvPr id="7" name="Shape 5"/>
          <p:cNvSpPr/>
          <p:nvPr/>
        </p:nvSpPr>
        <p:spPr>
          <a:xfrm>
            <a:off x="2240280" y="3589020"/>
            <a:ext cx="137160" cy="0"/>
          </a:xfrm>
          <a:prstGeom prst="line">
            <a:avLst/>
          </a:prstGeom>
          <a:noFill/>
          <a:ln w="25400">
            <a:solidFill>
              <a:schemeClr val="accent2"/>
            </a:solidFill>
            <a:prstDash val="solid"/>
            <a:tailEnd type="none"/>
          </a:ln>
        </p:spPr>
      </p:sp>
      <p:sp>
        <p:nvSpPr>
          <p:cNvPr id="8" name="Shape 6"/>
          <p:cNvSpPr/>
          <p:nvPr/>
        </p:nvSpPr>
        <p:spPr>
          <a:xfrm>
            <a:off x="2377440" y="2926080"/>
            <a:ext cx="0" cy="662940"/>
          </a:xfrm>
          <a:prstGeom prst="line">
            <a:avLst/>
          </a:prstGeom>
          <a:noFill/>
          <a:ln w="25400">
            <a:solidFill>
              <a:schemeClr val="accent2"/>
            </a:solidFill>
            <a:prstDash val="solid"/>
            <a:tailEnd type="none"/>
          </a:ln>
        </p:spPr>
      </p:sp>
      <p:sp>
        <p:nvSpPr>
          <p:cNvPr id="9" name="Shape 7"/>
          <p:cNvSpPr/>
          <p:nvPr/>
        </p:nvSpPr>
        <p:spPr>
          <a:xfrm>
            <a:off x="2377440" y="2926080"/>
            <a:ext cx="137160" cy="0"/>
          </a:xfrm>
          <a:prstGeom prst="line">
            <a:avLst/>
          </a:prstGeom>
          <a:noFill/>
          <a:ln w="25400">
            <a:solidFill>
              <a:schemeClr val="accent2"/>
            </a:solidFill>
            <a:prstDash val="solid"/>
            <a:tailEnd type="triangle"/>
          </a:ln>
        </p:spPr>
      </p:sp>
      <p:sp>
        <p:nvSpPr>
          <p:cNvPr id="10" name="Shape 8"/>
          <p:cNvSpPr/>
          <p:nvPr/>
        </p:nvSpPr>
        <p:spPr>
          <a:xfrm>
            <a:off x="4069080" y="2926080"/>
            <a:ext cx="274320" cy="0"/>
          </a:xfrm>
          <a:prstGeom prst="line">
            <a:avLst/>
          </a:prstGeom>
          <a:noFill/>
          <a:ln w="25400">
            <a:solidFill>
              <a:schemeClr val="accent2"/>
            </a:solidFill>
            <a:prstDash val="solid"/>
            <a:tailEnd type="triangle"/>
          </a:ln>
        </p:spPr>
      </p:sp>
      <p:sp>
        <p:nvSpPr>
          <p:cNvPr id="11" name="Shape 9"/>
          <p:cNvSpPr/>
          <p:nvPr/>
        </p:nvSpPr>
        <p:spPr>
          <a:xfrm>
            <a:off x="5897880" y="2926080"/>
            <a:ext cx="274320" cy="0"/>
          </a:xfrm>
          <a:prstGeom prst="line">
            <a:avLst/>
          </a:prstGeom>
          <a:noFill/>
          <a:ln w="25400">
            <a:solidFill>
              <a:schemeClr val="accent2"/>
            </a:solidFill>
            <a:prstDash val="solid"/>
            <a:tailEnd type="triangle"/>
          </a:ln>
        </p:spPr>
      </p:sp>
      <p:sp>
        <p:nvSpPr>
          <p:cNvPr id="12" name="Shape 10"/>
          <p:cNvSpPr/>
          <p:nvPr/>
        </p:nvSpPr>
        <p:spPr>
          <a:xfrm>
            <a:off x="7726680" y="2926080"/>
            <a:ext cx="274320" cy="0"/>
          </a:xfrm>
          <a:prstGeom prst="line">
            <a:avLst/>
          </a:prstGeom>
          <a:noFill/>
          <a:ln w="25400">
            <a:solidFill>
              <a:schemeClr val="accent1"/>
            </a:solidFill>
            <a:prstDash val="solid"/>
            <a:tailEnd type="triangle"/>
          </a:ln>
        </p:spPr>
      </p:sp>
      <p:sp>
        <p:nvSpPr>
          <p:cNvPr id="13" name="Text 11"/>
          <p:cNvSpPr txBox="1"/>
          <p:nvPr/>
        </p:nvSpPr>
        <p:spPr>
          <a:xfrm>
            <a:off x="7223760" y="2523744"/>
            <a:ext cx="1280160" cy="292608"/>
          </a:xfrm>
          <a:prstGeom prst="rect">
            <a:avLst/>
          </a:prstGeom>
          <a:solidFill>
            <a:srgbClr val="FDFDFB"/>
          </a:solidFill>
          <a:ln/>
        </p:spPr>
        <p:txBody>
          <a:bodyPr wrap="square" lIns="0" tIns="0" rIns="0" bIns="0" rtlCol="0" anchor="ctr"/>
          <a:lstStyle/>
          <a:p>
            <a:pPr algn="ctr" indent="0" marL="0">
              <a:buNone/>
            </a:pPr>
            <a:r>
              <a:rPr lang="en-US" sz="1300" b="1" dirty="0">
                <a:solidFill>
                  <a:schemeClr val="accent1"/>
                </a:solidFill>
                <a:latin typeface="Calibri" pitchFamily="34" charset="0"/>
                <a:ea typeface="Calibri" pitchFamily="34" charset="-122"/>
                <a:cs typeface="Calibri" pitchFamily="34" charset="-120"/>
              </a:rPr>
              <a:t>qualifies</a:t>
            </a:r>
            <a:endParaRPr lang="en-US" sz="1300" dirty="0"/>
          </a:p>
        </p:txBody>
      </p:sp>
      <p:sp>
        <p:nvSpPr>
          <p:cNvPr id="14" name="Shape 12"/>
          <p:cNvSpPr/>
          <p:nvPr/>
        </p:nvSpPr>
        <p:spPr>
          <a:xfrm>
            <a:off x="6949440" y="3520440"/>
            <a:ext cx="0" cy="708660"/>
          </a:xfrm>
          <a:prstGeom prst="line">
            <a:avLst/>
          </a:prstGeom>
          <a:noFill/>
          <a:ln w="25400">
            <a:solidFill>
              <a:schemeClr val="accent4"/>
            </a:solidFill>
            <a:prstDash val="solid"/>
            <a:tailEnd type="triangle"/>
          </a:ln>
        </p:spPr>
      </p:sp>
      <p:sp>
        <p:nvSpPr>
          <p:cNvPr id="15" name="Text 13"/>
          <p:cNvSpPr txBox="1"/>
          <p:nvPr/>
        </p:nvSpPr>
        <p:spPr>
          <a:xfrm>
            <a:off x="6812280" y="3728466"/>
            <a:ext cx="1280160" cy="292608"/>
          </a:xfrm>
          <a:prstGeom prst="rect">
            <a:avLst/>
          </a:prstGeom>
          <a:solidFill>
            <a:srgbClr val="FDFDFB"/>
          </a:solid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no match</a:t>
            </a:r>
            <a:endParaRPr lang="en-US" sz="1300" dirty="0"/>
          </a:p>
        </p:txBody>
      </p:sp>
      <p:sp>
        <p:nvSpPr>
          <p:cNvPr id="16" name="Shape 14"/>
          <p:cNvSpPr/>
          <p:nvPr/>
        </p:nvSpPr>
        <p:spPr>
          <a:xfrm>
            <a:off x="9555480" y="2926080"/>
            <a:ext cx="274320" cy="0"/>
          </a:xfrm>
          <a:prstGeom prst="line">
            <a:avLst/>
          </a:prstGeom>
          <a:noFill/>
          <a:ln w="25400">
            <a:solidFill>
              <a:schemeClr val="accent1"/>
            </a:solidFill>
            <a:prstDash val="solid"/>
            <a:tailEnd type="triangle"/>
          </a:ln>
        </p:spPr>
      </p:sp>
      <p:sp>
        <p:nvSpPr>
          <p:cNvPr id="17" name="Text 15"/>
          <p:cNvSpPr txBox="1"/>
          <p:nvPr/>
        </p:nvSpPr>
        <p:spPr>
          <a:xfrm>
            <a:off x="9052560" y="2523744"/>
            <a:ext cx="1280160" cy="292608"/>
          </a:xfrm>
          <a:prstGeom prst="rect">
            <a:avLst/>
          </a:prstGeom>
          <a:solidFill>
            <a:srgbClr val="FDFDFB"/>
          </a:solidFill>
          <a:ln/>
        </p:spPr>
        <p:txBody>
          <a:bodyPr wrap="square" lIns="0" tIns="0" rIns="0" bIns="0" rtlCol="0" anchor="ctr"/>
          <a:lstStyle/>
          <a:p>
            <a:pPr algn="ctr" indent="0" marL="0">
              <a:buNone/>
            </a:pPr>
            <a:r>
              <a:rPr lang="en-US" sz="1300" b="1" dirty="0">
                <a:solidFill>
                  <a:schemeClr val="accent1"/>
                </a:solidFill>
                <a:latin typeface="Calibri" pitchFamily="34" charset="0"/>
                <a:ea typeface="Calibri" pitchFamily="34" charset="-122"/>
                <a:cs typeface="Calibri" pitchFamily="34" charset="-120"/>
              </a:rPr>
              <a:t>no</a:t>
            </a:r>
            <a:endParaRPr lang="en-US" sz="1300" dirty="0"/>
          </a:p>
        </p:txBody>
      </p:sp>
      <p:sp>
        <p:nvSpPr>
          <p:cNvPr id="18" name="Shape 16"/>
          <p:cNvSpPr/>
          <p:nvPr/>
        </p:nvSpPr>
        <p:spPr>
          <a:xfrm>
            <a:off x="8778240" y="3520440"/>
            <a:ext cx="0" cy="228600"/>
          </a:xfrm>
          <a:prstGeom prst="line">
            <a:avLst/>
          </a:prstGeom>
          <a:noFill/>
          <a:ln w="25400">
            <a:solidFill>
              <a:schemeClr val="accent4"/>
            </a:solidFill>
            <a:prstDash val="solid"/>
            <a:tailEnd type="none"/>
          </a:ln>
        </p:spPr>
      </p:sp>
      <p:sp>
        <p:nvSpPr>
          <p:cNvPr id="19" name="Shape 17"/>
          <p:cNvSpPr/>
          <p:nvPr/>
        </p:nvSpPr>
        <p:spPr>
          <a:xfrm>
            <a:off x="7955280" y="3749040"/>
            <a:ext cx="822960" cy="0"/>
          </a:xfrm>
          <a:prstGeom prst="line">
            <a:avLst/>
          </a:prstGeom>
          <a:noFill/>
          <a:ln w="25400">
            <a:solidFill>
              <a:schemeClr val="accent4"/>
            </a:solidFill>
            <a:prstDash val="solid"/>
            <a:tailEnd type="none"/>
          </a:ln>
        </p:spPr>
      </p:sp>
      <p:sp>
        <p:nvSpPr>
          <p:cNvPr id="20" name="Shape 18"/>
          <p:cNvSpPr/>
          <p:nvPr/>
        </p:nvSpPr>
        <p:spPr>
          <a:xfrm>
            <a:off x="7955280" y="3749040"/>
            <a:ext cx="0" cy="480060"/>
          </a:xfrm>
          <a:prstGeom prst="line">
            <a:avLst/>
          </a:prstGeom>
          <a:noFill/>
          <a:ln w="25400">
            <a:solidFill>
              <a:schemeClr val="accent4"/>
            </a:solidFill>
            <a:prstDash val="solid"/>
            <a:tailEnd type="triangle"/>
          </a:ln>
        </p:spPr>
      </p:sp>
      <p:sp>
        <p:nvSpPr>
          <p:cNvPr id="21" name="Text 19"/>
          <p:cNvSpPr txBox="1"/>
          <p:nvPr/>
        </p:nvSpPr>
        <p:spPr>
          <a:xfrm>
            <a:off x="8641080" y="3488436"/>
            <a:ext cx="1280160" cy="292608"/>
          </a:xfrm>
          <a:prstGeom prst="rect">
            <a:avLst/>
          </a:prstGeom>
          <a:solidFill>
            <a:srgbClr val="FDFDFB"/>
          </a:solid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yes</a:t>
            </a:r>
            <a:endParaRPr lang="en-US" sz="1300" dirty="0"/>
          </a:p>
        </p:txBody>
      </p:sp>
      <p:sp>
        <p:nvSpPr>
          <p:cNvPr id="22" name="Shape 20"/>
          <p:cNvSpPr/>
          <p:nvPr/>
        </p:nvSpPr>
        <p:spPr>
          <a:xfrm>
            <a:off x="10607040" y="3314700"/>
            <a:ext cx="0" cy="891540"/>
          </a:xfrm>
          <a:prstGeom prst="line">
            <a:avLst/>
          </a:prstGeom>
          <a:noFill/>
          <a:ln w="25400">
            <a:solidFill>
              <a:schemeClr val="accent1"/>
            </a:solidFill>
            <a:prstDash val="solid"/>
            <a:tailEnd type="none"/>
          </a:ln>
        </p:spPr>
      </p:sp>
      <p:sp>
        <p:nvSpPr>
          <p:cNvPr id="23" name="Shape 21"/>
          <p:cNvSpPr/>
          <p:nvPr/>
        </p:nvSpPr>
        <p:spPr>
          <a:xfrm>
            <a:off x="9692640" y="4206240"/>
            <a:ext cx="914400" cy="0"/>
          </a:xfrm>
          <a:prstGeom prst="line">
            <a:avLst/>
          </a:prstGeom>
          <a:noFill/>
          <a:ln w="25400">
            <a:solidFill>
              <a:schemeClr val="accent1"/>
            </a:solidFill>
            <a:prstDash val="solid"/>
            <a:tailEnd type="none"/>
          </a:ln>
        </p:spPr>
      </p:sp>
      <p:sp>
        <p:nvSpPr>
          <p:cNvPr id="24" name="Shape 22"/>
          <p:cNvSpPr/>
          <p:nvPr/>
        </p:nvSpPr>
        <p:spPr>
          <a:xfrm>
            <a:off x="9692640" y="4206240"/>
            <a:ext cx="0" cy="274320"/>
          </a:xfrm>
          <a:prstGeom prst="line">
            <a:avLst/>
          </a:prstGeom>
          <a:noFill/>
          <a:ln w="25400">
            <a:solidFill>
              <a:schemeClr val="accent1"/>
            </a:solidFill>
            <a:prstDash val="solid"/>
            <a:tailEnd type="triangle"/>
          </a:ln>
        </p:spPr>
      </p:sp>
      <p:sp>
        <p:nvSpPr>
          <p:cNvPr id="25" name="Shape 23"/>
          <p:cNvSpPr/>
          <p:nvPr/>
        </p:nvSpPr>
        <p:spPr>
          <a:xfrm>
            <a:off x="8778240" y="3520440"/>
            <a:ext cx="0" cy="868680"/>
          </a:xfrm>
          <a:prstGeom prst="line">
            <a:avLst/>
          </a:prstGeom>
          <a:noFill/>
          <a:ln w="25400">
            <a:solidFill>
              <a:schemeClr val="accent4"/>
            </a:solidFill>
            <a:prstDash val="dash"/>
            <a:tailEnd type="none"/>
          </a:ln>
        </p:spPr>
      </p:sp>
      <p:sp>
        <p:nvSpPr>
          <p:cNvPr id="26" name="Shape 24"/>
          <p:cNvSpPr/>
          <p:nvPr/>
        </p:nvSpPr>
        <p:spPr>
          <a:xfrm>
            <a:off x="8778240" y="4389120"/>
            <a:ext cx="365760" cy="0"/>
          </a:xfrm>
          <a:prstGeom prst="line">
            <a:avLst/>
          </a:prstGeom>
          <a:noFill/>
          <a:ln w="25400">
            <a:solidFill>
              <a:schemeClr val="accent4"/>
            </a:solidFill>
            <a:prstDash val="dash"/>
            <a:tailEnd type="none"/>
          </a:ln>
        </p:spPr>
      </p:sp>
      <p:sp>
        <p:nvSpPr>
          <p:cNvPr id="27" name="Shape 25"/>
          <p:cNvSpPr/>
          <p:nvPr/>
        </p:nvSpPr>
        <p:spPr>
          <a:xfrm>
            <a:off x="9144000" y="4389120"/>
            <a:ext cx="0" cy="91440"/>
          </a:xfrm>
          <a:prstGeom prst="line">
            <a:avLst/>
          </a:prstGeom>
          <a:noFill/>
          <a:ln w="25400">
            <a:solidFill>
              <a:schemeClr val="accent4"/>
            </a:solidFill>
            <a:prstDash val="dash"/>
            <a:tailEnd type="triangle"/>
          </a:ln>
        </p:spPr>
      </p:sp>
      <p:sp>
        <p:nvSpPr>
          <p:cNvPr id="28" name="Text 26"/>
          <p:cNvSpPr txBox="1"/>
          <p:nvPr/>
        </p:nvSpPr>
        <p:spPr>
          <a:xfrm>
            <a:off x="8732520" y="3808476"/>
            <a:ext cx="1280160" cy="292608"/>
          </a:xfrm>
          <a:prstGeom prst="rect">
            <a:avLst/>
          </a:prstGeom>
          <a:solidFill>
            <a:srgbClr val="FDFDFB"/>
          </a:solidFill>
          <a:ln/>
        </p:spPr>
        <p:txBody>
          <a:bodyPr wrap="square" lIns="0" tIns="0" rIns="0" bIns="0" rtlCol="0" anchor="ctr"/>
          <a:lstStyle/>
          <a:p>
            <a:pPr algn="ctr" indent="0" marL="0">
              <a:buNone/>
            </a:pPr>
            <a:r>
              <a:rPr lang="en-US" sz="1300" b="1" dirty="0">
                <a:solidFill>
                  <a:schemeClr val="accent4"/>
                </a:solidFill>
                <a:latin typeface="Calibri" pitchFamily="34" charset="0"/>
                <a:ea typeface="Calibri" pitchFamily="34" charset="-122"/>
                <a:cs typeface="Calibri" pitchFamily="34" charset="-120"/>
              </a:rPr>
              <a:t>lookup</a:t>
            </a:r>
            <a:endParaRPr lang="en-US" sz="1300" dirty="0"/>
          </a:p>
        </p:txBody>
      </p:sp>
      <p:sp>
        <p:nvSpPr>
          <p:cNvPr id="29" name="Shape 27"/>
          <p:cNvSpPr/>
          <p:nvPr/>
        </p:nvSpPr>
        <p:spPr>
          <a:xfrm>
            <a:off x="685800" y="1920240"/>
            <a:ext cx="1554480" cy="685800"/>
          </a:xfrm>
          <a:prstGeom prst="roundRect">
            <a:avLst>
              <a:gd name="adj" fmla="val 9333"/>
            </a:avLst>
          </a:prstGeom>
          <a:solidFill>
            <a:schemeClr val="tx2"/>
          </a:solidFill>
          <a:ln/>
        </p:spPr>
      </p:sp>
      <p:sp>
        <p:nvSpPr>
          <p:cNvPr id="30" name="Text 28"/>
          <p:cNvSpPr txBox="1"/>
          <p:nvPr/>
        </p:nvSpPr>
        <p:spPr>
          <a:xfrm>
            <a:off x="758952" y="1920240"/>
            <a:ext cx="1408176" cy="685800"/>
          </a:xfrm>
          <a:prstGeom prst="rect">
            <a:avLst/>
          </a:prstGeom>
          <a:noFill/>
          <a:ln/>
        </p:spPr>
        <p:txBody>
          <a:bodyPr wrap="square" lIns="0" tIns="0" rIns="0" bIns="0" rtlCol="0" anchor="ctr"/>
          <a:lstStyle/>
          <a:p>
            <a:pPr algn="ctr" indent="0" marL="0">
              <a:lnSpc>
                <a:spcPct val="115000"/>
              </a:lnSpc>
              <a:buNone/>
            </a:pPr>
            <a:r>
              <a:rPr lang="en-US" sz="1300" b="1" dirty="0">
                <a:solidFill>
                  <a:srgbClr val="FFFFFF"/>
                </a:solidFill>
                <a:latin typeface="Calibri" pitchFamily="34" charset="0"/>
                <a:ea typeface="Calibri" pitchFamily="34" charset="-122"/>
                <a:cs typeface="Calibri" pitchFamily="34" charset="-120"/>
              </a:rPr>
              <a:t>ServiceNow</a:t>
            </a:r>
            <a:endParaRPr lang="en-US" sz="1300" dirty="0"/>
          </a:p>
          <a:p>
            <a:pPr algn="ctr" indent="0" marL="0">
              <a:lnSpc>
                <a:spcPct val="115000"/>
              </a:lnSpc>
              <a:buNone/>
            </a:pPr>
            <a:r>
              <a:rPr lang="en-US" sz="1300" b="1" dirty="0">
                <a:solidFill>
                  <a:srgbClr val="FFFFFF"/>
                </a:solidFill>
                <a:latin typeface="Calibri" pitchFamily="34" charset="0"/>
                <a:ea typeface="Calibri" pitchFamily="34" charset="-122"/>
                <a:cs typeface="Calibri" pitchFamily="34" charset="-120"/>
              </a:rPr>
              <a:t>Incident Table</a:t>
            </a:r>
            <a:endParaRPr lang="en-US" sz="1300" dirty="0"/>
          </a:p>
        </p:txBody>
      </p:sp>
      <p:sp>
        <p:nvSpPr>
          <p:cNvPr id="31" name="Shape 29"/>
          <p:cNvSpPr/>
          <p:nvPr/>
        </p:nvSpPr>
        <p:spPr>
          <a:xfrm>
            <a:off x="685800" y="3246120"/>
            <a:ext cx="1554480" cy="685800"/>
          </a:xfrm>
          <a:prstGeom prst="roundRect">
            <a:avLst>
              <a:gd name="adj" fmla="val 9333"/>
            </a:avLst>
          </a:prstGeom>
          <a:solidFill>
            <a:srgbClr val="FFFFFF"/>
          </a:solidFill>
          <a:ln w="12700">
            <a:solidFill>
              <a:schemeClr val="accent5"/>
            </a:solidFill>
            <a:prstDash val="solid"/>
          </a:ln>
        </p:spPr>
      </p:sp>
      <p:sp>
        <p:nvSpPr>
          <p:cNvPr id="32" name="Text 30"/>
          <p:cNvSpPr txBox="1"/>
          <p:nvPr/>
        </p:nvSpPr>
        <p:spPr>
          <a:xfrm>
            <a:off x="758952" y="3246120"/>
            <a:ext cx="1408176" cy="685800"/>
          </a:xfrm>
          <a:prstGeom prst="rect">
            <a:avLst/>
          </a:prstGeom>
          <a:noFill/>
          <a:ln/>
        </p:spPr>
        <p:txBody>
          <a:bodyPr wrap="square" lIns="0" tIns="0" rIns="0" bIns="0" rtlCol="0" anchor="ctr"/>
          <a:lstStyle/>
          <a:p>
            <a:pPr algn="ctr" indent="0" marL="0">
              <a:lnSpc>
                <a:spcPct val="115000"/>
              </a:lnSpc>
              <a:buNone/>
            </a:pPr>
            <a:r>
              <a:rPr lang="en-US" sz="1300" b="1" dirty="0">
                <a:solidFill>
                  <a:schemeClr val="tx1"/>
                </a:solidFill>
                <a:latin typeface="Calibri" pitchFamily="34" charset="0"/>
                <a:ea typeface="Calibri" pitchFamily="34" charset="-122"/>
                <a:cs typeface="Calibri" pitchFamily="34" charset="-120"/>
              </a:rPr>
              <a:t>Schedule Trigger</a:t>
            </a:r>
            <a:endParaRPr lang="en-US" sz="1300" dirty="0"/>
          </a:p>
          <a:p>
            <a:pPr algn="ctr" indent="0" marL="0">
              <a:lnSpc>
                <a:spcPct val="115000"/>
              </a:lnSpc>
              <a:buNone/>
            </a:pPr>
            <a:r>
              <a:rPr lang="en-US" sz="1300" b="1" dirty="0">
                <a:solidFill>
                  <a:schemeClr val="tx1"/>
                </a:solidFill>
                <a:latin typeface="Calibri" pitchFamily="34" charset="0"/>
                <a:ea typeface="Calibri" pitchFamily="34" charset="-122"/>
                <a:cs typeface="Calibri" pitchFamily="34" charset="-120"/>
              </a:rPr>
              <a:t>every 5 min</a:t>
            </a:r>
            <a:endParaRPr lang="en-US" sz="1300" dirty="0"/>
          </a:p>
        </p:txBody>
      </p:sp>
      <p:sp>
        <p:nvSpPr>
          <p:cNvPr id="33" name="Shape 31"/>
          <p:cNvSpPr/>
          <p:nvPr/>
        </p:nvSpPr>
        <p:spPr>
          <a:xfrm>
            <a:off x="2514600" y="2537460"/>
            <a:ext cx="1554480" cy="777240"/>
          </a:xfrm>
          <a:prstGeom prst="roundRect">
            <a:avLst>
              <a:gd name="adj" fmla="val 8235"/>
            </a:avLst>
          </a:prstGeom>
          <a:solidFill>
            <a:srgbClr val="FFFFFF"/>
          </a:solidFill>
          <a:ln w="12700">
            <a:solidFill>
              <a:schemeClr val="accent5"/>
            </a:solidFill>
            <a:prstDash val="solid"/>
          </a:ln>
        </p:spPr>
      </p:sp>
      <p:sp>
        <p:nvSpPr>
          <p:cNvPr id="34" name="Text 32"/>
          <p:cNvSpPr txBox="1"/>
          <p:nvPr/>
        </p:nvSpPr>
        <p:spPr>
          <a:xfrm>
            <a:off x="2587752" y="2537460"/>
            <a:ext cx="1408176" cy="777240"/>
          </a:xfrm>
          <a:prstGeom prst="rect">
            <a:avLst/>
          </a:prstGeom>
          <a:noFill/>
          <a:ln/>
        </p:spPr>
        <p:txBody>
          <a:bodyPr wrap="square" lIns="0" tIns="0" rIns="0" bIns="0" rtlCol="0" anchor="ctr"/>
          <a:lstStyle/>
          <a:p>
            <a:pPr algn="ctr" indent="0" marL="0">
              <a:lnSpc>
                <a:spcPct val="115000"/>
              </a:lnSpc>
              <a:buNone/>
            </a:pPr>
            <a:r>
              <a:rPr lang="en-US" sz="1300" b="1" dirty="0">
                <a:solidFill>
                  <a:schemeClr val="tx1"/>
                </a:solidFill>
                <a:latin typeface="Calibri" pitchFamily="34" charset="0"/>
                <a:ea typeface="Calibri" pitchFamily="34" charset="-122"/>
                <a:cs typeface="Calibri" pitchFamily="34" charset="-120"/>
              </a:rPr>
              <a:t>HTTP Request</a:t>
            </a:r>
            <a:endParaRPr lang="en-US" sz="1300" dirty="0"/>
          </a:p>
          <a:p>
            <a:pPr algn="ctr" indent="0" marL="0">
              <a:lnSpc>
                <a:spcPct val="115000"/>
              </a:lnSpc>
              <a:buNone/>
            </a:pPr>
            <a:r>
              <a:rPr lang="en-US" sz="1300" b="1" dirty="0">
                <a:solidFill>
                  <a:schemeClr val="tx1"/>
                </a:solidFill>
                <a:latin typeface="Calibri" pitchFamily="34" charset="0"/>
                <a:ea typeface="Calibri" pitchFamily="34" charset="-122"/>
                <a:cs typeface="Calibri" pitchFamily="34" charset="-120"/>
              </a:rPr>
              <a:t>n8n</a:t>
            </a:r>
            <a:endParaRPr lang="en-US" sz="1300" dirty="0"/>
          </a:p>
        </p:txBody>
      </p:sp>
      <p:sp>
        <p:nvSpPr>
          <p:cNvPr id="35" name="Shape 33"/>
          <p:cNvSpPr/>
          <p:nvPr/>
        </p:nvSpPr>
        <p:spPr>
          <a:xfrm>
            <a:off x="4343400" y="2537460"/>
            <a:ext cx="1554480" cy="777240"/>
          </a:xfrm>
          <a:prstGeom prst="roundRect">
            <a:avLst>
              <a:gd name="adj" fmla="val 8235"/>
            </a:avLst>
          </a:prstGeom>
          <a:solidFill>
            <a:srgbClr val="FFFFFF"/>
          </a:solidFill>
          <a:ln w="12700">
            <a:solidFill>
              <a:schemeClr val="accent5"/>
            </a:solidFill>
            <a:prstDash val="solid"/>
          </a:ln>
        </p:spPr>
      </p:sp>
      <p:sp>
        <p:nvSpPr>
          <p:cNvPr id="36" name="Text 34"/>
          <p:cNvSpPr txBox="1"/>
          <p:nvPr/>
        </p:nvSpPr>
        <p:spPr>
          <a:xfrm>
            <a:off x="4416552" y="2537460"/>
            <a:ext cx="1408176" cy="777240"/>
          </a:xfrm>
          <a:prstGeom prst="rect">
            <a:avLst/>
          </a:prstGeom>
          <a:noFill/>
          <a:ln/>
        </p:spPr>
        <p:txBody>
          <a:bodyPr wrap="square" lIns="0" tIns="0" rIns="0" bIns="0" rtlCol="0" anchor="ctr"/>
          <a:lstStyle/>
          <a:p>
            <a:pPr algn="ctr" indent="0" marL="0">
              <a:lnSpc>
                <a:spcPct val="115000"/>
              </a:lnSpc>
              <a:buNone/>
            </a:pPr>
            <a:r>
              <a:rPr lang="en-US" sz="1300" b="1" dirty="0">
                <a:solidFill>
                  <a:schemeClr val="tx1"/>
                </a:solidFill>
                <a:latin typeface="Calibri" pitchFamily="34" charset="0"/>
                <a:ea typeface="Calibri" pitchFamily="34" charset="-122"/>
                <a:cs typeface="Calibri" pitchFamily="34" charset="-120"/>
              </a:rPr>
              <a:t>Split Out</a:t>
            </a:r>
            <a:endParaRPr lang="en-US" sz="1300" dirty="0"/>
          </a:p>
          <a:p>
            <a:pPr algn="ctr" indent="0" marL="0">
              <a:lnSpc>
                <a:spcPct val="115000"/>
              </a:lnSpc>
              <a:buNone/>
            </a:pPr>
            <a:r>
              <a:rPr lang="en-US" sz="1300" b="1" dirty="0">
                <a:solidFill>
                  <a:schemeClr val="tx1"/>
                </a:solidFill>
                <a:latin typeface="Calibri" pitchFamily="34" charset="0"/>
                <a:ea typeface="Calibri" pitchFamily="34" charset="-122"/>
                <a:cs typeface="Calibri" pitchFamily="34" charset="-120"/>
              </a:rPr>
              <a:t>1 item / incident</a:t>
            </a:r>
            <a:endParaRPr lang="en-US" sz="1300" dirty="0"/>
          </a:p>
        </p:txBody>
      </p:sp>
      <p:sp>
        <p:nvSpPr>
          <p:cNvPr id="37" name="Shape 35"/>
          <p:cNvSpPr/>
          <p:nvPr/>
        </p:nvSpPr>
        <p:spPr>
          <a:xfrm>
            <a:off x="6172200" y="2331720"/>
            <a:ext cx="1554480" cy="1188720"/>
          </a:xfrm>
          <a:prstGeom prst="diamond">
            <a:avLst/>
          </a:prstGeom>
          <a:solidFill>
            <a:schemeClr val="accent1"/>
          </a:solidFill>
          <a:ln/>
        </p:spPr>
      </p:sp>
      <p:sp>
        <p:nvSpPr>
          <p:cNvPr id="38" name="Text 36"/>
          <p:cNvSpPr txBox="1"/>
          <p:nvPr/>
        </p:nvSpPr>
        <p:spPr>
          <a:xfrm>
            <a:off x="6172200" y="2331720"/>
            <a:ext cx="1554480" cy="1188720"/>
          </a:xfrm>
          <a:prstGeom prst="rect">
            <a:avLst/>
          </a:prstGeom>
          <a:noFill/>
          <a:ln/>
        </p:spPr>
        <p:txBody>
          <a:bodyPr wrap="square" lIns="0" tIns="0" rIns="0" bIns="0" rtlCol="0" anchor="ctr"/>
          <a:lstStyle/>
          <a:p>
            <a:pPr algn="ctr" indent="0" marL="0">
              <a:lnSpc>
                <a:spcPct val="110000"/>
              </a:lnSpc>
              <a:buNone/>
            </a:pPr>
            <a:r>
              <a:rPr lang="en-US" sz="1300" b="1" dirty="0">
                <a:solidFill>
                  <a:srgbClr val="FFFFFF"/>
                </a:solidFill>
                <a:latin typeface="Calibri" pitchFamily="34" charset="0"/>
                <a:ea typeface="Calibri" pitchFamily="34" charset="-122"/>
                <a:cs typeface="Calibri" pitchFamily="34" charset="-120"/>
              </a:rPr>
              <a:t>Evaluate</a:t>
            </a:r>
            <a:endParaRPr lang="en-US" sz="1300" dirty="0"/>
          </a:p>
          <a:p>
            <a:pPr algn="ctr" indent="0" marL="0">
              <a:lnSpc>
                <a:spcPct val="110000"/>
              </a:lnSpc>
              <a:buNone/>
            </a:pPr>
            <a:r>
              <a:rPr lang="en-US" sz="1300" b="1" dirty="0">
                <a:solidFill>
                  <a:srgbClr val="FFFFFF"/>
                </a:solidFill>
                <a:latin typeface="Calibri" pitchFamily="34" charset="0"/>
                <a:ea typeface="Calibri" pitchFamily="34" charset="-122"/>
                <a:cs typeface="Calibri" pitchFamily="34" charset="-120"/>
              </a:rPr>
              <a:t>rules</a:t>
            </a:r>
            <a:endParaRPr lang="en-US" sz="1300" dirty="0"/>
          </a:p>
        </p:txBody>
      </p:sp>
      <p:sp>
        <p:nvSpPr>
          <p:cNvPr id="39" name="Shape 37"/>
          <p:cNvSpPr/>
          <p:nvPr/>
        </p:nvSpPr>
        <p:spPr>
          <a:xfrm>
            <a:off x="8001000" y="2331720"/>
            <a:ext cx="1554480" cy="1188720"/>
          </a:xfrm>
          <a:prstGeom prst="diamond">
            <a:avLst/>
          </a:prstGeom>
          <a:solidFill>
            <a:schemeClr val="accent1"/>
          </a:solidFill>
          <a:ln/>
        </p:spPr>
      </p:sp>
      <p:sp>
        <p:nvSpPr>
          <p:cNvPr id="40" name="Text 38"/>
          <p:cNvSpPr txBox="1"/>
          <p:nvPr/>
        </p:nvSpPr>
        <p:spPr>
          <a:xfrm>
            <a:off x="8001000" y="2331720"/>
            <a:ext cx="1554480" cy="1188720"/>
          </a:xfrm>
          <a:prstGeom prst="rect">
            <a:avLst/>
          </a:prstGeom>
          <a:noFill/>
          <a:ln/>
        </p:spPr>
        <p:txBody>
          <a:bodyPr wrap="square" lIns="0" tIns="0" rIns="0" bIns="0" rtlCol="0" anchor="ctr"/>
          <a:lstStyle/>
          <a:p>
            <a:pPr algn="ctr" indent="0" marL="0">
              <a:lnSpc>
                <a:spcPct val="110000"/>
              </a:lnSpc>
              <a:buNone/>
            </a:pPr>
            <a:r>
              <a:rPr lang="en-US" sz="1300" b="1" dirty="0">
                <a:solidFill>
                  <a:srgbClr val="FFFFFF"/>
                </a:solidFill>
                <a:latin typeface="Calibri" pitchFamily="34" charset="0"/>
                <a:ea typeface="Calibri" pitchFamily="34" charset="-122"/>
                <a:cs typeface="Calibri" pitchFamily="34" charset="-120"/>
              </a:rPr>
              <a:t>Already</a:t>
            </a:r>
            <a:endParaRPr lang="en-US" sz="1300" dirty="0"/>
          </a:p>
          <a:p>
            <a:pPr algn="ctr" indent="0" marL="0">
              <a:lnSpc>
                <a:spcPct val="110000"/>
              </a:lnSpc>
              <a:buNone/>
            </a:pPr>
            <a:r>
              <a:rPr lang="en-US" sz="1300" b="1" dirty="0">
                <a:solidFill>
                  <a:srgbClr val="FFFFFF"/>
                </a:solidFill>
                <a:latin typeface="Calibri" pitchFamily="34" charset="0"/>
                <a:ea typeface="Calibri" pitchFamily="34" charset="-122"/>
                <a:cs typeface="Calibri" pitchFamily="34" charset="-120"/>
              </a:rPr>
              <a:t>notified?</a:t>
            </a:r>
            <a:endParaRPr lang="en-US" sz="1300" dirty="0"/>
          </a:p>
        </p:txBody>
      </p:sp>
      <p:sp>
        <p:nvSpPr>
          <p:cNvPr id="41" name="Shape 39"/>
          <p:cNvSpPr/>
          <p:nvPr/>
        </p:nvSpPr>
        <p:spPr>
          <a:xfrm>
            <a:off x="6766560" y="4229100"/>
            <a:ext cx="1463040" cy="685800"/>
          </a:xfrm>
          <a:prstGeom prst="roundRect">
            <a:avLst>
              <a:gd name="adj" fmla="val 9333"/>
            </a:avLst>
          </a:prstGeom>
          <a:solidFill>
            <a:srgbClr val="FFFFFF"/>
          </a:solidFill>
          <a:ln w="12700">
            <a:solidFill>
              <a:schemeClr val="accent5"/>
            </a:solidFill>
            <a:prstDash val="solid"/>
          </a:ln>
        </p:spPr>
      </p:sp>
      <p:sp>
        <p:nvSpPr>
          <p:cNvPr id="42" name="Text 40"/>
          <p:cNvSpPr txBox="1"/>
          <p:nvPr/>
        </p:nvSpPr>
        <p:spPr>
          <a:xfrm>
            <a:off x="6839712" y="4229100"/>
            <a:ext cx="1316736" cy="685800"/>
          </a:xfrm>
          <a:prstGeom prst="rect">
            <a:avLst/>
          </a:prstGeom>
          <a:noFill/>
          <a:ln/>
        </p:spPr>
        <p:txBody>
          <a:bodyPr wrap="square" lIns="0" tIns="0" rIns="0" bIns="0" rtlCol="0" anchor="ctr"/>
          <a:lstStyle/>
          <a:p>
            <a:pPr algn="ctr" indent="0" marL="0">
              <a:lnSpc>
                <a:spcPct val="115000"/>
              </a:lnSpc>
              <a:buNone/>
            </a:pPr>
            <a:r>
              <a:rPr lang="en-US" sz="1300" b="1" dirty="0">
                <a:solidFill>
                  <a:schemeClr val="accent6"/>
                </a:solidFill>
                <a:latin typeface="Calibri" pitchFamily="34" charset="0"/>
                <a:ea typeface="Calibri" pitchFamily="34" charset="-122"/>
                <a:cs typeface="Calibri" pitchFamily="34" charset="-120"/>
              </a:rPr>
              <a:t>Skip</a:t>
            </a:r>
            <a:endParaRPr lang="en-US" sz="1300" dirty="0"/>
          </a:p>
        </p:txBody>
      </p:sp>
      <p:sp>
        <p:nvSpPr>
          <p:cNvPr id="43" name="Shape 41"/>
          <p:cNvSpPr/>
          <p:nvPr/>
        </p:nvSpPr>
        <p:spPr>
          <a:xfrm>
            <a:off x="9829800" y="2537460"/>
            <a:ext cx="1554480" cy="777240"/>
          </a:xfrm>
          <a:prstGeom prst="roundRect">
            <a:avLst>
              <a:gd name="adj" fmla="val 8235"/>
            </a:avLst>
          </a:prstGeom>
          <a:solidFill>
            <a:srgbClr val="FFFFFF"/>
          </a:solidFill>
          <a:ln w="12700">
            <a:solidFill>
              <a:schemeClr val="accent5"/>
            </a:solidFill>
            <a:prstDash val="solid"/>
          </a:ln>
        </p:spPr>
      </p:sp>
      <p:sp>
        <p:nvSpPr>
          <p:cNvPr id="44" name="Text 42"/>
          <p:cNvSpPr txBox="1"/>
          <p:nvPr/>
        </p:nvSpPr>
        <p:spPr>
          <a:xfrm>
            <a:off x="9902952" y="2537460"/>
            <a:ext cx="1408176" cy="777240"/>
          </a:xfrm>
          <a:prstGeom prst="rect">
            <a:avLst/>
          </a:prstGeom>
          <a:noFill/>
          <a:ln/>
        </p:spPr>
        <p:txBody>
          <a:bodyPr wrap="square" lIns="0" tIns="0" rIns="0" bIns="0" rtlCol="0" anchor="ctr"/>
          <a:lstStyle/>
          <a:p>
            <a:pPr algn="ctr" indent="0" marL="0">
              <a:lnSpc>
                <a:spcPct val="115000"/>
              </a:lnSpc>
              <a:buNone/>
            </a:pPr>
            <a:r>
              <a:rPr lang="en-US" sz="1300" b="1" dirty="0">
                <a:solidFill>
                  <a:schemeClr val="tx1"/>
                </a:solidFill>
                <a:latin typeface="Calibri" pitchFamily="34" charset="0"/>
                <a:ea typeface="Calibri" pitchFamily="34" charset="-122"/>
                <a:cs typeface="Calibri" pitchFamily="34" charset="-120"/>
              </a:rPr>
              <a:t>Send Email</a:t>
            </a:r>
            <a:endParaRPr lang="en-US" sz="1300" dirty="0"/>
          </a:p>
          <a:p>
            <a:pPr algn="ctr" indent="0" marL="0">
              <a:lnSpc>
                <a:spcPct val="115000"/>
              </a:lnSpc>
              <a:buNone/>
            </a:pPr>
            <a:r>
              <a:rPr lang="en-US" sz="1300" b="1" dirty="0">
                <a:solidFill>
                  <a:schemeClr val="tx1"/>
                </a:solidFill>
                <a:latin typeface="Calibri" pitchFamily="34" charset="0"/>
                <a:ea typeface="Calibri" pitchFamily="34" charset="-122"/>
                <a:cs typeface="Calibri" pitchFamily="34" charset="-120"/>
              </a:rPr>
              <a:t>Gmail SMTP</a:t>
            </a:r>
            <a:endParaRPr lang="en-US" sz="1300" dirty="0"/>
          </a:p>
        </p:txBody>
      </p:sp>
      <p:sp>
        <p:nvSpPr>
          <p:cNvPr id="45" name="Shape 43"/>
          <p:cNvSpPr/>
          <p:nvPr/>
        </p:nvSpPr>
        <p:spPr>
          <a:xfrm>
            <a:off x="8503920" y="4480560"/>
            <a:ext cx="2377440" cy="914400"/>
          </a:xfrm>
          <a:prstGeom prst="roundRect">
            <a:avLst>
              <a:gd name="adj" fmla="val 7000"/>
            </a:avLst>
          </a:prstGeom>
          <a:solidFill>
            <a:schemeClr val="tx2"/>
          </a:solidFill>
          <a:ln/>
        </p:spPr>
      </p:sp>
      <p:sp>
        <p:nvSpPr>
          <p:cNvPr id="46" name="Text 44"/>
          <p:cNvSpPr txBox="1"/>
          <p:nvPr/>
        </p:nvSpPr>
        <p:spPr>
          <a:xfrm>
            <a:off x="8577072" y="4480560"/>
            <a:ext cx="2231136" cy="914400"/>
          </a:xfrm>
          <a:prstGeom prst="rect">
            <a:avLst/>
          </a:prstGeom>
          <a:noFill/>
          <a:ln/>
        </p:spPr>
        <p:txBody>
          <a:bodyPr wrap="square" lIns="0" tIns="0" rIns="0" bIns="0" rtlCol="0" anchor="ctr"/>
          <a:lstStyle/>
          <a:p>
            <a:pPr algn="ctr" indent="0" marL="0">
              <a:lnSpc>
                <a:spcPct val="115000"/>
              </a:lnSpc>
              <a:buNone/>
            </a:pPr>
            <a:r>
              <a:rPr lang="en-US" sz="1300" b="1" dirty="0">
                <a:solidFill>
                  <a:srgbClr val="FFFFFF"/>
                </a:solidFill>
                <a:latin typeface="Calibri" pitchFamily="34" charset="0"/>
                <a:ea typeface="Calibri" pitchFamily="34" charset="-122"/>
                <a:cs typeface="Calibri" pitchFamily="34" charset="-120"/>
              </a:rPr>
              <a:t>Alert State Store</a:t>
            </a:r>
            <a:endParaRPr lang="en-US" sz="1300" dirty="0"/>
          </a:p>
          <a:p>
            <a:pPr algn="ctr" indent="0" marL="0">
              <a:lnSpc>
                <a:spcPct val="115000"/>
              </a:lnSpc>
              <a:buNone/>
            </a:pPr>
            <a:r>
              <a:rPr lang="en-US" sz="1300" b="1" dirty="0">
                <a:solidFill>
                  <a:srgbClr val="FFFFFF"/>
                </a:solidFill>
                <a:latin typeface="Calibri" pitchFamily="34" charset="0"/>
                <a:ea typeface="Calibri" pitchFamily="34" charset="-122"/>
                <a:cs typeface="Calibri" pitchFamily="34" charset="-120"/>
              </a:rPr>
              <a:t>incident + alert type</a:t>
            </a:r>
            <a:endParaRPr lang="en-US" sz="1300" dirty="0"/>
          </a:p>
        </p:txBody>
      </p:sp>
      <p:sp>
        <p:nvSpPr>
          <p:cNvPr id="47" name="Text 45"/>
          <p:cNvSpPr txBox="1"/>
          <p:nvPr/>
        </p:nvSpPr>
        <p:spPr>
          <a:xfrm>
            <a:off x="548640" y="5989320"/>
            <a:ext cx="11064240" cy="365760"/>
          </a:xfrm>
          <a:prstGeom prst="rect">
            <a:avLst/>
          </a:prstGeom>
          <a:noFill/>
          <a:ln/>
        </p:spPr>
        <p:txBody>
          <a:bodyPr wrap="square" lIns="0" tIns="0" rIns="0" bIns="0" rtlCol="0" anchor="ctr"/>
          <a:lstStyle/>
          <a:p>
            <a:pPr algn="l" indent="0" marL="0">
              <a:buNone/>
            </a:pPr>
            <a:r>
              <a:rPr lang="en-US" sz="1200" i="1" dirty="0">
                <a:solidFill>
                  <a:schemeClr val="accent4"/>
                </a:solidFill>
                <a:latin typeface="Calibri" pitchFamily="34" charset="0"/>
                <a:ea typeface="Calibri" pitchFamily="34" charset="-122"/>
                <a:cs typeface="Calibri" pitchFamily="34" charset="-120"/>
              </a:rPr>
              <a:t>Dashed line: the dedup check's lookup against the Alert State Store before deciding to send.</a:t>
            </a:r>
            <a:endParaRPr lang="en-US" sz="1200" dirty="0"/>
          </a:p>
        </p:txBody>
      </p:sp>
      <p:sp>
        <p:nvSpPr>
          <p:cNvPr id="25" name="Slide Number Placeholder 0"/>
          <p:cNvSpPr>
            <a:spLocks noGrp="1"/>
          </p:cNvSpPr>
          <p:nvPr>
            <p:ph type="sldNum" sz="quarter" idx="4294967295"/>
          </p:nvPr>
        </p:nvSpPr>
        <p:spPr>
          <a:xfrm>
            <a:off x="114300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320040"/>
          </a:xfrm>
          <a:prstGeom prst="rect">
            <a:avLst/>
          </a:prstGeom>
          <a:noFill/>
          <a:ln/>
        </p:spPr>
        <p:txBody>
          <a:bodyPr wrap="square" rtlCol="0"/>
          <a:lstStyle/>
          <a:p>
            <a:pPr algn="l" indent="0" marL="0">
              <a:buNone/>
            </a:pPr>
            <a:r>
              <a:rPr lang="en-US" sz="1300" b="1" spc="200" kern="0" dirty="0">
                <a:solidFill>
                  <a:schemeClr val="accent2"/>
                </a:solidFill>
                <a:latin typeface="Calibri" pitchFamily="34" charset="0"/>
                <a:ea typeface="Calibri" pitchFamily="34" charset="-122"/>
                <a:cs typeface="Calibri" pitchFamily="34" charset="-120"/>
              </a:rPr>
              <a:t>TECH STACK</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rtlCol="0"/>
          <a:lstStyle/>
          <a:p>
            <a:pPr algn="l" indent="0" marL="0">
              <a:buNone/>
            </a:pPr>
            <a:r>
              <a:rPr lang="en-US" sz="3200" b="1" dirty="0">
                <a:solidFill>
                  <a:schemeClr val="tx1"/>
                </a:solidFill>
                <a:latin typeface="Cambria" pitchFamily="34" charset="0"/>
                <a:ea typeface="Cambria" pitchFamily="34" charset="-122"/>
                <a:cs typeface="Cambria" pitchFamily="34" charset="-120"/>
              </a:rPr>
              <a:t>Six pieces, no new infrastructure</a:t>
            </a:r>
            <a:endParaRPr lang="en-US" sz="3200" dirty="0"/>
          </a:p>
        </p:txBody>
      </p:sp>
      <p:sp>
        <p:nvSpPr>
          <p:cNvPr id="4" name="Shape 2"/>
          <p:cNvSpPr/>
          <p:nvPr/>
        </p:nvSpPr>
        <p:spPr>
          <a:xfrm>
            <a:off x="548640" y="1828800"/>
            <a:ext cx="3520440" cy="1417320"/>
          </a:xfrm>
          <a:prstGeom prst="roundRect">
            <a:avLst>
              <a:gd name="adj" fmla="val 5161"/>
            </a:avLst>
          </a:prstGeom>
          <a:solidFill>
            <a:schemeClr val="bg1"/>
          </a:solidFill>
          <a:ln w="12700">
            <a:solidFill>
              <a:schemeClr val="accent5"/>
            </a:solidFill>
            <a:prstDash val="solid"/>
          </a:ln>
          <a:effectLst>
            <a:outerShdw sx="100000" sy="100000" kx="0" ky="0" algn="bl" rotWithShape="0" blurRad="127000" dist="38100" dir="5400000">
              <a:srgbClr val="1A1F2B">
                <a:alpha val="18000"/>
              </a:srgbClr>
            </a:outerShdw>
          </a:effectLst>
        </p:spPr>
      </p:sp>
      <p:sp>
        <p:nvSpPr>
          <p:cNvPr id="5" name="Shape 3"/>
          <p:cNvSpPr/>
          <p:nvPr/>
        </p:nvSpPr>
        <p:spPr>
          <a:xfrm>
            <a:off x="777240" y="2029968"/>
            <a:ext cx="128016" cy="128016"/>
          </a:xfrm>
          <a:prstGeom prst="roundRect">
            <a:avLst>
              <a:gd name="adj" fmla="val 21429"/>
            </a:avLst>
          </a:prstGeom>
          <a:solidFill>
            <a:schemeClr val="tx1"/>
          </a:solidFill>
          <a:ln/>
        </p:spPr>
      </p:sp>
      <p:sp>
        <p:nvSpPr>
          <p:cNvPr id="6" name="Text 4"/>
          <p:cNvSpPr txBox="1"/>
          <p:nvPr/>
        </p:nvSpPr>
        <p:spPr>
          <a:xfrm>
            <a:off x="1051560" y="1938528"/>
            <a:ext cx="2788920" cy="365760"/>
          </a:xfrm>
          <a:prstGeom prst="rect">
            <a:avLst/>
          </a:prstGeom>
          <a:noFill/>
          <a:ln/>
        </p:spPr>
        <p:txBody>
          <a:bodyPr wrap="square" lIns="0" tIns="0" rIns="0" bIns="0" rtlCol="0" anchor="ctr"/>
          <a:lstStyle/>
          <a:p>
            <a:pPr algn="l" indent="0" marL="0">
              <a:buNone/>
            </a:pPr>
            <a:r>
              <a:rPr lang="en-US" sz="1500" b="1" dirty="0">
                <a:solidFill>
                  <a:schemeClr val="tx1"/>
                </a:solidFill>
                <a:latin typeface="Cambria" pitchFamily="34" charset="0"/>
                <a:ea typeface="Cambria" pitchFamily="34" charset="-122"/>
                <a:cs typeface="Cambria" pitchFamily="34" charset="-120"/>
              </a:rPr>
              <a:t>ServiceNow</a:t>
            </a:r>
            <a:endParaRPr lang="en-US" sz="1500" dirty="0"/>
          </a:p>
        </p:txBody>
      </p:sp>
      <p:sp>
        <p:nvSpPr>
          <p:cNvPr id="7" name="Text 5"/>
          <p:cNvSpPr txBox="1"/>
          <p:nvPr/>
        </p:nvSpPr>
        <p:spPr>
          <a:xfrm>
            <a:off x="777240" y="2359152"/>
            <a:ext cx="3063240" cy="822960"/>
          </a:xfrm>
          <a:prstGeom prst="rect">
            <a:avLst/>
          </a:prstGeom>
          <a:noFill/>
          <a:ln/>
        </p:spPr>
        <p:txBody>
          <a:bodyPr wrap="square" lIns="0" tIns="0" rIns="0" bIns="0" rtlCol="0" anchor="ctr"/>
          <a:lstStyle/>
          <a:p>
            <a:pPr algn="l" indent="0" marL="0">
              <a:lnSpc>
                <a:spcPct val="125000"/>
              </a:lnSpc>
              <a:buNone/>
            </a:pPr>
            <a:r>
              <a:rPr lang="en-US" sz="1200" dirty="0">
                <a:solidFill>
                  <a:schemeClr val="accent6"/>
                </a:solidFill>
                <a:latin typeface="Calibri" pitchFamily="34" charset="0"/>
                <a:ea typeface="Calibri" pitchFamily="34" charset="-122"/>
                <a:cs typeface="Calibri" pitchFamily="34" charset="-120"/>
              </a:rPr>
              <a:t>Incident source: Table API, personal developer instance</a:t>
            </a:r>
            <a:endParaRPr lang="en-US" sz="1200" dirty="0"/>
          </a:p>
        </p:txBody>
      </p:sp>
      <p:sp>
        <p:nvSpPr>
          <p:cNvPr id="8" name="Shape 6"/>
          <p:cNvSpPr/>
          <p:nvPr/>
        </p:nvSpPr>
        <p:spPr>
          <a:xfrm>
            <a:off x="4343400" y="1828800"/>
            <a:ext cx="3520440" cy="1417320"/>
          </a:xfrm>
          <a:prstGeom prst="roundRect">
            <a:avLst>
              <a:gd name="adj" fmla="val 5161"/>
            </a:avLst>
          </a:prstGeom>
          <a:solidFill>
            <a:schemeClr val="bg1"/>
          </a:solidFill>
          <a:ln w="12700">
            <a:solidFill>
              <a:schemeClr val="accent5"/>
            </a:solidFill>
            <a:prstDash val="solid"/>
          </a:ln>
          <a:effectLst>
            <a:outerShdw sx="100000" sy="100000" kx="0" ky="0" algn="bl" rotWithShape="0" blurRad="127000" dist="38100" dir="5400000">
              <a:srgbClr val="1A1F2B">
                <a:alpha val="18000"/>
              </a:srgbClr>
            </a:outerShdw>
          </a:effectLst>
        </p:spPr>
      </p:sp>
      <p:sp>
        <p:nvSpPr>
          <p:cNvPr id="9" name="Shape 7"/>
          <p:cNvSpPr/>
          <p:nvPr/>
        </p:nvSpPr>
        <p:spPr>
          <a:xfrm>
            <a:off x="4572000" y="2029968"/>
            <a:ext cx="128016" cy="128016"/>
          </a:xfrm>
          <a:prstGeom prst="roundRect">
            <a:avLst>
              <a:gd name="adj" fmla="val 21429"/>
            </a:avLst>
          </a:prstGeom>
          <a:solidFill>
            <a:schemeClr val="accent2"/>
          </a:solidFill>
          <a:ln/>
        </p:spPr>
      </p:sp>
      <p:sp>
        <p:nvSpPr>
          <p:cNvPr id="10" name="Text 8"/>
          <p:cNvSpPr txBox="1"/>
          <p:nvPr/>
        </p:nvSpPr>
        <p:spPr>
          <a:xfrm>
            <a:off x="4846320" y="1938528"/>
            <a:ext cx="2788920" cy="365760"/>
          </a:xfrm>
          <a:prstGeom prst="rect">
            <a:avLst/>
          </a:prstGeom>
          <a:noFill/>
          <a:ln/>
        </p:spPr>
        <p:txBody>
          <a:bodyPr wrap="square" lIns="0" tIns="0" rIns="0" bIns="0" rtlCol="0" anchor="ctr"/>
          <a:lstStyle/>
          <a:p>
            <a:pPr algn="l" indent="0" marL="0">
              <a:buNone/>
            </a:pPr>
            <a:r>
              <a:rPr lang="en-US" sz="1500" b="1" dirty="0">
                <a:solidFill>
                  <a:schemeClr val="tx1"/>
                </a:solidFill>
                <a:latin typeface="Cambria" pitchFamily="34" charset="0"/>
                <a:ea typeface="Cambria" pitchFamily="34" charset="-122"/>
                <a:cs typeface="Cambria" pitchFamily="34" charset="-120"/>
              </a:rPr>
              <a:t>n8n Community Edition</a:t>
            </a:r>
            <a:endParaRPr lang="en-US" sz="1500" dirty="0"/>
          </a:p>
        </p:txBody>
      </p:sp>
      <p:sp>
        <p:nvSpPr>
          <p:cNvPr id="11" name="Text 9"/>
          <p:cNvSpPr txBox="1"/>
          <p:nvPr/>
        </p:nvSpPr>
        <p:spPr>
          <a:xfrm>
            <a:off x="4572000" y="2359152"/>
            <a:ext cx="3063240" cy="822960"/>
          </a:xfrm>
          <a:prstGeom prst="rect">
            <a:avLst/>
          </a:prstGeom>
          <a:noFill/>
          <a:ln/>
        </p:spPr>
        <p:txBody>
          <a:bodyPr wrap="square" lIns="0" tIns="0" rIns="0" bIns="0" rtlCol="0" anchor="ctr"/>
          <a:lstStyle/>
          <a:p>
            <a:pPr algn="l" indent="0" marL="0">
              <a:lnSpc>
                <a:spcPct val="125000"/>
              </a:lnSpc>
              <a:buNone/>
            </a:pPr>
            <a:r>
              <a:rPr lang="en-US" sz="1200" dirty="0">
                <a:solidFill>
                  <a:schemeClr val="accent6"/>
                </a:solidFill>
                <a:latin typeface="Calibri" pitchFamily="34" charset="0"/>
                <a:ea typeface="Calibri" pitchFamily="34" charset="-122"/>
                <a:cs typeface="Calibri" pitchFamily="34" charset="-120"/>
              </a:rPr>
              <a:t>Self-hosted orchestration: Schedule, HTTP, Code, IF nodes</a:t>
            </a:r>
            <a:endParaRPr lang="en-US" sz="1200" dirty="0"/>
          </a:p>
        </p:txBody>
      </p:sp>
      <p:sp>
        <p:nvSpPr>
          <p:cNvPr id="12" name="Shape 10"/>
          <p:cNvSpPr/>
          <p:nvPr/>
        </p:nvSpPr>
        <p:spPr>
          <a:xfrm>
            <a:off x="8138160" y="1828800"/>
            <a:ext cx="3520440" cy="1417320"/>
          </a:xfrm>
          <a:prstGeom prst="roundRect">
            <a:avLst>
              <a:gd name="adj" fmla="val 5161"/>
            </a:avLst>
          </a:prstGeom>
          <a:solidFill>
            <a:schemeClr val="bg1"/>
          </a:solidFill>
          <a:ln w="12700">
            <a:solidFill>
              <a:schemeClr val="accent5"/>
            </a:solidFill>
            <a:prstDash val="solid"/>
          </a:ln>
          <a:effectLst>
            <a:outerShdw sx="100000" sy="100000" kx="0" ky="0" algn="bl" rotWithShape="0" blurRad="127000" dist="38100" dir="5400000">
              <a:srgbClr val="1A1F2B">
                <a:alpha val="18000"/>
              </a:srgbClr>
            </a:outerShdw>
          </a:effectLst>
        </p:spPr>
      </p:sp>
      <p:sp>
        <p:nvSpPr>
          <p:cNvPr id="13" name="Shape 11"/>
          <p:cNvSpPr/>
          <p:nvPr/>
        </p:nvSpPr>
        <p:spPr>
          <a:xfrm>
            <a:off x="8366760" y="2029968"/>
            <a:ext cx="128016" cy="128016"/>
          </a:xfrm>
          <a:prstGeom prst="roundRect">
            <a:avLst>
              <a:gd name="adj" fmla="val 21429"/>
            </a:avLst>
          </a:prstGeom>
          <a:solidFill>
            <a:schemeClr val="accent2"/>
          </a:solidFill>
          <a:ln/>
        </p:spPr>
      </p:sp>
      <p:sp>
        <p:nvSpPr>
          <p:cNvPr id="14" name="Text 12"/>
          <p:cNvSpPr txBox="1"/>
          <p:nvPr/>
        </p:nvSpPr>
        <p:spPr>
          <a:xfrm>
            <a:off x="8641080" y="1938528"/>
            <a:ext cx="2788920" cy="365760"/>
          </a:xfrm>
          <a:prstGeom prst="rect">
            <a:avLst/>
          </a:prstGeom>
          <a:noFill/>
          <a:ln/>
        </p:spPr>
        <p:txBody>
          <a:bodyPr wrap="square" lIns="0" tIns="0" rIns="0" bIns="0" rtlCol="0" anchor="ctr"/>
          <a:lstStyle/>
          <a:p>
            <a:pPr algn="l" indent="0" marL="0">
              <a:buNone/>
            </a:pPr>
            <a:r>
              <a:rPr lang="en-US" sz="1500" b="1" dirty="0">
                <a:solidFill>
                  <a:schemeClr val="tx1"/>
                </a:solidFill>
                <a:latin typeface="Cambria" pitchFamily="34" charset="0"/>
                <a:ea typeface="Cambria" pitchFamily="34" charset="-122"/>
                <a:cs typeface="Cambria" pitchFamily="34" charset="-120"/>
              </a:rPr>
              <a:t>ServiceNow REST Table API</a:t>
            </a:r>
            <a:endParaRPr lang="en-US" sz="1500" dirty="0"/>
          </a:p>
        </p:txBody>
      </p:sp>
      <p:sp>
        <p:nvSpPr>
          <p:cNvPr id="15" name="Text 13"/>
          <p:cNvSpPr txBox="1"/>
          <p:nvPr/>
        </p:nvSpPr>
        <p:spPr>
          <a:xfrm>
            <a:off x="8366760" y="2359152"/>
            <a:ext cx="3063240" cy="822960"/>
          </a:xfrm>
          <a:prstGeom prst="rect">
            <a:avLst/>
          </a:prstGeom>
          <a:noFill/>
          <a:ln/>
        </p:spPr>
        <p:txBody>
          <a:bodyPr wrap="square" lIns="0" tIns="0" rIns="0" bIns="0" rtlCol="0" anchor="ctr"/>
          <a:lstStyle/>
          <a:p>
            <a:pPr algn="l" indent="0" marL="0">
              <a:lnSpc>
                <a:spcPct val="125000"/>
              </a:lnSpc>
              <a:buNone/>
            </a:pPr>
            <a:r>
              <a:rPr lang="en-US" sz="1200" dirty="0">
                <a:solidFill>
                  <a:schemeClr val="accent6"/>
                </a:solidFill>
                <a:latin typeface="Calibri" pitchFamily="34" charset="0"/>
                <a:ea typeface="Calibri" pitchFamily="34" charset="-122"/>
                <a:cs typeface="Calibri" pitchFamily="34" charset="-120"/>
              </a:rPr>
              <a:t>Authenticated, field-filtered, paginated incident queries</a:t>
            </a:r>
            <a:endParaRPr lang="en-US" sz="1200" dirty="0"/>
          </a:p>
        </p:txBody>
      </p:sp>
      <p:sp>
        <p:nvSpPr>
          <p:cNvPr id="16" name="Shape 14"/>
          <p:cNvSpPr/>
          <p:nvPr/>
        </p:nvSpPr>
        <p:spPr>
          <a:xfrm>
            <a:off x="548640" y="3520440"/>
            <a:ext cx="3520440" cy="1417320"/>
          </a:xfrm>
          <a:prstGeom prst="roundRect">
            <a:avLst>
              <a:gd name="adj" fmla="val 5161"/>
            </a:avLst>
          </a:prstGeom>
          <a:solidFill>
            <a:schemeClr val="bg1"/>
          </a:solidFill>
          <a:ln w="12700">
            <a:solidFill>
              <a:schemeClr val="accent5"/>
            </a:solidFill>
            <a:prstDash val="solid"/>
          </a:ln>
          <a:effectLst>
            <a:outerShdw sx="100000" sy="100000" kx="0" ky="0" algn="bl" rotWithShape="0" blurRad="127000" dist="38100" dir="5400000">
              <a:srgbClr val="1A1F2B">
                <a:alpha val="18000"/>
              </a:srgbClr>
            </a:outerShdw>
          </a:effectLst>
        </p:spPr>
      </p:sp>
      <p:sp>
        <p:nvSpPr>
          <p:cNvPr id="17" name="Shape 15"/>
          <p:cNvSpPr/>
          <p:nvPr/>
        </p:nvSpPr>
        <p:spPr>
          <a:xfrm>
            <a:off x="777240" y="3721608"/>
            <a:ext cx="128016" cy="128016"/>
          </a:xfrm>
          <a:prstGeom prst="roundRect">
            <a:avLst>
              <a:gd name="adj" fmla="val 21429"/>
            </a:avLst>
          </a:prstGeom>
          <a:solidFill>
            <a:schemeClr val="accent1"/>
          </a:solidFill>
          <a:ln/>
        </p:spPr>
      </p:sp>
      <p:sp>
        <p:nvSpPr>
          <p:cNvPr id="18" name="Text 16"/>
          <p:cNvSpPr txBox="1"/>
          <p:nvPr/>
        </p:nvSpPr>
        <p:spPr>
          <a:xfrm>
            <a:off x="1051560" y="3630168"/>
            <a:ext cx="2788920" cy="365760"/>
          </a:xfrm>
          <a:prstGeom prst="rect">
            <a:avLst/>
          </a:prstGeom>
          <a:noFill/>
          <a:ln/>
        </p:spPr>
        <p:txBody>
          <a:bodyPr wrap="square" lIns="0" tIns="0" rIns="0" bIns="0" rtlCol="0" anchor="ctr"/>
          <a:lstStyle/>
          <a:p>
            <a:pPr algn="l" indent="0" marL="0">
              <a:buNone/>
            </a:pPr>
            <a:r>
              <a:rPr lang="en-US" sz="1500" b="1" dirty="0">
                <a:solidFill>
                  <a:schemeClr val="tx1"/>
                </a:solidFill>
                <a:latin typeface="Cambria" pitchFamily="34" charset="0"/>
                <a:ea typeface="Cambria" pitchFamily="34" charset="-122"/>
                <a:cs typeface="Cambria" pitchFamily="34" charset="-120"/>
              </a:rPr>
              <a:t>Gmail SMTP</a:t>
            </a:r>
            <a:endParaRPr lang="en-US" sz="1500" dirty="0"/>
          </a:p>
        </p:txBody>
      </p:sp>
      <p:sp>
        <p:nvSpPr>
          <p:cNvPr id="19" name="Text 17"/>
          <p:cNvSpPr txBox="1"/>
          <p:nvPr/>
        </p:nvSpPr>
        <p:spPr>
          <a:xfrm>
            <a:off x="777240" y="4050792"/>
            <a:ext cx="3063240" cy="822960"/>
          </a:xfrm>
          <a:prstGeom prst="rect">
            <a:avLst/>
          </a:prstGeom>
          <a:noFill/>
          <a:ln/>
        </p:spPr>
        <p:txBody>
          <a:bodyPr wrap="square" lIns="0" tIns="0" rIns="0" bIns="0" rtlCol="0" anchor="ctr"/>
          <a:lstStyle/>
          <a:p>
            <a:pPr algn="l" indent="0" marL="0">
              <a:lnSpc>
                <a:spcPct val="125000"/>
              </a:lnSpc>
              <a:buNone/>
            </a:pPr>
            <a:r>
              <a:rPr lang="en-US" sz="1200" dirty="0">
                <a:solidFill>
                  <a:schemeClr val="accent6"/>
                </a:solidFill>
                <a:latin typeface="Calibri" pitchFamily="34" charset="0"/>
                <a:ea typeface="Calibri" pitchFamily="34" charset="-122"/>
                <a:cs typeface="Calibri" pitchFamily="34" charset="-120"/>
              </a:rPr>
              <a:t>smtp.gmail.com + app password, Google Workspace account</a:t>
            </a:r>
            <a:endParaRPr lang="en-US" sz="1200" dirty="0"/>
          </a:p>
        </p:txBody>
      </p:sp>
      <p:sp>
        <p:nvSpPr>
          <p:cNvPr id="20" name="Shape 18"/>
          <p:cNvSpPr/>
          <p:nvPr/>
        </p:nvSpPr>
        <p:spPr>
          <a:xfrm>
            <a:off x="4343400" y="3520440"/>
            <a:ext cx="3520440" cy="1417320"/>
          </a:xfrm>
          <a:prstGeom prst="roundRect">
            <a:avLst>
              <a:gd name="adj" fmla="val 5161"/>
            </a:avLst>
          </a:prstGeom>
          <a:solidFill>
            <a:schemeClr val="bg1"/>
          </a:solidFill>
          <a:ln w="12700">
            <a:solidFill>
              <a:schemeClr val="accent5"/>
            </a:solidFill>
            <a:prstDash val="solid"/>
          </a:ln>
          <a:effectLst>
            <a:outerShdw sx="100000" sy="100000" kx="0" ky="0" algn="bl" rotWithShape="0" blurRad="127000" dist="38100" dir="5400000">
              <a:srgbClr val="1A1F2B">
                <a:alpha val="18000"/>
              </a:srgbClr>
            </a:outerShdw>
          </a:effectLst>
        </p:spPr>
      </p:sp>
      <p:sp>
        <p:nvSpPr>
          <p:cNvPr id="21" name="Shape 19"/>
          <p:cNvSpPr/>
          <p:nvPr/>
        </p:nvSpPr>
        <p:spPr>
          <a:xfrm>
            <a:off x="4572000" y="3721608"/>
            <a:ext cx="128016" cy="128016"/>
          </a:xfrm>
          <a:prstGeom prst="roundRect">
            <a:avLst>
              <a:gd name="adj" fmla="val 21429"/>
            </a:avLst>
          </a:prstGeom>
          <a:solidFill>
            <a:schemeClr val="accent1"/>
          </a:solidFill>
          <a:ln/>
        </p:spPr>
      </p:sp>
      <p:sp>
        <p:nvSpPr>
          <p:cNvPr id="22" name="Text 20"/>
          <p:cNvSpPr txBox="1"/>
          <p:nvPr/>
        </p:nvSpPr>
        <p:spPr>
          <a:xfrm>
            <a:off x="4846320" y="3630168"/>
            <a:ext cx="2788920" cy="365760"/>
          </a:xfrm>
          <a:prstGeom prst="rect">
            <a:avLst/>
          </a:prstGeom>
          <a:noFill/>
          <a:ln/>
        </p:spPr>
        <p:txBody>
          <a:bodyPr wrap="square" lIns="0" tIns="0" rIns="0" bIns="0" rtlCol="0" anchor="ctr"/>
          <a:lstStyle/>
          <a:p>
            <a:pPr algn="l" indent="0" marL="0">
              <a:buNone/>
            </a:pPr>
            <a:r>
              <a:rPr lang="en-US" sz="1500" b="1" dirty="0">
                <a:solidFill>
                  <a:schemeClr val="tx1"/>
                </a:solidFill>
                <a:latin typeface="Cambria" pitchFamily="34" charset="0"/>
                <a:ea typeface="Cambria" pitchFamily="34" charset="-122"/>
                <a:cs typeface="Cambria" pitchFamily="34" charset="-120"/>
              </a:rPr>
              <a:t>n8n workflow static data</a:t>
            </a:r>
            <a:endParaRPr lang="en-US" sz="1500" dirty="0"/>
          </a:p>
        </p:txBody>
      </p:sp>
      <p:sp>
        <p:nvSpPr>
          <p:cNvPr id="23" name="Text 21"/>
          <p:cNvSpPr txBox="1"/>
          <p:nvPr/>
        </p:nvSpPr>
        <p:spPr>
          <a:xfrm>
            <a:off x="4572000" y="4050792"/>
            <a:ext cx="3063240" cy="822960"/>
          </a:xfrm>
          <a:prstGeom prst="rect">
            <a:avLst/>
          </a:prstGeom>
          <a:noFill/>
          <a:ln/>
        </p:spPr>
        <p:txBody>
          <a:bodyPr wrap="square" lIns="0" tIns="0" rIns="0" bIns="0" rtlCol="0" anchor="ctr"/>
          <a:lstStyle/>
          <a:p>
            <a:pPr algn="l" indent="0" marL="0">
              <a:lnSpc>
                <a:spcPct val="125000"/>
              </a:lnSpc>
              <a:buNone/>
            </a:pPr>
            <a:r>
              <a:rPr lang="en-US" sz="1200" dirty="0">
                <a:solidFill>
                  <a:schemeClr val="accent6"/>
                </a:solidFill>
                <a:latin typeface="Calibri" pitchFamily="34" charset="0"/>
                <a:ea typeface="Calibri" pitchFamily="34" charset="-122"/>
                <a:cs typeface="Calibri" pitchFamily="34" charset="-120"/>
              </a:rPr>
              <a:t>Persistent dedup store, survives restarts on active workflows</a:t>
            </a:r>
            <a:endParaRPr lang="en-US" sz="1200" dirty="0"/>
          </a:p>
        </p:txBody>
      </p:sp>
      <p:sp>
        <p:nvSpPr>
          <p:cNvPr id="24" name="Shape 22"/>
          <p:cNvSpPr/>
          <p:nvPr/>
        </p:nvSpPr>
        <p:spPr>
          <a:xfrm>
            <a:off x="8138160" y="3520440"/>
            <a:ext cx="3520440" cy="1417320"/>
          </a:xfrm>
          <a:prstGeom prst="roundRect">
            <a:avLst>
              <a:gd name="adj" fmla="val 5161"/>
            </a:avLst>
          </a:prstGeom>
          <a:solidFill>
            <a:schemeClr val="bg1"/>
          </a:solidFill>
          <a:ln w="12700">
            <a:solidFill>
              <a:schemeClr val="accent5"/>
            </a:solidFill>
            <a:prstDash val="solid"/>
          </a:ln>
          <a:effectLst>
            <a:outerShdw sx="100000" sy="100000" kx="0" ky="0" algn="bl" rotWithShape="0" blurRad="127000" dist="38100" dir="5400000">
              <a:srgbClr val="1A1F2B">
                <a:alpha val="18000"/>
              </a:srgbClr>
            </a:outerShdw>
          </a:effectLst>
        </p:spPr>
      </p:sp>
      <p:sp>
        <p:nvSpPr>
          <p:cNvPr id="25" name="Shape 23"/>
          <p:cNvSpPr/>
          <p:nvPr/>
        </p:nvSpPr>
        <p:spPr>
          <a:xfrm>
            <a:off x="8366760" y="3721608"/>
            <a:ext cx="128016" cy="128016"/>
          </a:xfrm>
          <a:prstGeom prst="roundRect">
            <a:avLst>
              <a:gd name="adj" fmla="val 21429"/>
            </a:avLst>
          </a:prstGeom>
          <a:solidFill>
            <a:schemeClr val="accent3"/>
          </a:solidFill>
          <a:ln/>
        </p:spPr>
      </p:sp>
      <p:sp>
        <p:nvSpPr>
          <p:cNvPr id="26" name="Text 24"/>
          <p:cNvSpPr txBox="1"/>
          <p:nvPr/>
        </p:nvSpPr>
        <p:spPr>
          <a:xfrm>
            <a:off x="8641080" y="3630168"/>
            <a:ext cx="2788920" cy="365760"/>
          </a:xfrm>
          <a:prstGeom prst="rect">
            <a:avLst/>
          </a:prstGeom>
          <a:noFill/>
          <a:ln/>
        </p:spPr>
        <p:txBody>
          <a:bodyPr wrap="square" lIns="0" tIns="0" rIns="0" bIns="0" rtlCol="0" anchor="ctr"/>
          <a:lstStyle/>
          <a:p>
            <a:pPr algn="l" indent="0" marL="0">
              <a:buNone/>
            </a:pPr>
            <a:r>
              <a:rPr lang="en-US" sz="1500" b="1" dirty="0">
                <a:solidFill>
                  <a:schemeClr val="tx1"/>
                </a:solidFill>
                <a:latin typeface="Cambria" pitchFamily="34" charset="0"/>
                <a:ea typeface="Cambria" pitchFamily="34" charset="-122"/>
                <a:cs typeface="Cambria" pitchFamily="34" charset="-120"/>
              </a:rPr>
              <a:t>n8n execution history</a:t>
            </a:r>
            <a:endParaRPr lang="en-US" sz="1500" dirty="0"/>
          </a:p>
        </p:txBody>
      </p:sp>
      <p:sp>
        <p:nvSpPr>
          <p:cNvPr id="27" name="Text 25"/>
          <p:cNvSpPr txBox="1"/>
          <p:nvPr/>
        </p:nvSpPr>
        <p:spPr>
          <a:xfrm>
            <a:off x="8366760" y="4050792"/>
            <a:ext cx="3063240" cy="822960"/>
          </a:xfrm>
          <a:prstGeom prst="rect">
            <a:avLst/>
          </a:prstGeom>
          <a:noFill/>
          <a:ln/>
        </p:spPr>
        <p:txBody>
          <a:bodyPr wrap="square" lIns="0" tIns="0" rIns="0" bIns="0" rtlCol="0" anchor="ctr"/>
          <a:lstStyle/>
          <a:p>
            <a:pPr algn="l" indent="0" marL="0">
              <a:lnSpc>
                <a:spcPct val="125000"/>
              </a:lnSpc>
              <a:buNone/>
            </a:pPr>
            <a:r>
              <a:rPr lang="en-US" sz="1200" dirty="0">
                <a:solidFill>
                  <a:schemeClr val="accent6"/>
                </a:solidFill>
                <a:latin typeface="Calibri" pitchFamily="34" charset="0"/>
                <a:ea typeface="Calibri" pitchFamily="34" charset="-122"/>
                <a:cs typeface="Calibri" pitchFamily="34" charset="-120"/>
              </a:rPr>
              <a:t>Logging, retries, error visibility; error workflow pages the admin</a:t>
            </a:r>
            <a:endParaRPr lang="en-US" sz="1200" dirty="0"/>
          </a:p>
        </p:txBody>
      </p:sp>
      <p:sp>
        <p:nvSpPr>
          <p:cNvPr id="28" name="Text 26"/>
          <p:cNvSpPr txBox="1"/>
          <p:nvPr/>
        </p:nvSpPr>
        <p:spPr>
          <a:xfrm>
            <a:off x="548640" y="5989320"/>
            <a:ext cx="11064240" cy="457200"/>
          </a:xfrm>
          <a:prstGeom prst="rect">
            <a:avLst/>
          </a:prstGeom>
          <a:noFill/>
          <a:ln/>
        </p:spPr>
        <p:txBody>
          <a:bodyPr wrap="square" lIns="0" tIns="0" rIns="0" bIns="0" rtlCol="0" anchor="ctr"/>
          <a:lstStyle/>
          <a:p>
            <a:pPr algn="l" indent="0" marL="0">
              <a:lnSpc>
                <a:spcPct val="120000"/>
              </a:lnSpc>
              <a:buNone/>
            </a:pPr>
            <a:r>
              <a:rPr lang="en-US" sz="1150" i="1" dirty="0">
                <a:solidFill>
                  <a:schemeClr val="accent4"/>
                </a:solidFill>
                <a:latin typeface="Calibri" pitchFamily="34" charset="0"/>
                <a:ea typeface="Calibri" pitchFamily="34" charset="-122"/>
                <a:cs typeface="Calibri" pitchFamily="34" charset="-120"/>
              </a:rPr>
              <a:t>Why Gmail, not Teams: Teams alerts need a Microsoft Entra client ID and secret, unavailable on personal or student accounts.</a:t>
            </a:r>
            <a:endParaRPr lang="en-US" sz="1150" dirty="0"/>
          </a:p>
        </p:txBody>
      </p:sp>
      <p:sp>
        <p:nvSpPr>
          <p:cNvPr id="25" name="Slide Number Placeholder 0"/>
          <p:cNvSpPr>
            <a:spLocks noGrp="1"/>
          </p:cNvSpPr>
          <p:nvPr>
            <p:ph type="sldNum" sz="quarter" idx="4294967295"/>
          </p:nvPr>
        </p:nvSpPr>
        <p:spPr>
          <a:xfrm>
            <a:off x="114300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320040"/>
          </a:xfrm>
          <a:prstGeom prst="rect">
            <a:avLst/>
          </a:prstGeom>
          <a:noFill/>
          <a:ln/>
        </p:spPr>
        <p:txBody>
          <a:bodyPr wrap="square" rtlCol="0"/>
          <a:lstStyle/>
          <a:p>
            <a:pPr algn="l" indent="0" marL="0">
              <a:buNone/>
            </a:pPr>
            <a:r>
              <a:rPr lang="en-US" sz="1300" b="1" spc="200" kern="0" dirty="0">
                <a:solidFill>
                  <a:schemeClr val="accent2"/>
                </a:solidFill>
                <a:latin typeface="Calibri" pitchFamily="34" charset="0"/>
                <a:ea typeface="Calibri" pitchFamily="34" charset="-122"/>
                <a:cs typeface="Calibri" pitchFamily="34" charset="-120"/>
              </a:rPr>
              <a:t>ALERT RULES</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rtlCol="0"/>
          <a:lstStyle/>
          <a:p>
            <a:pPr algn="l" indent="0" marL="0">
              <a:buNone/>
            </a:pPr>
            <a:r>
              <a:rPr lang="en-US" sz="3200" b="1" dirty="0">
                <a:solidFill>
                  <a:schemeClr val="tx1"/>
                </a:solidFill>
                <a:latin typeface="Cambria" pitchFamily="34" charset="0"/>
                <a:ea typeface="Cambria" pitchFamily="34" charset="-122"/>
                <a:cs typeface="Cambria" pitchFamily="34" charset="-120"/>
              </a:rPr>
              <a:t>Three rules decide who gets emailed, and when</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1920240"/>
        </p:xfrm>
        <a:graphic>
          <a:graphicData uri="http://schemas.openxmlformats.org/drawingml/2006/table">
            <a:tbl>
              <a:tblPr/>
              <a:tblGrid>
                <a:gridCol w="2103120"/>
                <a:gridCol w="3291840"/>
                <a:gridCol w="2834640"/>
                <a:gridCol w="2834640"/>
              </a:tblGrid>
              <a:tr h="47548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Condition</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First alert</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Reminder interval</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tx1"/>
                    </a:solidFill>
                  </a:tcPr>
                </a:tc>
              </a:tr>
              <a:tr h="475488">
                <a:tc>
                  <a:txBody>
                    <a:bodyPr/>
                    <a:lstStyle/>
                    <a:p>
                      <a:pPr indent="0" marL="0">
                        <a:buNone/>
                      </a:pPr>
                      <a:r>
                        <a:rPr lang="en-US" sz="1350" b="1" dirty="0">
                          <a:solidFill>
                            <a:schemeClr val="tx1"/>
                          </a:solidFill>
                          <a:latin typeface="Calibri" pitchFamily="34" charset="0"/>
                          <a:ea typeface="Calibri" pitchFamily="34" charset="-122"/>
                          <a:cs typeface="Calibri" pitchFamily="34" charset="-120"/>
                        </a:rPr>
                        <a:t>Critical</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Priority 1 - Critical</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Immediate, on detection</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Every 10 minutes while unresolved</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r>
              <a:tr h="475488">
                <a:tc>
                  <a:txBody>
                    <a:bodyPr/>
                    <a:lstStyle/>
                    <a:p>
                      <a:pPr indent="0" marL="0">
                        <a:buNone/>
                      </a:pPr>
                      <a:r>
                        <a:rPr lang="en-US" sz="1350" b="1" dirty="0">
                          <a:solidFill>
                            <a:schemeClr val="tx1"/>
                          </a:solidFill>
                          <a:latin typeface="Calibri" pitchFamily="34" charset="0"/>
                          <a:ea typeface="Calibri" pitchFamily="34" charset="-122"/>
                          <a:cs typeface="Calibri" pitchFamily="34" charset="-120"/>
                        </a:rPr>
                        <a:t>High-priority</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Priority 2 - High</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Immediate, on detection</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Every 10 minutes while unresolved</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r>
              <a:tr h="475488">
                <a:tc>
                  <a:txBody>
                    <a:bodyPr/>
                    <a:lstStyle/>
                    <a:p>
                      <a:pPr indent="0" marL="0">
                        <a:buNone/>
                      </a:pPr>
                      <a:r>
                        <a:rPr lang="en-US" sz="1350" b="1" dirty="0">
                          <a:solidFill>
                            <a:schemeClr val="tx1"/>
                          </a:solidFill>
                          <a:latin typeface="Calibri" pitchFamily="34" charset="0"/>
                          <a:ea typeface="Calibri" pitchFamily="34" charset="-122"/>
                          <a:cs typeface="Calibri" pitchFamily="34" charset="-120"/>
                        </a:rPr>
                        <a:t>Stale</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Unresolved, no update in 24h</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On first detection as stale</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Every 24 hours</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r>
            </a:tbl>
          </a:graphicData>
        </a:graphic>
      </p:graphicFrame>
      <p:sp>
        <p:nvSpPr>
          <p:cNvPr id="5" name="Shape 2"/>
          <p:cNvSpPr/>
          <p:nvPr/>
        </p:nvSpPr>
        <p:spPr>
          <a:xfrm>
            <a:off x="548640" y="4160520"/>
            <a:ext cx="11064240" cy="1371600"/>
          </a:xfrm>
          <a:prstGeom prst="roundRect">
            <a:avLst>
              <a:gd name="adj" fmla="val 5333"/>
            </a:avLst>
          </a:prstGeom>
          <a:solidFill>
            <a:schemeClr val="tx2"/>
          </a:solidFill>
          <a:ln/>
          <a:effectLst>
            <a:outerShdw sx="100000" sy="100000" kx="0" ky="0" algn="bl" rotWithShape="0" blurRad="127000" dist="38100" dir="5400000">
              <a:srgbClr val="1A1F2B">
                <a:alpha val="18000"/>
              </a:srgbClr>
            </a:outerShdw>
          </a:effectLst>
        </p:spPr>
      </p:sp>
      <p:sp>
        <p:nvSpPr>
          <p:cNvPr id="6" name="Text 3"/>
          <p:cNvSpPr txBox="1"/>
          <p:nvPr/>
        </p:nvSpPr>
        <p:spPr>
          <a:xfrm>
            <a:off x="868680" y="4370832"/>
            <a:ext cx="2011680" cy="365760"/>
          </a:xfrm>
          <a:prstGeom prst="rect">
            <a:avLst/>
          </a:prstGeom>
          <a:noFill/>
          <a:ln/>
        </p:spPr>
        <p:txBody>
          <a:bodyPr wrap="square" lIns="0" tIns="0" rIns="0" bIns="0" rtlCol="0" anchor="ctr"/>
          <a:lstStyle/>
          <a:p>
            <a:pPr algn="l" indent="0" marL="0">
              <a:buNone/>
            </a:pPr>
            <a:r>
              <a:rPr lang="en-US" sz="1300" b="1" dirty="0">
                <a:solidFill>
                  <a:schemeClr val="accent1"/>
                </a:solidFill>
                <a:latin typeface="Calibri" pitchFamily="34" charset="0"/>
                <a:ea typeface="Calibri" pitchFamily="34" charset="-122"/>
                <a:cs typeface="Calibri" pitchFamily="34" charset="-120"/>
              </a:rPr>
              <a:t>Dedup key</a:t>
            </a:r>
            <a:endParaRPr lang="en-US" sz="1300" dirty="0"/>
          </a:p>
        </p:txBody>
      </p:sp>
      <p:sp>
        <p:nvSpPr>
          <p:cNvPr id="7" name="Text 4"/>
          <p:cNvSpPr txBox="1"/>
          <p:nvPr/>
        </p:nvSpPr>
        <p:spPr>
          <a:xfrm>
            <a:off x="868680" y="4754880"/>
            <a:ext cx="10424160" cy="411480"/>
          </a:xfrm>
          <a:prstGeom prst="rect">
            <a:avLst/>
          </a:prstGeom>
          <a:noFill/>
          <a:ln/>
        </p:spPr>
        <p:txBody>
          <a:bodyPr wrap="square" lIns="0" tIns="0" rIns="0" bIns="0" rtlCol="0" anchor="ctr"/>
          <a:lstStyle/>
          <a:p>
            <a:pPr algn="l" indent="0" marL="0">
              <a:buNone/>
            </a:pPr>
            <a:r>
              <a:rPr lang="en-US" sz="1600" dirty="0">
                <a:solidFill>
                  <a:srgbClr val="FFFFFF"/>
                </a:solidFill>
                <a:latin typeface="Calibri" pitchFamily="34" charset="0"/>
                <a:ea typeface="Calibri" pitchFamily="34" charset="-122"/>
                <a:cs typeface="Calibri" pitchFamily="34" charset="-120"/>
              </a:rPr>
              <a:t>incident number</a:t>
            </a:r>
            <a:pPr algn="l" indent="0" marL="0">
              <a:buNone/>
            </a:pPr>
            <a:r>
              <a:rPr lang="en-US" sz="1600" dirty="0">
                <a:solidFill>
                  <a:srgbClr val="AEB8C9"/>
                </a:solidFill>
                <a:latin typeface="Calibri" pitchFamily="34" charset="0"/>
                <a:ea typeface="Calibri" pitchFamily="34" charset="-122"/>
                <a:cs typeface="Calibri" pitchFamily="34" charset="-120"/>
              </a:rPr>
              <a:t> + </a:t>
            </a:r>
            <a:pPr algn="l" indent="0" marL="0">
              <a:buNone/>
            </a:pPr>
            <a:r>
              <a:rPr lang="en-US" sz="1600" dirty="0">
                <a:solidFill>
                  <a:srgbClr val="FFFFFF"/>
                </a:solidFill>
                <a:latin typeface="Calibri" pitchFamily="34" charset="0"/>
                <a:ea typeface="Calibri" pitchFamily="34" charset="-122"/>
                <a:cs typeface="Calibri" pitchFamily="34" charset="-120"/>
              </a:rPr>
              <a:t>alert type</a:t>
            </a:r>
            <a:pPr algn="l" indent="0" marL="0">
              <a:buNone/>
            </a:pPr>
            <a:r>
              <a:rPr lang="en-US" sz="1600" dirty="0">
                <a:solidFill>
                  <a:srgbClr val="AEB8C9"/>
                </a:solidFill>
                <a:latin typeface="Calibri" pitchFamily="34" charset="0"/>
                <a:ea typeface="Calibri" pitchFamily="34" charset="-122"/>
                <a:cs typeface="Calibri" pitchFamily="34" charset="-120"/>
              </a:rPr>
              <a:t>   e.g.   </a:t>
            </a:r>
            <a:pPr algn="l" indent="0" marL="0">
              <a:buNone/>
            </a:pPr>
            <a:r>
              <a:rPr lang="en-US" sz="1600" dirty="0">
                <a:solidFill>
                  <a:schemeClr val="accent1"/>
                </a:solidFill>
                <a:latin typeface="Courier New" pitchFamily="34" charset="0"/>
                <a:ea typeface="Courier New" pitchFamily="34" charset="-122"/>
                <a:cs typeface="Courier New" pitchFamily="34" charset="-120"/>
              </a:rPr>
              <a:t>INC0010042:critical</a:t>
            </a:r>
            <a:endParaRPr lang="en-US" sz="1600" dirty="0"/>
          </a:p>
        </p:txBody>
      </p:sp>
      <p:sp>
        <p:nvSpPr>
          <p:cNvPr id="8" name="Text 5"/>
          <p:cNvSpPr txBox="1"/>
          <p:nvPr/>
        </p:nvSpPr>
        <p:spPr>
          <a:xfrm>
            <a:off x="868680" y="5166360"/>
            <a:ext cx="10424160" cy="320040"/>
          </a:xfrm>
          <a:prstGeom prst="rect">
            <a:avLst/>
          </a:prstGeom>
          <a:noFill/>
          <a:ln/>
        </p:spPr>
        <p:txBody>
          <a:bodyPr wrap="square" lIns="0" tIns="0" rIns="0" bIns="0" rtlCol="0" anchor="ctr"/>
          <a:lstStyle/>
          <a:p>
            <a:pPr algn="l" indent="0" marL="0">
              <a:buNone/>
            </a:pPr>
            <a:r>
              <a:rPr lang="en-US" sz="1150" i="1" dirty="0">
                <a:solidFill>
                  <a:srgbClr val="AEB8C9"/>
                </a:solidFill>
                <a:latin typeface="Calibri" pitchFamily="34" charset="0"/>
                <a:ea typeface="Calibri" pitchFamily="34" charset="-122"/>
                <a:cs typeface="Calibri" pitchFamily="34" charset="-120"/>
              </a:rPr>
              <a:t>A resolved/closed incident (states 6/7/8) is excluded, so reminders stop as soon as it's closed, and start fresh if it's reopened.</a:t>
            </a:r>
            <a:endParaRPr lang="en-US" sz="1150" dirty="0"/>
          </a:p>
        </p:txBody>
      </p:sp>
      <p:sp>
        <p:nvSpPr>
          <p:cNvPr id="25" name="Slide Number Placeholder 0"/>
          <p:cNvSpPr>
            <a:spLocks noGrp="1"/>
          </p:cNvSpPr>
          <p:nvPr>
            <p:ph type="sldNum" sz="quarter" idx="4294967295"/>
          </p:nvPr>
        </p:nvSpPr>
        <p:spPr>
          <a:xfrm>
            <a:off x="114300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320040"/>
          </a:xfrm>
          <a:prstGeom prst="rect">
            <a:avLst/>
          </a:prstGeom>
          <a:noFill/>
          <a:ln/>
        </p:spPr>
        <p:txBody>
          <a:bodyPr wrap="square" rtlCol="0"/>
          <a:lstStyle/>
          <a:p>
            <a:pPr algn="l" indent="0" marL="0">
              <a:buNone/>
            </a:pPr>
            <a:r>
              <a:rPr lang="en-US" sz="1300" b="1" spc="200" kern="0" dirty="0">
                <a:solidFill>
                  <a:schemeClr val="accent2"/>
                </a:solidFill>
                <a:latin typeface="Calibri" pitchFamily="34" charset="0"/>
                <a:ea typeface="Calibri" pitchFamily="34" charset="-122"/>
                <a:cs typeface="Calibri" pitchFamily="34" charset="-120"/>
              </a:rPr>
              <a:t>N8N WORKFLOW</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rtlCol="0"/>
          <a:lstStyle/>
          <a:p>
            <a:pPr algn="l" indent="0" marL="0">
              <a:buNone/>
            </a:pPr>
            <a:r>
              <a:rPr lang="en-US" sz="3200" b="1" dirty="0">
                <a:solidFill>
                  <a:schemeClr val="tx1"/>
                </a:solidFill>
                <a:latin typeface="Cambria" pitchFamily="34" charset="0"/>
                <a:ea typeface="Cambria" pitchFamily="34" charset="-122"/>
                <a:cs typeface="Cambria" pitchFamily="34" charset="-120"/>
              </a:rPr>
              <a:t>Eleven nodes, one monitoring cycle</a:t>
            </a:r>
            <a:endParaRPr lang="en-US" sz="3200" dirty="0"/>
          </a:p>
        </p:txBody>
      </p:sp>
      <p:sp>
        <p:nvSpPr>
          <p:cNvPr id="4" name="Shape 2"/>
          <p:cNvSpPr/>
          <p:nvPr/>
        </p:nvSpPr>
        <p:spPr>
          <a:xfrm>
            <a:off x="548640" y="1783080"/>
            <a:ext cx="3566160" cy="914400"/>
          </a:xfrm>
          <a:prstGeom prst="roundRect">
            <a:avLst>
              <a:gd name="adj" fmla="val 8000"/>
            </a:avLst>
          </a:prstGeom>
          <a:solidFill>
            <a:schemeClr val="bg1"/>
          </a:solidFill>
          <a:ln w="12700">
            <a:solidFill>
              <a:schemeClr val="accent5"/>
            </a:solidFill>
            <a:prstDash val="solid"/>
          </a:ln>
        </p:spPr>
      </p:sp>
      <p:sp>
        <p:nvSpPr>
          <p:cNvPr id="5" name="Shape 3"/>
          <p:cNvSpPr/>
          <p:nvPr/>
        </p:nvSpPr>
        <p:spPr>
          <a:xfrm>
            <a:off x="713232" y="1984248"/>
            <a:ext cx="512064" cy="512064"/>
          </a:xfrm>
          <a:prstGeom prst="ellipse">
            <a:avLst/>
          </a:prstGeom>
          <a:solidFill>
            <a:schemeClr val="accent2"/>
          </a:solidFill>
          <a:ln/>
        </p:spPr>
      </p:sp>
      <p:sp>
        <p:nvSpPr>
          <p:cNvPr id="6" name="Text 4"/>
          <p:cNvSpPr txBox="1"/>
          <p:nvPr/>
        </p:nvSpPr>
        <p:spPr>
          <a:xfrm>
            <a:off x="713232" y="19842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371600" y="1874520"/>
            <a:ext cx="2560320" cy="365760"/>
          </a:xfrm>
          <a:prstGeom prst="rect">
            <a:avLst/>
          </a:prstGeom>
          <a:noFill/>
          <a:ln/>
        </p:spPr>
        <p:txBody>
          <a:bodyPr wrap="square" lIns="0" tIns="0" rIns="0" bIns="0" rtlCol="0" anchor="ctr"/>
          <a:lstStyle/>
          <a:p>
            <a:pPr algn="l" indent="0" marL="0">
              <a:buNone/>
            </a:pPr>
            <a:r>
              <a:rPr lang="en-US" sz="1250" b="1" dirty="0">
                <a:solidFill>
                  <a:schemeClr val="tx1"/>
                </a:solidFill>
                <a:latin typeface="Calibri" pitchFamily="34" charset="0"/>
                <a:ea typeface="Calibri" pitchFamily="34" charset="-122"/>
                <a:cs typeface="Calibri" pitchFamily="34" charset="-120"/>
              </a:rPr>
              <a:t>Every 5 Minutes</a:t>
            </a:r>
            <a:endParaRPr lang="en-US" sz="1250" dirty="0"/>
          </a:p>
        </p:txBody>
      </p:sp>
      <p:sp>
        <p:nvSpPr>
          <p:cNvPr id="8" name="Text 6"/>
          <p:cNvSpPr txBox="1"/>
          <p:nvPr/>
        </p:nvSpPr>
        <p:spPr>
          <a:xfrm>
            <a:off x="1371600" y="2221992"/>
            <a:ext cx="2560320" cy="411480"/>
          </a:xfrm>
          <a:prstGeom prst="rect">
            <a:avLst/>
          </a:prstGeom>
          <a:noFill/>
          <a:ln/>
        </p:spPr>
        <p:txBody>
          <a:bodyPr wrap="square" lIns="0" tIns="0" rIns="0" bIns="0" rtlCol="0" anchor="ctr"/>
          <a:lstStyle/>
          <a:p>
            <a:pPr algn="l" indent="0" marL="0">
              <a:lnSpc>
                <a:spcPct val="115000"/>
              </a:lnSpc>
              <a:buNone/>
            </a:pPr>
            <a:r>
              <a:rPr lang="en-US" sz="1050" dirty="0">
                <a:solidFill>
                  <a:schemeClr val="accent6"/>
                </a:solidFill>
                <a:latin typeface="Calibri" pitchFamily="34" charset="0"/>
                <a:ea typeface="Calibri" pitchFamily="34" charset="-122"/>
                <a:cs typeface="Calibri" pitchFamily="34" charset="-120"/>
              </a:rPr>
              <a:t>Schedule Trigger starts each cycle</a:t>
            </a:r>
            <a:endParaRPr lang="en-US" sz="1050" dirty="0"/>
          </a:p>
        </p:txBody>
      </p:sp>
      <p:sp>
        <p:nvSpPr>
          <p:cNvPr id="9" name="Shape 7"/>
          <p:cNvSpPr/>
          <p:nvPr/>
        </p:nvSpPr>
        <p:spPr>
          <a:xfrm>
            <a:off x="4297680" y="1783080"/>
            <a:ext cx="3566160" cy="914400"/>
          </a:xfrm>
          <a:prstGeom prst="roundRect">
            <a:avLst>
              <a:gd name="adj" fmla="val 8000"/>
            </a:avLst>
          </a:prstGeom>
          <a:solidFill>
            <a:schemeClr val="bg1"/>
          </a:solidFill>
          <a:ln w="12700">
            <a:solidFill>
              <a:schemeClr val="accent5"/>
            </a:solidFill>
            <a:prstDash val="solid"/>
          </a:ln>
        </p:spPr>
      </p:sp>
      <p:sp>
        <p:nvSpPr>
          <p:cNvPr id="10" name="Shape 8"/>
          <p:cNvSpPr/>
          <p:nvPr/>
        </p:nvSpPr>
        <p:spPr>
          <a:xfrm>
            <a:off x="4462272" y="1984248"/>
            <a:ext cx="512064" cy="512064"/>
          </a:xfrm>
          <a:prstGeom prst="ellipse">
            <a:avLst/>
          </a:prstGeom>
          <a:solidFill>
            <a:schemeClr val="accent2"/>
          </a:solidFill>
          <a:ln/>
        </p:spPr>
      </p:sp>
      <p:sp>
        <p:nvSpPr>
          <p:cNvPr id="11" name="Text 9"/>
          <p:cNvSpPr txBox="1"/>
          <p:nvPr/>
        </p:nvSpPr>
        <p:spPr>
          <a:xfrm>
            <a:off x="4462272" y="19842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5120640" y="1874520"/>
            <a:ext cx="2560320" cy="365760"/>
          </a:xfrm>
          <a:prstGeom prst="rect">
            <a:avLst/>
          </a:prstGeom>
          <a:noFill/>
          <a:ln/>
        </p:spPr>
        <p:txBody>
          <a:bodyPr wrap="square" lIns="0" tIns="0" rIns="0" bIns="0" rtlCol="0" anchor="ctr"/>
          <a:lstStyle/>
          <a:p>
            <a:pPr algn="l" indent="0" marL="0">
              <a:buNone/>
            </a:pPr>
            <a:r>
              <a:rPr lang="en-US" sz="1250" b="1" dirty="0">
                <a:solidFill>
                  <a:schemeClr val="tx1"/>
                </a:solidFill>
                <a:latin typeface="Calibri" pitchFamily="34" charset="0"/>
                <a:ea typeface="Calibri" pitchFamily="34" charset="-122"/>
                <a:cs typeface="Calibri" pitchFamily="34" charset="-120"/>
              </a:rPr>
              <a:t>Config</a:t>
            </a:r>
            <a:endParaRPr lang="en-US" sz="1250" dirty="0"/>
          </a:p>
        </p:txBody>
      </p:sp>
      <p:sp>
        <p:nvSpPr>
          <p:cNvPr id="13" name="Text 11"/>
          <p:cNvSpPr txBox="1"/>
          <p:nvPr/>
        </p:nvSpPr>
        <p:spPr>
          <a:xfrm>
            <a:off x="5120640" y="2221992"/>
            <a:ext cx="2560320" cy="411480"/>
          </a:xfrm>
          <a:prstGeom prst="rect">
            <a:avLst/>
          </a:prstGeom>
          <a:noFill/>
          <a:ln/>
        </p:spPr>
        <p:txBody>
          <a:bodyPr wrap="square" lIns="0" tIns="0" rIns="0" bIns="0" rtlCol="0" anchor="ctr"/>
          <a:lstStyle/>
          <a:p>
            <a:pPr algn="l" indent="0" marL="0">
              <a:lnSpc>
                <a:spcPct val="115000"/>
              </a:lnSpc>
              <a:buNone/>
            </a:pPr>
            <a:r>
              <a:rPr lang="en-US" sz="1050" dirty="0">
                <a:solidFill>
                  <a:schemeClr val="accent6"/>
                </a:solidFill>
                <a:latin typeface="Calibri" pitchFamily="34" charset="0"/>
                <a:ea typeface="Calibri" pitchFamily="34" charset="-122"/>
                <a:cs typeface="Calibri" pitchFamily="34" charset="-120"/>
              </a:rPr>
              <a:t>Instance URL, recipient, thresholds</a:t>
            </a:r>
            <a:endParaRPr lang="en-US" sz="1050" dirty="0"/>
          </a:p>
        </p:txBody>
      </p:sp>
      <p:sp>
        <p:nvSpPr>
          <p:cNvPr id="14" name="Shape 12"/>
          <p:cNvSpPr/>
          <p:nvPr/>
        </p:nvSpPr>
        <p:spPr>
          <a:xfrm>
            <a:off x="8046720" y="1783080"/>
            <a:ext cx="3566160" cy="914400"/>
          </a:xfrm>
          <a:prstGeom prst="roundRect">
            <a:avLst>
              <a:gd name="adj" fmla="val 8000"/>
            </a:avLst>
          </a:prstGeom>
          <a:solidFill>
            <a:schemeClr val="bg1"/>
          </a:solidFill>
          <a:ln w="12700">
            <a:solidFill>
              <a:schemeClr val="accent5"/>
            </a:solidFill>
            <a:prstDash val="solid"/>
          </a:ln>
        </p:spPr>
      </p:sp>
      <p:sp>
        <p:nvSpPr>
          <p:cNvPr id="15" name="Shape 13"/>
          <p:cNvSpPr/>
          <p:nvPr/>
        </p:nvSpPr>
        <p:spPr>
          <a:xfrm>
            <a:off x="8211312" y="1984248"/>
            <a:ext cx="512064" cy="512064"/>
          </a:xfrm>
          <a:prstGeom prst="ellipse">
            <a:avLst/>
          </a:prstGeom>
          <a:solidFill>
            <a:schemeClr val="accent1"/>
          </a:solidFill>
          <a:ln/>
        </p:spPr>
      </p:sp>
      <p:sp>
        <p:nvSpPr>
          <p:cNvPr id="16" name="Text 14"/>
          <p:cNvSpPr txBox="1"/>
          <p:nvPr/>
        </p:nvSpPr>
        <p:spPr>
          <a:xfrm>
            <a:off x="8211312" y="1984248"/>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8869680" y="1874520"/>
            <a:ext cx="2560320" cy="365760"/>
          </a:xfrm>
          <a:prstGeom prst="rect">
            <a:avLst/>
          </a:prstGeom>
          <a:noFill/>
          <a:ln/>
        </p:spPr>
        <p:txBody>
          <a:bodyPr wrap="square" lIns="0" tIns="0" rIns="0" bIns="0" rtlCol="0" anchor="ctr"/>
          <a:lstStyle/>
          <a:p>
            <a:pPr algn="l" indent="0" marL="0">
              <a:buNone/>
            </a:pPr>
            <a:r>
              <a:rPr lang="en-US" sz="1250" b="1" dirty="0">
                <a:solidFill>
                  <a:schemeClr val="tx1"/>
                </a:solidFill>
                <a:latin typeface="Calibri" pitchFamily="34" charset="0"/>
                <a:ea typeface="Calibri" pitchFamily="34" charset="-122"/>
                <a:cs typeface="Calibri" pitchFamily="34" charset="-120"/>
              </a:rPr>
              <a:t>Acquire Run Lock</a:t>
            </a:r>
            <a:endParaRPr lang="en-US" sz="1250" dirty="0"/>
          </a:p>
        </p:txBody>
      </p:sp>
      <p:sp>
        <p:nvSpPr>
          <p:cNvPr id="18" name="Text 16"/>
          <p:cNvSpPr txBox="1"/>
          <p:nvPr/>
        </p:nvSpPr>
        <p:spPr>
          <a:xfrm>
            <a:off x="8869680" y="2221992"/>
            <a:ext cx="2560320" cy="411480"/>
          </a:xfrm>
          <a:prstGeom prst="rect">
            <a:avLst/>
          </a:prstGeom>
          <a:noFill/>
          <a:ln/>
        </p:spPr>
        <p:txBody>
          <a:bodyPr wrap="square" lIns="0" tIns="0" rIns="0" bIns="0" rtlCol="0" anchor="ctr"/>
          <a:lstStyle/>
          <a:p>
            <a:pPr algn="l" indent="0" marL="0">
              <a:lnSpc>
                <a:spcPct val="115000"/>
              </a:lnSpc>
              <a:buNone/>
            </a:pPr>
            <a:r>
              <a:rPr lang="en-US" sz="1050" dirty="0">
                <a:solidFill>
                  <a:schemeClr val="accent6"/>
                </a:solidFill>
                <a:latin typeface="Calibri" pitchFamily="34" charset="0"/>
                <a:ea typeface="Calibri" pitchFamily="34" charset="-122"/>
                <a:cs typeface="Calibri" pitchFamily="34" charset="-120"/>
              </a:rPr>
              <a:t>TTL lock stops overlapping runs</a:t>
            </a:r>
            <a:endParaRPr lang="en-US" sz="1050" dirty="0"/>
          </a:p>
        </p:txBody>
      </p:sp>
      <p:sp>
        <p:nvSpPr>
          <p:cNvPr id="19" name="Shape 17"/>
          <p:cNvSpPr/>
          <p:nvPr/>
        </p:nvSpPr>
        <p:spPr>
          <a:xfrm>
            <a:off x="548640" y="2862072"/>
            <a:ext cx="3566160" cy="914400"/>
          </a:xfrm>
          <a:prstGeom prst="roundRect">
            <a:avLst>
              <a:gd name="adj" fmla="val 8000"/>
            </a:avLst>
          </a:prstGeom>
          <a:solidFill>
            <a:schemeClr val="bg1"/>
          </a:solidFill>
          <a:ln w="12700">
            <a:solidFill>
              <a:schemeClr val="accent5"/>
            </a:solidFill>
            <a:prstDash val="solid"/>
          </a:ln>
        </p:spPr>
      </p:sp>
      <p:sp>
        <p:nvSpPr>
          <p:cNvPr id="20" name="Shape 18"/>
          <p:cNvSpPr/>
          <p:nvPr/>
        </p:nvSpPr>
        <p:spPr>
          <a:xfrm>
            <a:off x="713232" y="3063240"/>
            <a:ext cx="512064" cy="512064"/>
          </a:xfrm>
          <a:prstGeom prst="ellipse">
            <a:avLst/>
          </a:prstGeom>
          <a:solidFill>
            <a:schemeClr val="accent1"/>
          </a:solidFill>
          <a:ln/>
        </p:spPr>
      </p:sp>
      <p:sp>
        <p:nvSpPr>
          <p:cNvPr id="21" name="Text 19"/>
          <p:cNvSpPr txBox="1"/>
          <p:nvPr/>
        </p:nvSpPr>
        <p:spPr>
          <a:xfrm>
            <a:off x="713232" y="306324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1371600" y="2953512"/>
            <a:ext cx="2560320" cy="365760"/>
          </a:xfrm>
          <a:prstGeom prst="rect">
            <a:avLst/>
          </a:prstGeom>
          <a:noFill/>
          <a:ln/>
        </p:spPr>
        <p:txBody>
          <a:bodyPr wrap="square" lIns="0" tIns="0" rIns="0" bIns="0" rtlCol="0" anchor="ctr"/>
          <a:lstStyle/>
          <a:p>
            <a:pPr algn="l" indent="0" marL="0">
              <a:buNone/>
            </a:pPr>
            <a:r>
              <a:rPr lang="en-US" sz="1250" b="1" dirty="0">
                <a:solidFill>
                  <a:schemeClr val="tx1"/>
                </a:solidFill>
                <a:latin typeface="Calibri" pitchFamily="34" charset="0"/>
                <a:ea typeface="Calibri" pitchFamily="34" charset="-122"/>
                <a:cs typeface="Calibri" pitchFamily="34" charset="-120"/>
              </a:rPr>
              <a:t>Recover Stale Claims</a:t>
            </a:r>
            <a:endParaRPr lang="en-US" sz="1250" dirty="0"/>
          </a:p>
        </p:txBody>
      </p:sp>
      <p:sp>
        <p:nvSpPr>
          <p:cNvPr id="23" name="Text 21"/>
          <p:cNvSpPr txBox="1"/>
          <p:nvPr/>
        </p:nvSpPr>
        <p:spPr>
          <a:xfrm>
            <a:off x="1371600" y="3300984"/>
            <a:ext cx="2560320" cy="411480"/>
          </a:xfrm>
          <a:prstGeom prst="rect">
            <a:avLst/>
          </a:prstGeom>
          <a:noFill/>
          <a:ln/>
        </p:spPr>
        <p:txBody>
          <a:bodyPr wrap="square" lIns="0" tIns="0" rIns="0" bIns="0" rtlCol="0" anchor="ctr"/>
          <a:lstStyle/>
          <a:p>
            <a:pPr algn="l" indent="0" marL="0">
              <a:lnSpc>
                <a:spcPct val="115000"/>
              </a:lnSpc>
              <a:buNone/>
            </a:pPr>
            <a:r>
              <a:rPr lang="en-US" sz="1050" dirty="0">
                <a:solidFill>
                  <a:schemeClr val="accent6"/>
                </a:solidFill>
                <a:latin typeface="Calibri" pitchFamily="34" charset="0"/>
                <a:ea typeface="Calibri" pitchFamily="34" charset="-122"/>
                <a:cs typeface="Calibri" pitchFamily="34" charset="-120"/>
              </a:rPr>
              <a:t>Resets abandoned pending claims</a:t>
            </a:r>
            <a:endParaRPr lang="en-US" sz="1050" dirty="0"/>
          </a:p>
        </p:txBody>
      </p:sp>
      <p:sp>
        <p:nvSpPr>
          <p:cNvPr id="24" name="Shape 22"/>
          <p:cNvSpPr/>
          <p:nvPr/>
        </p:nvSpPr>
        <p:spPr>
          <a:xfrm>
            <a:off x="4297680" y="2862072"/>
            <a:ext cx="3566160" cy="914400"/>
          </a:xfrm>
          <a:prstGeom prst="roundRect">
            <a:avLst>
              <a:gd name="adj" fmla="val 8000"/>
            </a:avLst>
          </a:prstGeom>
          <a:solidFill>
            <a:schemeClr val="bg1"/>
          </a:solidFill>
          <a:ln w="12700">
            <a:solidFill>
              <a:schemeClr val="accent5"/>
            </a:solidFill>
            <a:prstDash val="solid"/>
          </a:ln>
        </p:spPr>
      </p:sp>
      <p:sp>
        <p:nvSpPr>
          <p:cNvPr id="25" name="Shape 23"/>
          <p:cNvSpPr/>
          <p:nvPr/>
        </p:nvSpPr>
        <p:spPr>
          <a:xfrm>
            <a:off x="4462272" y="3063240"/>
            <a:ext cx="512064" cy="512064"/>
          </a:xfrm>
          <a:prstGeom prst="ellipse">
            <a:avLst/>
          </a:prstGeom>
          <a:solidFill>
            <a:schemeClr val="accent2"/>
          </a:solidFill>
          <a:ln/>
        </p:spPr>
      </p:sp>
      <p:sp>
        <p:nvSpPr>
          <p:cNvPr id="26" name="Text 24"/>
          <p:cNvSpPr txBox="1"/>
          <p:nvPr/>
        </p:nvSpPr>
        <p:spPr>
          <a:xfrm>
            <a:off x="4462272" y="306324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txBox="1"/>
          <p:nvPr/>
        </p:nvSpPr>
        <p:spPr>
          <a:xfrm>
            <a:off x="5120640" y="2953512"/>
            <a:ext cx="2560320" cy="365760"/>
          </a:xfrm>
          <a:prstGeom prst="rect">
            <a:avLst/>
          </a:prstGeom>
          <a:noFill/>
          <a:ln/>
        </p:spPr>
        <p:txBody>
          <a:bodyPr wrap="square" lIns="0" tIns="0" rIns="0" bIns="0" rtlCol="0" anchor="ctr"/>
          <a:lstStyle/>
          <a:p>
            <a:pPr algn="l" indent="0" marL="0">
              <a:buNone/>
            </a:pPr>
            <a:r>
              <a:rPr lang="en-US" sz="1250" b="1" dirty="0">
                <a:solidFill>
                  <a:schemeClr val="tx1"/>
                </a:solidFill>
                <a:latin typeface="Calibri" pitchFamily="34" charset="0"/>
                <a:ea typeface="Calibri" pitchFamily="34" charset="-122"/>
                <a:cs typeface="Calibri" pitchFamily="34" charset="-120"/>
              </a:rPr>
              <a:t>Get ServiceNow Incidents</a:t>
            </a:r>
            <a:endParaRPr lang="en-US" sz="1250" dirty="0"/>
          </a:p>
        </p:txBody>
      </p:sp>
      <p:sp>
        <p:nvSpPr>
          <p:cNvPr id="28" name="Text 26"/>
          <p:cNvSpPr txBox="1"/>
          <p:nvPr/>
        </p:nvSpPr>
        <p:spPr>
          <a:xfrm>
            <a:off x="5120640" y="3300984"/>
            <a:ext cx="2560320" cy="411480"/>
          </a:xfrm>
          <a:prstGeom prst="rect">
            <a:avLst/>
          </a:prstGeom>
          <a:noFill/>
          <a:ln/>
        </p:spPr>
        <p:txBody>
          <a:bodyPr wrap="square" lIns="0" tIns="0" rIns="0" bIns="0" rtlCol="0" anchor="ctr"/>
          <a:lstStyle/>
          <a:p>
            <a:pPr algn="l" indent="0" marL="0">
              <a:lnSpc>
                <a:spcPct val="115000"/>
              </a:lnSpc>
              <a:buNone/>
            </a:pPr>
            <a:r>
              <a:rPr lang="en-US" sz="1050" dirty="0">
                <a:solidFill>
                  <a:schemeClr val="accent6"/>
                </a:solidFill>
                <a:latin typeface="Calibri" pitchFamily="34" charset="0"/>
                <a:ea typeface="Calibri" pitchFamily="34" charset="-122"/>
                <a:cs typeface="Calibri" pitchFamily="34" charset="-120"/>
              </a:rPr>
              <a:t>GET the Table API, 3 retries</a:t>
            </a:r>
            <a:endParaRPr lang="en-US" sz="1050" dirty="0"/>
          </a:p>
        </p:txBody>
      </p:sp>
      <p:sp>
        <p:nvSpPr>
          <p:cNvPr id="29" name="Shape 27"/>
          <p:cNvSpPr/>
          <p:nvPr/>
        </p:nvSpPr>
        <p:spPr>
          <a:xfrm>
            <a:off x="8046720" y="2862072"/>
            <a:ext cx="3566160" cy="914400"/>
          </a:xfrm>
          <a:prstGeom prst="roundRect">
            <a:avLst>
              <a:gd name="adj" fmla="val 8000"/>
            </a:avLst>
          </a:prstGeom>
          <a:solidFill>
            <a:schemeClr val="bg1"/>
          </a:solidFill>
          <a:ln w="12700">
            <a:solidFill>
              <a:schemeClr val="accent5"/>
            </a:solidFill>
            <a:prstDash val="solid"/>
          </a:ln>
        </p:spPr>
      </p:sp>
      <p:sp>
        <p:nvSpPr>
          <p:cNvPr id="30" name="Shape 28"/>
          <p:cNvSpPr/>
          <p:nvPr/>
        </p:nvSpPr>
        <p:spPr>
          <a:xfrm>
            <a:off x="8211312" y="3063240"/>
            <a:ext cx="512064" cy="512064"/>
          </a:xfrm>
          <a:prstGeom prst="ellipse">
            <a:avLst/>
          </a:prstGeom>
          <a:solidFill>
            <a:schemeClr val="accent2"/>
          </a:solidFill>
          <a:ln/>
        </p:spPr>
      </p:sp>
      <p:sp>
        <p:nvSpPr>
          <p:cNvPr id="31" name="Text 29"/>
          <p:cNvSpPr txBox="1"/>
          <p:nvPr/>
        </p:nvSpPr>
        <p:spPr>
          <a:xfrm>
            <a:off x="8211312" y="306324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2" name="Text 30"/>
          <p:cNvSpPr txBox="1"/>
          <p:nvPr/>
        </p:nvSpPr>
        <p:spPr>
          <a:xfrm>
            <a:off x="8869680" y="2953512"/>
            <a:ext cx="2560320" cy="365760"/>
          </a:xfrm>
          <a:prstGeom prst="rect">
            <a:avLst/>
          </a:prstGeom>
          <a:noFill/>
          <a:ln/>
        </p:spPr>
        <p:txBody>
          <a:bodyPr wrap="square" lIns="0" tIns="0" rIns="0" bIns="0" rtlCol="0" anchor="ctr"/>
          <a:lstStyle/>
          <a:p>
            <a:pPr algn="l" indent="0" marL="0">
              <a:buNone/>
            </a:pPr>
            <a:r>
              <a:rPr lang="en-US" sz="1250" b="1" dirty="0">
                <a:solidFill>
                  <a:schemeClr val="tx1"/>
                </a:solidFill>
                <a:latin typeface="Calibri" pitchFamily="34" charset="0"/>
                <a:ea typeface="Calibri" pitchFamily="34" charset="-122"/>
                <a:cs typeface="Calibri" pitchFamily="34" charset="-120"/>
              </a:rPr>
              <a:t>Split Incidents</a:t>
            </a:r>
            <a:endParaRPr lang="en-US" sz="1250" dirty="0"/>
          </a:p>
        </p:txBody>
      </p:sp>
      <p:sp>
        <p:nvSpPr>
          <p:cNvPr id="33" name="Text 31"/>
          <p:cNvSpPr txBox="1"/>
          <p:nvPr/>
        </p:nvSpPr>
        <p:spPr>
          <a:xfrm>
            <a:off x="8869680" y="3300984"/>
            <a:ext cx="2560320" cy="411480"/>
          </a:xfrm>
          <a:prstGeom prst="rect">
            <a:avLst/>
          </a:prstGeom>
          <a:noFill/>
          <a:ln/>
        </p:spPr>
        <p:txBody>
          <a:bodyPr wrap="square" lIns="0" tIns="0" rIns="0" bIns="0" rtlCol="0" anchor="ctr"/>
          <a:lstStyle/>
          <a:p>
            <a:pPr algn="l" indent="0" marL="0">
              <a:lnSpc>
                <a:spcPct val="115000"/>
              </a:lnSpc>
              <a:buNone/>
            </a:pPr>
            <a:r>
              <a:rPr lang="en-US" sz="1050" dirty="0">
                <a:solidFill>
                  <a:schemeClr val="accent6"/>
                </a:solidFill>
                <a:latin typeface="Calibri" pitchFamily="34" charset="0"/>
                <a:ea typeface="Calibri" pitchFamily="34" charset="-122"/>
                <a:cs typeface="Calibri" pitchFamily="34" charset="-120"/>
              </a:rPr>
              <a:t>One item per incident</a:t>
            </a:r>
            <a:endParaRPr lang="en-US" sz="1050" dirty="0"/>
          </a:p>
        </p:txBody>
      </p:sp>
      <p:sp>
        <p:nvSpPr>
          <p:cNvPr id="34" name="Shape 32"/>
          <p:cNvSpPr/>
          <p:nvPr/>
        </p:nvSpPr>
        <p:spPr>
          <a:xfrm>
            <a:off x="548640" y="3941064"/>
            <a:ext cx="3566160" cy="914400"/>
          </a:xfrm>
          <a:prstGeom prst="roundRect">
            <a:avLst>
              <a:gd name="adj" fmla="val 8000"/>
            </a:avLst>
          </a:prstGeom>
          <a:solidFill>
            <a:schemeClr val="bg1"/>
          </a:solidFill>
          <a:ln w="12700">
            <a:solidFill>
              <a:schemeClr val="accent5"/>
            </a:solidFill>
            <a:prstDash val="solid"/>
          </a:ln>
        </p:spPr>
      </p:sp>
      <p:sp>
        <p:nvSpPr>
          <p:cNvPr id="35" name="Shape 33"/>
          <p:cNvSpPr/>
          <p:nvPr/>
        </p:nvSpPr>
        <p:spPr>
          <a:xfrm>
            <a:off x="713232" y="4142232"/>
            <a:ext cx="512064" cy="512064"/>
          </a:xfrm>
          <a:prstGeom prst="ellipse">
            <a:avLst/>
          </a:prstGeom>
          <a:solidFill>
            <a:schemeClr val="accent2"/>
          </a:solidFill>
          <a:ln/>
        </p:spPr>
      </p:sp>
      <p:sp>
        <p:nvSpPr>
          <p:cNvPr id="36" name="Text 34"/>
          <p:cNvSpPr txBox="1"/>
          <p:nvPr/>
        </p:nvSpPr>
        <p:spPr>
          <a:xfrm>
            <a:off x="713232" y="414223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7" name="Text 35"/>
          <p:cNvSpPr txBox="1"/>
          <p:nvPr/>
        </p:nvSpPr>
        <p:spPr>
          <a:xfrm>
            <a:off x="1371600" y="4032504"/>
            <a:ext cx="2560320" cy="365760"/>
          </a:xfrm>
          <a:prstGeom prst="rect">
            <a:avLst/>
          </a:prstGeom>
          <a:noFill/>
          <a:ln/>
        </p:spPr>
        <p:txBody>
          <a:bodyPr wrap="square" lIns="0" tIns="0" rIns="0" bIns="0" rtlCol="0" anchor="ctr"/>
          <a:lstStyle/>
          <a:p>
            <a:pPr algn="l" indent="0" marL="0">
              <a:buNone/>
            </a:pPr>
            <a:r>
              <a:rPr lang="en-US" sz="1250" b="1" dirty="0">
                <a:solidFill>
                  <a:schemeClr val="tx1"/>
                </a:solidFill>
                <a:latin typeface="Calibri" pitchFamily="34" charset="0"/>
                <a:ea typeface="Calibri" pitchFamily="34" charset="-122"/>
                <a:cs typeface="Calibri" pitchFamily="34" charset="-120"/>
              </a:rPr>
              <a:t>Evaluate Rules</a:t>
            </a:r>
            <a:endParaRPr lang="en-US" sz="1250" dirty="0"/>
          </a:p>
        </p:txBody>
      </p:sp>
      <p:sp>
        <p:nvSpPr>
          <p:cNvPr id="38" name="Text 36"/>
          <p:cNvSpPr txBox="1"/>
          <p:nvPr/>
        </p:nvSpPr>
        <p:spPr>
          <a:xfrm>
            <a:off x="1371600" y="4379976"/>
            <a:ext cx="2560320" cy="411480"/>
          </a:xfrm>
          <a:prstGeom prst="rect">
            <a:avLst/>
          </a:prstGeom>
          <a:noFill/>
          <a:ln/>
        </p:spPr>
        <p:txBody>
          <a:bodyPr wrap="square" lIns="0" tIns="0" rIns="0" bIns="0" rtlCol="0" anchor="ctr"/>
          <a:lstStyle/>
          <a:p>
            <a:pPr algn="l" indent="0" marL="0">
              <a:lnSpc>
                <a:spcPct val="115000"/>
              </a:lnSpc>
              <a:buNone/>
            </a:pPr>
            <a:r>
              <a:rPr lang="en-US" sz="1050" dirty="0">
                <a:solidFill>
                  <a:schemeClr val="accent6"/>
                </a:solidFill>
                <a:latin typeface="Calibri" pitchFamily="34" charset="0"/>
                <a:ea typeface="Calibri" pitchFamily="34" charset="-122"/>
                <a:cs typeface="Calibri" pitchFamily="34" charset="-120"/>
              </a:rPr>
              <a:t>Critical / high / stale matching</a:t>
            </a:r>
            <a:endParaRPr lang="en-US" sz="1050" dirty="0"/>
          </a:p>
        </p:txBody>
      </p:sp>
      <p:sp>
        <p:nvSpPr>
          <p:cNvPr id="39" name="Shape 37"/>
          <p:cNvSpPr/>
          <p:nvPr/>
        </p:nvSpPr>
        <p:spPr>
          <a:xfrm>
            <a:off x="4297680" y="3941064"/>
            <a:ext cx="3566160" cy="914400"/>
          </a:xfrm>
          <a:prstGeom prst="roundRect">
            <a:avLst>
              <a:gd name="adj" fmla="val 8000"/>
            </a:avLst>
          </a:prstGeom>
          <a:solidFill>
            <a:schemeClr val="bg1"/>
          </a:solidFill>
          <a:ln w="12700">
            <a:solidFill>
              <a:schemeClr val="accent5"/>
            </a:solidFill>
            <a:prstDash val="solid"/>
          </a:ln>
        </p:spPr>
      </p:sp>
      <p:sp>
        <p:nvSpPr>
          <p:cNvPr id="40" name="Shape 38"/>
          <p:cNvSpPr/>
          <p:nvPr/>
        </p:nvSpPr>
        <p:spPr>
          <a:xfrm>
            <a:off x="4462272" y="4142232"/>
            <a:ext cx="512064" cy="512064"/>
          </a:xfrm>
          <a:prstGeom prst="ellipse">
            <a:avLst/>
          </a:prstGeom>
          <a:solidFill>
            <a:schemeClr val="accent1"/>
          </a:solidFill>
          <a:ln/>
        </p:spPr>
      </p:sp>
      <p:sp>
        <p:nvSpPr>
          <p:cNvPr id="41" name="Text 39"/>
          <p:cNvSpPr txBox="1"/>
          <p:nvPr/>
        </p:nvSpPr>
        <p:spPr>
          <a:xfrm>
            <a:off x="4462272" y="414223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2" name="Text 40"/>
          <p:cNvSpPr txBox="1"/>
          <p:nvPr/>
        </p:nvSpPr>
        <p:spPr>
          <a:xfrm>
            <a:off x="5120640" y="4032504"/>
            <a:ext cx="2560320" cy="365760"/>
          </a:xfrm>
          <a:prstGeom prst="rect">
            <a:avLst/>
          </a:prstGeom>
          <a:noFill/>
          <a:ln/>
        </p:spPr>
        <p:txBody>
          <a:bodyPr wrap="square" lIns="0" tIns="0" rIns="0" bIns="0" rtlCol="0" anchor="ctr"/>
          <a:lstStyle/>
          <a:p>
            <a:pPr algn="l" indent="0" marL="0">
              <a:buNone/>
            </a:pPr>
            <a:r>
              <a:rPr lang="en-US" sz="1250" b="1" dirty="0">
                <a:solidFill>
                  <a:schemeClr val="tx1"/>
                </a:solidFill>
                <a:latin typeface="Calibri" pitchFamily="34" charset="0"/>
                <a:ea typeface="Calibri" pitchFamily="34" charset="-122"/>
                <a:cs typeface="Calibri" pitchFamily="34" charset="-120"/>
              </a:rPr>
              <a:t>Lookup Reminder Due</a:t>
            </a:r>
            <a:endParaRPr lang="en-US" sz="1250" dirty="0"/>
          </a:p>
        </p:txBody>
      </p:sp>
      <p:sp>
        <p:nvSpPr>
          <p:cNvPr id="43" name="Text 41"/>
          <p:cNvSpPr txBox="1"/>
          <p:nvPr/>
        </p:nvSpPr>
        <p:spPr>
          <a:xfrm>
            <a:off x="5120640" y="4379976"/>
            <a:ext cx="2560320" cy="411480"/>
          </a:xfrm>
          <a:prstGeom prst="rect">
            <a:avLst/>
          </a:prstGeom>
          <a:noFill/>
          <a:ln/>
        </p:spPr>
        <p:txBody>
          <a:bodyPr wrap="square" lIns="0" tIns="0" rIns="0" bIns="0" rtlCol="0" anchor="ctr"/>
          <a:lstStyle/>
          <a:p>
            <a:pPr algn="l" indent="0" marL="0">
              <a:lnSpc>
                <a:spcPct val="115000"/>
              </a:lnSpc>
              <a:buNone/>
            </a:pPr>
            <a:r>
              <a:rPr lang="en-US" sz="1050" dirty="0">
                <a:solidFill>
                  <a:schemeClr val="accent6"/>
                </a:solidFill>
                <a:latin typeface="Calibri" pitchFamily="34" charset="0"/>
                <a:ea typeface="Calibri" pitchFamily="34" charset="-122"/>
                <a:cs typeface="Calibri" pitchFamily="34" charset="-120"/>
              </a:rPr>
              <a:t>Skip, retry, or reminder-due?</a:t>
            </a:r>
            <a:endParaRPr lang="en-US" sz="1050" dirty="0"/>
          </a:p>
        </p:txBody>
      </p:sp>
      <p:sp>
        <p:nvSpPr>
          <p:cNvPr id="44" name="Shape 42"/>
          <p:cNvSpPr/>
          <p:nvPr/>
        </p:nvSpPr>
        <p:spPr>
          <a:xfrm>
            <a:off x="8046720" y="3941064"/>
            <a:ext cx="3566160" cy="914400"/>
          </a:xfrm>
          <a:prstGeom prst="roundRect">
            <a:avLst>
              <a:gd name="adj" fmla="val 8000"/>
            </a:avLst>
          </a:prstGeom>
          <a:solidFill>
            <a:schemeClr val="bg1"/>
          </a:solidFill>
          <a:ln w="12700">
            <a:solidFill>
              <a:schemeClr val="accent5"/>
            </a:solidFill>
            <a:prstDash val="solid"/>
          </a:ln>
        </p:spPr>
      </p:sp>
      <p:sp>
        <p:nvSpPr>
          <p:cNvPr id="45" name="Shape 43"/>
          <p:cNvSpPr/>
          <p:nvPr/>
        </p:nvSpPr>
        <p:spPr>
          <a:xfrm>
            <a:off x="8211312" y="4142232"/>
            <a:ext cx="512064" cy="512064"/>
          </a:xfrm>
          <a:prstGeom prst="ellipse">
            <a:avLst/>
          </a:prstGeom>
          <a:solidFill>
            <a:schemeClr val="accent1"/>
          </a:solidFill>
          <a:ln/>
        </p:spPr>
      </p:sp>
      <p:sp>
        <p:nvSpPr>
          <p:cNvPr id="46" name="Text 44"/>
          <p:cNvSpPr txBox="1"/>
          <p:nvPr/>
        </p:nvSpPr>
        <p:spPr>
          <a:xfrm>
            <a:off x="8211312" y="4142232"/>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7" name="Text 45"/>
          <p:cNvSpPr txBox="1"/>
          <p:nvPr/>
        </p:nvSpPr>
        <p:spPr>
          <a:xfrm>
            <a:off x="8869680" y="4032504"/>
            <a:ext cx="2560320" cy="365760"/>
          </a:xfrm>
          <a:prstGeom prst="rect">
            <a:avLst/>
          </a:prstGeom>
          <a:noFill/>
          <a:ln/>
        </p:spPr>
        <p:txBody>
          <a:bodyPr wrap="square" lIns="0" tIns="0" rIns="0" bIns="0" rtlCol="0" anchor="ctr"/>
          <a:lstStyle/>
          <a:p>
            <a:pPr algn="l" indent="0" marL="0">
              <a:buNone/>
            </a:pPr>
            <a:r>
              <a:rPr lang="en-US" sz="1250" b="1" dirty="0">
                <a:solidFill>
                  <a:schemeClr val="tx1"/>
                </a:solidFill>
                <a:latin typeface="Calibri" pitchFamily="34" charset="0"/>
                <a:ea typeface="Calibri" pitchFamily="34" charset="-122"/>
                <a:cs typeface="Calibri" pitchFamily="34" charset="-120"/>
              </a:rPr>
              <a:t>Claim Pending</a:t>
            </a:r>
            <a:endParaRPr lang="en-US" sz="1250" dirty="0"/>
          </a:p>
        </p:txBody>
      </p:sp>
      <p:sp>
        <p:nvSpPr>
          <p:cNvPr id="48" name="Text 46"/>
          <p:cNvSpPr txBox="1"/>
          <p:nvPr/>
        </p:nvSpPr>
        <p:spPr>
          <a:xfrm>
            <a:off x="8869680" y="4379976"/>
            <a:ext cx="2560320" cy="411480"/>
          </a:xfrm>
          <a:prstGeom prst="rect">
            <a:avLst/>
          </a:prstGeom>
          <a:noFill/>
          <a:ln/>
        </p:spPr>
        <p:txBody>
          <a:bodyPr wrap="square" lIns="0" tIns="0" rIns="0" bIns="0" rtlCol="0" anchor="ctr"/>
          <a:lstStyle/>
          <a:p>
            <a:pPr algn="l" indent="0" marL="0">
              <a:lnSpc>
                <a:spcPct val="115000"/>
              </a:lnSpc>
              <a:buNone/>
            </a:pPr>
            <a:r>
              <a:rPr lang="en-US" sz="1050" dirty="0">
                <a:solidFill>
                  <a:schemeClr val="accent6"/>
                </a:solidFill>
                <a:latin typeface="Calibri" pitchFamily="34" charset="0"/>
                <a:ea typeface="Calibri" pitchFamily="34" charset="-122"/>
                <a:cs typeface="Calibri" pitchFamily="34" charset="-120"/>
              </a:rPr>
              <a:t>Writes “pending” before sending</a:t>
            </a:r>
            <a:endParaRPr lang="en-US" sz="1050" dirty="0"/>
          </a:p>
        </p:txBody>
      </p:sp>
      <p:sp>
        <p:nvSpPr>
          <p:cNvPr id="49" name="Shape 47"/>
          <p:cNvSpPr/>
          <p:nvPr/>
        </p:nvSpPr>
        <p:spPr>
          <a:xfrm>
            <a:off x="548640" y="5020056"/>
            <a:ext cx="3566160" cy="914400"/>
          </a:xfrm>
          <a:prstGeom prst="roundRect">
            <a:avLst>
              <a:gd name="adj" fmla="val 8000"/>
            </a:avLst>
          </a:prstGeom>
          <a:solidFill>
            <a:schemeClr val="bg1"/>
          </a:solidFill>
          <a:ln w="12700">
            <a:solidFill>
              <a:schemeClr val="accent5"/>
            </a:solidFill>
            <a:prstDash val="solid"/>
          </a:ln>
        </p:spPr>
      </p:sp>
      <p:sp>
        <p:nvSpPr>
          <p:cNvPr id="50" name="Shape 48"/>
          <p:cNvSpPr/>
          <p:nvPr/>
        </p:nvSpPr>
        <p:spPr>
          <a:xfrm>
            <a:off x="713232" y="5221224"/>
            <a:ext cx="512064" cy="512064"/>
          </a:xfrm>
          <a:prstGeom prst="ellipse">
            <a:avLst/>
          </a:prstGeom>
          <a:solidFill>
            <a:schemeClr val="accent3"/>
          </a:solidFill>
          <a:ln/>
        </p:spPr>
      </p:sp>
      <p:sp>
        <p:nvSpPr>
          <p:cNvPr id="51" name="Text 49"/>
          <p:cNvSpPr txBox="1"/>
          <p:nvPr/>
        </p:nvSpPr>
        <p:spPr>
          <a:xfrm>
            <a:off x="713232" y="5221224"/>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52" name="Text 50"/>
          <p:cNvSpPr txBox="1"/>
          <p:nvPr/>
        </p:nvSpPr>
        <p:spPr>
          <a:xfrm>
            <a:off x="1371600" y="5111496"/>
            <a:ext cx="2560320" cy="365760"/>
          </a:xfrm>
          <a:prstGeom prst="rect">
            <a:avLst/>
          </a:prstGeom>
          <a:noFill/>
          <a:ln/>
        </p:spPr>
        <p:txBody>
          <a:bodyPr wrap="square" lIns="0" tIns="0" rIns="0" bIns="0" rtlCol="0" anchor="ctr"/>
          <a:lstStyle/>
          <a:p>
            <a:pPr algn="l" indent="0" marL="0">
              <a:buNone/>
            </a:pPr>
            <a:r>
              <a:rPr lang="en-US" sz="1250" b="1" dirty="0">
                <a:solidFill>
                  <a:schemeClr val="tx1"/>
                </a:solidFill>
                <a:latin typeface="Calibri" pitchFamily="34" charset="0"/>
                <a:ea typeface="Calibri" pitchFamily="34" charset="-122"/>
                <a:cs typeface="Calibri" pitchFamily="34" charset="-120"/>
              </a:rPr>
              <a:t>Send Alert Email</a:t>
            </a:r>
            <a:endParaRPr lang="en-US" sz="1250" dirty="0"/>
          </a:p>
        </p:txBody>
      </p:sp>
      <p:sp>
        <p:nvSpPr>
          <p:cNvPr id="53" name="Text 51"/>
          <p:cNvSpPr txBox="1"/>
          <p:nvPr/>
        </p:nvSpPr>
        <p:spPr>
          <a:xfrm>
            <a:off x="1371600" y="5458968"/>
            <a:ext cx="2560320" cy="411480"/>
          </a:xfrm>
          <a:prstGeom prst="rect">
            <a:avLst/>
          </a:prstGeom>
          <a:noFill/>
          <a:ln/>
        </p:spPr>
        <p:txBody>
          <a:bodyPr wrap="square" lIns="0" tIns="0" rIns="0" bIns="0" rtlCol="0" anchor="ctr"/>
          <a:lstStyle/>
          <a:p>
            <a:pPr algn="l" indent="0" marL="0">
              <a:lnSpc>
                <a:spcPct val="115000"/>
              </a:lnSpc>
              <a:buNone/>
            </a:pPr>
            <a:r>
              <a:rPr lang="en-US" sz="1050" dirty="0">
                <a:solidFill>
                  <a:schemeClr val="accent6"/>
                </a:solidFill>
                <a:latin typeface="Calibri" pitchFamily="34" charset="0"/>
                <a:ea typeface="Calibri" pitchFamily="34" charset="-122"/>
                <a:cs typeface="Calibri" pitchFamily="34" charset="-120"/>
              </a:rPr>
              <a:t>Gmail SMTP, 3 retries</a:t>
            </a:r>
            <a:endParaRPr lang="en-US" sz="1050" dirty="0"/>
          </a:p>
        </p:txBody>
      </p:sp>
      <p:sp>
        <p:nvSpPr>
          <p:cNvPr id="54" name="Shape 52"/>
          <p:cNvSpPr/>
          <p:nvPr/>
        </p:nvSpPr>
        <p:spPr>
          <a:xfrm>
            <a:off x="4297680" y="5020056"/>
            <a:ext cx="3566160" cy="914400"/>
          </a:xfrm>
          <a:prstGeom prst="roundRect">
            <a:avLst>
              <a:gd name="adj" fmla="val 8000"/>
            </a:avLst>
          </a:prstGeom>
          <a:solidFill>
            <a:schemeClr val="bg1"/>
          </a:solidFill>
          <a:ln w="12700">
            <a:solidFill>
              <a:schemeClr val="accent5"/>
            </a:solidFill>
            <a:prstDash val="solid"/>
          </a:ln>
        </p:spPr>
      </p:sp>
      <p:sp>
        <p:nvSpPr>
          <p:cNvPr id="55" name="Shape 53"/>
          <p:cNvSpPr/>
          <p:nvPr/>
        </p:nvSpPr>
        <p:spPr>
          <a:xfrm>
            <a:off x="4462272" y="5221224"/>
            <a:ext cx="512064" cy="512064"/>
          </a:xfrm>
          <a:prstGeom prst="ellipse">
            <a:avLst/>
          </a:prstGeom>
          <a:solidFill>
            <a:schemeClr val="accent3"/>
          </a:solidFill>
          <a:ln/>
        </p:spPr>
      </p:sp>
      <p:sp>
        <p:nvSpPr>
          <p:cNvPr id="56" name="Text 54"/>
          <p:cNvSpPr txBox="1"/>
          <p:nvPr/>
        </p:nvSpPr>
        <p:spPr>
          <a:xfrm>
            <a:off x="4462272" y="5221224"/>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57" name="Text 55"/>
          <p:cNvSpPr txBox="1"/>
          <p:nvPr/>
        </p:nvSpPr>
        <p:spPr>
          <a:xfrm>
            <a:off x="5120640" y="5111496"/>
            <a:ext cx="2560320" cy="365760"/>
          </a:xfrm>
          <a:prstGeom prst="rect">
            <a:avLst/>
          </a:prstGeom>
          <a:noFill/>
          <a:ln/>
        </p:spPr>
        <p:txBody>
          <a:bodyPr wrap="square" lIns="0" tIns="0" rIns="0" bIns="0" rtlCol="0" anchor="ctr"/>
          <a:lstStyle/>
          <a:p>
            <a:pPr algn="l" indent="0" marL="0">
              <a:buNone/>
            </a:pPr>
            <a:r>
              <a:rPr lang="en-US" sz="1250" b="1" dirty="0">
                <a:solidFill>
                  <a:schemeClr val="tx1"/>
                </a:solidFill>
                <a:latin typeface="Calibri" pitchFamily="34" charset="0"/>
                <a:ea typeface="Calibri" pitchFamily="34" charset="-122"/>
                <a:cs typeface="Calibri" pitchFamily="34" charset="-120"/>
              </a:rPr>
              <a:t>Resolve Claim</a:t>
            </a:r>
            <a:endParaRPr lang="en-US" sz="1250" dirty="0"/>
          </a:p>
        </p:txBody>
      </p:sp>
      <p:sp>
        <p:nvSpPr>
          <p:cNvPr id="58" name="Text 56"/>
          <p:cNvSpPr txBox="1"/>
          <p:nvPr/>
        </p:nvSpPr>
        <p:spPr>
          <a:xfrm>
            <a:off x="5120640" y="5458968"/>
            <a:ext cx="2560320" cy="411480"/>
          </a:xfrm>
          <a:prstGeom prst="rect">
            <a:avLst/>
          </a:prstGeom>
          <a:noFill/>
          <a:ln/>
        </p:spPr>
        <p:txBody>
          <a:bodyPr wrap="square" lIns="0" tIns="0" rIns="0" bIns="0" rtlCol="0" anchor="ctr"/>
          <a:lstStyle/>
          <a:p>
            <a:pPr algn="l" indent="0" marL="0">
              <a:lnSpc>
                <a:spcPct val="115000"/>
              </a:lnSpc>
              <a:buNone/>
            </a:pPr>
            <a:r>
              <a:rPr lang="en-US" sz="1050" dirty="0">
                <a:solidFill>
                  <a:schemeClr val="accent6"/>
                </a:solidFill>
                <a:latin typeface="Calibri" pitchFamily="34" charset="0"/>
                <a:ea typeface="Calibri" pitchFamily="34" charset="-122"/>
                <a:cs typeface="Calibri" pitchFamily="34" charset="-120"/>
              </a:rPr>
              <a:t>pending → sent / failed</a:t>
            </a:r>
            <a:endParaRPr lang="en-US" sz="1050" dirty="0"/>
          </a:p>
        </p:txBody>
      </p:sp>
      <p:sp>
        <p:nvSpPr>
          <p:cNvPr id="25" name="Slide Number Placeholder 0"/>
          <p:cNvSpPr>
            <a:spLocks noGrp="1"/>
          </p:cNvSpPr>
          <p:nvPr>
            <p:ph type="sldNum" sz="quarter" idx="4294967295"/>
          </p:nvPr>
        </p:nvSpPr>
        <p:spPr>
          <a:xfrm>
            <a:off x="114300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822960" y="2011680"/>
            <a:ext cx="9144000" cy="365760"/>
          </a:xfrm>
          <a:prstGeom prst="rect">
            <a:avLst/>
          </a:prstGeom>
          <a:noFill/>
          <a:ln/>
        </p:spPr>
        <p:txBody>
          <a:bodyPr wrap="square" lIns="0" tIns="0" rIns="0" bIns="0" rtlCol="0" anchor="ctr"/>
          <a:lstStyle/>
          <a:p>
            <a:pPr algn="l" indent="0" marL="0">
              <a:buNone/>
            </a:pPr>
            <a:r>
              <a:rPr lang="en-US" sz="1400" b="1" spc="200" kern="0" dirty="0">
                <a:solidFill>
                  <a:schemeClr val="accent1"/>
                </a:solidFill>
                <a:latin typeface="Calibri" pitchFamily="34" charset="0"/>
                <a:ea typeface="Calibri" pitchFamily="34" charset="-122"/>
                <a:cs typeface="Calibri" pitchFamily="34" charset="-120"/>
              </a:rPr>
              <a:t>01 · REST API INTEGRATION</a:t>
            </a:r>
            <a:endParaRPr lang="en-US" sz="1400" dirty="0"/>
          </a:p>
        </p:txBody>
      </p:sp>
      <p:sp>
        <p:nvSpPr>
          <p:cNvPr id="3" name="Text 0"/>
          <p:cNvSpPr/>
          <p:nvPr>
            <p:ph idx="100" type="title" hasCustomPrompt="1"/>
          </p:nvPr>
        </p:nvSpPr>
        <p:spPr>
          <a:xfrm>
            <a:off x="822960" y="2743200"/>
            <a:ext cx="10515600" cy="1463040"/>
          </a:xfrm>
          <a:prstGeom prst="rect">
            <a:avLst/>
          </a:prstGeom>
          <a:noFill/>
          <a:ln/>
        </p:spPr>
        <p:txBody>
          <a:bodyPr wrap="square" rtlCol="0"/>
          <a:lstStyle/>
          <a:p>
            <a:pPr algn="l" indent="0" marL="0">
              <a:buNone/>
            </a:pPr>
            <a:r>
              <a:rPr lang="en-US" sz="4000" b="1" dirty="0">
                <a:solidFill>
                  <a:schemeClr val="bg1"/>
                </a:solidFill>
                <a:latin typeface="Cambria" pitchFamily="34" charset="0"/>
                <a:ea typeface="Cambria" pitchFamily="34" charset="-122"/>
                <a:cs typeface="Cambria" pitchFamily="34" charset="-120"/>
              </a:rPr>
              <a:t>Talking to ServiceNow over REST</a:t>
            </a:r>
            <a:endParaRPr lang="en-US" sz="4000" dirty="0"/>
          </a:p>
        </p:txBody>
      </p:sp>
      <p:sp>
        <p:nvSpPr>
          <p:cNvPr id="4" name="Text 0"/>
          <p:cNvSpPr/>
          <p:nvPr>
            <p:ph idx="101" type="body" hasCustomPrompt="1"/>
          </p:nvPr>
        </p:nvSpPr>
        <p:spPr>
          <a:xfrm>
            <a:off x="822960" y="4160520"/>
            <a:ext cx="9601200" cy="1097280"/>
          </a:xfrm>
          <a:prstGeom prst="rect">
            <a:avLst/>
          </a:prstGeom>
          <a:noFill/>
          <a:ln/>
        </p:spPr>
        <p:txBody>
          <a:bodyPr wrap="square" rtlCol="0"/>
          <a:lstStyle/>
          <a:p>
            <a:pPr algn="l" indent="0" marL="0">
              <a:buNone/>
            </a:pPr>
            <a:r>
              <a:rPr lang="en-US" sz="1600" dirty="0">
                <a:solidFill>
                  <a:srgbClr val="AEB8C9"/>
                </a:solidFill>
                <a:latin typeface="Calibri" pitchFamily="34" charset="0"/>
                <a:ea typeface="Calibri" pitchFamily="34" charset="-122"/>
                <a:cs typeface="Calibri" pitchFamily="34" charset="-120"/>
              </a:rPr>
              <a:t>Every incident the workflow sees comes through one HTTP endpoint, and the test data was created through that same endpoint.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320040"/>
          </a:xfrm>
          <a:prstGeom prst="rect">
            <a:avLst/>
          </a:prstGeom>
          <a:noFill/>
          <a:ln/>
        </p:spPr>
        <p:txBody>
          <a:bodyPr wrap="square" rtlCol="0"/>
          <a:lstStyle/>
          <a:p>
            <a:pPr algn="l" indent="0" marL="0">
              <a:buNone/>
            </a:pPr>
            <a:r>
              <a:rPr lang="en-US" sz="1300" b="1" spc="200" kern="0" dirty="0">
                <a:solidFill>
                  <a:schemeClr val="accent2"/>
                </a:solidFill>
                <a:latin typeface="Calibri" pitchFamily="34" charset="0"/>
                <a:ea typeface="Calibri" pitchFamily="34" charset="-122"/>
                <a:cs typeface="Calibri" pitchFamily="34" charset="-120"/>
              </a:rPr>
              <a:t>REST API</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rtlCol="0"/>
          <a:lstStyle/>
          <a:p>
            <a:pPr algn="l" indent="0" marL="0">
              <a:buNone/>
            </a:pPr>
            <a:r>
              <a:rPr lang="en-US" sz="3200" b="1" dirty="0">
                <a:solidFill>
                  <a:schemeClr val="tx1"/>
                </a:solidFill>
                <a:latin typeface="Cambria" pitchFamily="34" charset="0"/>
                <a:ea typeface="Cambria" pitchFamily="34" charset="-122"/>
                <a:cs typeface="Cambria" pitchFamily="34" charset="-120"/>
              </a:rPr>
              <a:t>Retrieving incidents: GET</a:t>
            </a:r>
            <a:endParaRPr lang="en-US" sz="3200" dirty="0"/>
          </a:p>
        </p:txBody>
      </p:sp>
      <p:sp>
        <p:nvSpPr>
          <p:cNvPr id="4" name="Shape 2"/>
          <p:cNvSpPr/>
          <p:nvPr/>
        </p:nvSpPr>
        <p:spPr>
          <a:xfrm>
            <a:off x="548640" y="1600200"/>
            <a:ext cx="11064240" cy="1874520"/>
          </a:xfrm>
          <a:prstGeom prst="roundRect">
            <a:avLst>
              <a:gd name="adj" fmla="val 3415"/>
            </a:avLst>
          </a:prstGeom>
          <a:solidFill>
            <a:schemeClr val="tx2"/>
          </a:solidFill>
          <a:ln/>
        </p:spPr>
      </p:sp>
      <p:sp>
        <p:nvSpPr>
          <p:cNvPr id="5" name="Text 3"/>
          <p:cNvSpPr txBox="1"/>
          <p:nvPr/>
        </p:nvSpPr>
        <p:spPr>
          <a:xfrm>
            <a:off x="822960" y="1828800"/>
            <a:ext cx="10515600" cy="1417320"/>
          </a:xfrm>
          <a:prstGeom prst="rect">
            <a:avLst/>
          </a:prstGeom>
          <a:noFill/>
          <a:ln/>
        </p:spPr>
        <p:txBody>
          <a:bodyPr wrap="square" lIns="0" tIns="0" rIns="0" bIns="0" rtlCol="0" anchor="t"/>
          <a:lstStyle/>
          <a:p>
            <a:pPr algn="l" indent="0" marL="0">
              <a:lnSpc>
                <a:spcPct val="125000"/>
              </a:lnSpc>
              <a:buNone/>
            </a:pPr>
            <a:r>
              <a:rPr lang="en-US" sz="1300" dirty="0">
                <a:solidFill>
                  <a:srgbClr val="7DD3C0"/>
                </a:solidFill>
                <a:latin typeface="Courier New" pitchFamily="34" charset="0"/>
                <a:ea typeface="Courier New" pitchFamily="34" charset="-122"/>
                <a:cs typeface="Courier New" pitchFamily="34" charset="-120"/>
              </a:rPr>
              <a:t>GET https://dev353134.service-now.com/api/now/table/incident</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  ?sysparm_query=stateNOT IN6,7,8^ORDERBYDESCsys_updated_on</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  &amp;sysparm_fields=sys_id,number,priority,state,short_description,...</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  &amp;sysparm_display_value=all</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  &amp;sysparm_limit=200</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Header: Authorization: Basic &lt;base64 of user:pass&gt;</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611880"/>
          <a:ext cx="11064240" cy="2103120"/>
        </p:xfrm>
        <a:graphic>
          <a:graphicData uri="http://schemas.openxmlformats.org/drawingml/2006/table">
            <a:tbl>
              <a:tblPr/>
              <a:tblGrid>
                <a:gridCol w="2834640"/>
                <a:gridCol w="3108960"/>
                <a:gridCol w="5120640"/>
              </a:tblGrid>
              <a:tr h="420624">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Query parameter</a:t>
                      </a:r>
                      <a:endParaRPr lang="en-US" sz="12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Value used</a:t>
                      </a:r>
                      <a:endParaRPr lang="en-US" sz="12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Why</a:t>
                      </a:r>
                      <a:endParaRPr lang="en-US" sz="12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tx1"/>
                    </a:solidFill>
                  </a:tcPr>
                </a:tc>
              </a:tr>
              <a:tr h="420624">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sysparm_query</a:t>
                      </a:r>
                      <a:endParaRPr lang="en-US" sz="1250" dirty="0">
                        <a:latin typeface="Courier New" charset="0"/>
                        <a:ea typeface="Courier New" charset="0"/>
                        <a:cs typeface="Courier New"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stateNOT IN6,7,8</a:t>
                      </a:r>
                      <a:endParaRPr lang="en-US" sz="1100" dirty="0">
                        <a:latin typeface="Courier New" charset="0"/>
                        <a:ea typeface="Courier New" charset="0"/>
                        <a:cs typeface="Courier New"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Exclude resolved / closed / cancelled incidents</a:t>
                      </a:r>
                      <a:endParaRPr lang="en-US" sz="12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r>
              <a:tr h="420624">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sysparm_fields</a:t>
                      </a:r>
                      <a:endParaRPr lang="en-US" sz="1250" dirty="0">
                        <a:latin typeface="Courier New" charset="0"/>
                        <a:ea typeface="Courier New" charset="0"/>
                        <a:cs typeface="Courier New"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number, priority, state, ...</a:t>
                      </a:r>
                      <a:endParaRPr lang="en-US" sz="12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Only the columns the workflow needs: smaller, faster response</a:t>
                      </a:r>
                      <a:endParaRPr lang="en-US" sz="12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r>
              <a:tr h="420624">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sysparm_display_value</a:t>
                      </a:r>
                      <a:endParaRPr lang="en-US" sz="1250" dirty="0">
                        <a:latin typeface="Courier New" charset="0"/>
                        <a:ea typeface="Courier New" charset="0"/>
                        <a:cs typeface="Courier New"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all</a:t>
                      </a:r>
                      <a:endParaRPr lang="en-US" sz="1250" dirty="0">
                        <a:latin typeface="Courier New" charset="0"/>
                        <a:ea typeface="Courier New" charset="0"/>
                        <a:cs typeface="Courier New"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Return both the raw value and the human label for choice fields</a:t>
                      </a:r>
                      <a:endParaRPr lang="en-US" sz="12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r>
              <a:tr h="420624">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sysparm_limit</a:t>
                      </a:r>
                      <a:endParaRPr lang="en-US" sz="1250" dirty="0">
                        <a:latin typeface="Courier New" charset="0"/>
                        <a:ea typeface="Courier New" charset="0"/>
                        <a:cs typeface="Courier New"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200</a:t>
                      </a:r>
                      <a:endParaRPr lang="en-US" sz="1250" dirty="0">
                        <a:latin typeface="Courier New" charset="0"/>
                        <a:ea typeface="Courier New" charset="0"/>
                        <a:cs typeface="Courier New"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250" dirty="0">
                          <a:solidFill>
                            <a:schemeClr val="tx1"/>
                          </a:solidFill>
                          <a:latin typeface="Calibri" pitchFamily="34" charset="0"/>
                          <a:ea typeface="Calibri" pitchFamily="34" charset="-122"/>
                          <a:cs typeface="Calibri" pitchFamily="34" charset="-120"/>
                        </a:rPr>
                        <a:t>Caps how many incidents come back in one call</a:t>
                      </a:r>
                      <a:endParaRPr lang="en-US" sz="12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r>
            </a:tbl>
          </a:graphicData>
        </a:graphic>
      </p:graphicFrame>
      <p:sp>
        <p:nvSpPr>
          <p:cNvPr id="7" name="Text 4"/>
          <p:cNvSpPr txBox="1"/>
          <p:nvPr/>
        </p:nvSpPr>
        <p:spPr>
          <a:xfrm>
            <a:off x="548640" y="5806440"/>
            <a:ext cx="11064240" cy="457200"/>
          </a:xfrm>
          <a:prstGeom prst="rect">
            <a:avLst/>
          </a:prstGeom>
          <a:noFill/>
          <a:ln/>
        </p:spPr>
        <p:txBody>
          <a:bodyPr wrap="square" lIns="0" tIns="0" rIns="0" bIns="0" rtlCol="0" anchor="ctr"/>
          <a:lstStyle/>
          <a:p>
            <a:pPr algn="l" indent="0" marL="0">
              <a:lnSpc>
                <a:spcPct val="125000"/>
              </a:lnSpc>
              <a:buNone/>
            </a:pPr>
            <a:r>
              <a:rPr lang="en-US" sz="1250" i="1" dirty="0">
                <a:solidFill>
                  <a:schemeClr val="accent4"/>
                </a:solidFill>
                <a:latin typeface="Calibri" pitchFamily="34" charset="0"/>
                <a:ea typeface="Calibri" pitchFamily="34" charset="-122"/>
                <a:cs typeface="Calibri" pitchFamily="34" charset="-120"/>
              </a:rPr>
              <a:t>The response is JSON: an array of incident objects under result. That array is what Split Incidents turns into one n8n item per incident.</a:t>
            </a:r>
            <a:endParaRPr lang="en-US" sz="1250" dirty="0"/>
          </a:p>
        </p:txBody>
      </p:sp>
      <p:sp>
        <p:nvSpPr>
          <p:cNvPr id="25" name="Slide Number Placeholder 0"/>
          <p:cNvSpPr>
            <a:spLocks noGrp="1"/>
          </p:cNvSpPr>
          <p:nvPr>
            <p:ph type="sldNum" sz="quarter" idx="4294967295"/>
          </p:nvPr>
        </p:nvSpPr>
        <p:spPr>
          <a:xfrm>
            <a:off x="114300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320040"/>
          </a:xfrm>
          <a:prstGeom prst="rect">
            <a:avLst/>
          </a:prstGeom>
          <a:noFill/>
          <a:ln/>
        </p:spPr>
        <p:txBody>
          <a:bodyPr wrap="square" rtlCol="0"/>
          <a:lstStyle/>
          <a:p>
            <a:pPr algn="l" indent="0" marL="0">
              <a:buNone/>
            </a:pPr>
            <a:r>
              <a:rPr lang="en-US" sz="1300" b="1" spc="200" kern="0" dirty="0">
                <a:solidFill>
                  <a:schemeClr val="accent2"/>
                </a:solidFill>
                <a:latin typeface="Calibri" pitchFamily="34" charset="0"/>
                <a:ea typeface="Calibri" pitchFamily="34" charset="-122"/>
                <a:cs typeface="Calibri" pitchFamily="34" charset="-120"/>
              </a:rPr>
              <a:t>REST API</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rtlCol="0"/>
          <a:lstStyle/>
          <a:p>
            <a:pPr algn="l" indent="0" marL="0">
              <a:buNone/>
            </a:pPr>
            <a:r>
              <a:rPr lang="en-US" sz="3200" b="1" dirty="0">
                <a:solidFill>
                  <a:schemeClr val="tx1"/>
                </a:solidFill>
                <a:latin typeface="Cambria" pitchFamily="34" charset="0"/>
                <a:ea typeface="Cambria" pitchFamily="34" charset="-122"/>
                <a:cs typeface="Cambria" pitchFamily="34" charset="-120"/>
              </a:rPr>
              <a:t>Creating incidents: POST</a:t>
            </a:r>
            <a:endParaRPr lang="en-US" sz="3200" dirty="0"/>
          </a:p>
        </p:txBody>
      </p:sp>
      <p:sp>
        <p:nvSpPr>
          <p:cNvPr id="4" name="Text 2"/>
          <p:cNvSpPr txBox="1"/>
          <p:nvPr/>
        </p:nvSpPr>
        <p:spPr>
          <a:xfrm>
            <a:off x="548640" y="1691640"/>
            <a:ext cx="11064240" cy="457200"/>
          </a:xfrm>
          <a:prstGeom prst="rect">
            <a:avLst/>
          </a:prstGeom>
          <a:noFill/>
          <a:ln/>
        </p:spPr>
        <p:txBody>
          <a:bodyPr wrap="square" lIns="0" tIns="0" rIns="0" bIns="0" rtlCol="0" anchor="ctr"/>
          <a:lstStyle/>
          <a:p>
            <a:pPr algn="l" indent="0" marL="0">
              <a:lnSpc>
                <a:spcPct val="125000"/>
              </a:lnSpc>
              <a:buNone/>
            </a:pPr>
            <a:r>
              <a:rPr lang="en-US" sz="1400" dirty="0">
                <a:solidFill>
                  <a:schemeClr val="accent6"/>
                </a:solidFill>
                <a:latin typeface="Calibri" pitchFamily="34" charset="0"/>
                <a:ea typeface="Calibri" pitchFamily="34" charset="-122"/>
                <a:cs typeface="Calibri" pitchFamily="34" charset="-120"/>
              </a:rPr>
              <a:t>Same endpoint, same Basic Auth, only the HTTP verb and the body change. Our test incidents were created this way.</a:t>
            </a:r>
            <a:endParaRPr lang="en-US" sz="1400" dirty="0"/>
          </a:p>
        </p:txBody>
      </p:sp>
      <p:sp>
        <p:nvSpPr>
          <p:cNvPr id="5" name="Shape 3"/>
          <p:cNvSpPr/>
          <p:nvPr/>
        </p:nvSpPr>
        <p:spPr>
          <a:xfrm>
            <a:off x="548640" y="2240280"/>
            <a:ext cx="11064240" cy="1828800"/>
          </a:xfrm>
          <a:prstGeom prst="roundRect">
            <a:avLst>
              <a:gd name="adj" fmla="val 3500"/>
            </a:avLst>
          </a:prstGeom>
          <a:solidFill>
            <a:schemeClr val="tx2"/>
          </a:solidFill>
          <a:ln/>
        </p:spPr>
      </p:sp>
      <p:sp>
        <p:nvSpPr>
          <p:cNvPr id="6" name="Text 4"/>
          <p:cNvSpPr txBox="1"/>
          <p:nvPr/>
        </p:nvSpPr>
        <p:spPr>
          <a:xfrm>
            <a:off x="822960" y="2468880"/>
            <a:ext cx="10515600" cy="1371600"/>
          </a:xfrm>
          <a:prstGeom prst="rect">
            <a:avLst/>
          </a:prstGeom>
          <a:noFill/>
          <a:ln/>
        </p:spPr>
        <p:txBody>
          <a:bodyPr wrap="square" lIns="0" tIns="0" rIns="0" bIns="0" rtlCol="0" anchor="t"/>
          <a:lstStyle/>
          <a:p>
            <a:pPr algn="l" indent="0" marL="0">
              <a:lnSpc>
                <a:spcPct val="125000"/>
              </a:lnSpc>
              <a:buNone/>
            </a:pPr>
            <a:r>
              <a:rPr lang="en-US" sz="1300" dirty="0">
                <a:solidFill>
                  <a:srgbClr val="7DD3C0"/>
                </a:solidFill>
                <a:latin typeface="Courier New" pitchFamily="34" charset="0"/>
                <a:ea typeface="Courier New" pitchFamily="34" charset="-122"/>
                <a:cs typeface="Courier New" pitchFamily="34" charset="-120"/>
              </a:rPr>
              <a:t>POST https://dev353134.service-now.com/api/now/table/incident</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  "short_description": "Production application unavailable",</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  "urgency": "1",</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  "impact": "1"</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a:t>
            </a:r>
            <a:endParaRPr lang="en-US" sz="1300" dirty="0"/>
          </a:p>
        </p:txBody>
      </p:sp>
      <p:sp>
        <p:nvSpPr>
          <p:cNvPr id="7" name="Shape 5"/>
          <p:cNvSpPr/>
          <p:nvPr/>
        </p:nvSpPr>
        <p:spPr>
          <a:xfrm>
            <a:off x="548640" y="4251960"/>
            <a:ext cx="11064240" cy="1097280"/>
          </a:xfrm>
          <a:prstGeom prst="roundRect">
            <a:avLst>
              <a:gd name="adj" fmla="val 6667"/>
            </a:avLst>
          </a:prstGeom>
          <a:solidFill>
            <a:schemeClr val="tx2"/>
          </a:solidFill>
          <a:ln/>
          <a:effectLst>
            <a:outerShdw sx="100000" sy="100000" kx="0" ky="0" algn="bl" rotWithShape="0" blurRad="127000" dist="38100" dir="5400000">
              <a:srgbClr val="1A1F2B">
                <a:alpha val="18000"/>
              </a:srgbClr>
            </a:outerShdw>
          </a:effectLst>
        </p:spPr>
      </p:sp>
      <p:sp>
        <p:nvSpPr>
          <p:cNvPr id="8" name="Text 6"/>
          <p:cNvSpPr txBox="1"/>
          <p:nvPr/>
        </p:nvSpPr>
        <p:spPr>
          <a:xfrm>
            <a:off x="822960" y="4407408"/>
            <a:ext cx="10515600" cy="320040"/>
          </a:xfrm>
          <a:prstGeom prst="rect">
            <a:avLst/>
          </a:prstGeom>
          <a:noFill/>
          <a:ln/>
        </p:spPr>
        <p:txBody>
          <a:bodyPr wrap="square" lIns="0" tIns="0" rIns="0" bIns="0" rtlCol="0" anchor="ctr"/>
          <a:lstStyle/>
          <a:p>
            <a:pPr algn="l" indent="0" marL="0">
              <a:buNone/>
            </a:pPr>
            <a:r>
              <a:rPr lang="en-US" sz="1400" b="1" dirty="0">
                <a:solidFill>
                  <a:schemeClr val="accent1"/>
                </a:solidFill>
                <a:latin typeface="Calibri" pitchFamily="34" charset="0"/>
                <a:ea typeface="Calibri" pitchFamily="34" charset="-122"/>
                <a:cs typeface="Calibri" pitchFamily="34" charset="-120"/>
              </a:rPr>
              <a:t>Priority isn’t a field you set directly</a:t>
            </a:r>
            <a:endParaRPr lang="en-US" sz="1400" dirty="0"/>
          </a:p>
        </p:txBody>
      </p:sp>
      <p:sp>
        <p:nvSpPr>
          <p:cNvPr id="9" name="Text 7"/>
          <p:cNvSpPr txBox="1"/>
          <p:nvPr/>
        </p:nvSpPr>
        <p:spPr>
          <a:xfrm>
            <a:off x="822960" y="4773168"/>
            <a:ext cx="10515600" cy="502920"/>
          </a:xfrm>
          <a:prstGeom prst="rect">
            <a:avLst/>
          </a:prstGeom>
          <a:noFill/>
          <a:ln/>
        </p:spPr>
        <p:txBody>
          <a:bodyPr wrap="square" lIns="0" tIns="0" rIns="0" bIns="0" rtlCol="0" anchor="ctr"/>
          <a:lstStyle/>
          <a:p>
            <a:pPr algn="l" indent="0" marL="0">
              <a:lnSpc>
                <a:spcPct val="125000"/>
              </a:lnSpc>
              <a:buNone/>
            </a:pPr>
            <a:r>
              <a:rPr lang="en-US" sz="1250" dirty="0">
                <a:solidFill>
                  <a:srgbClr val="E5E9F0"/>
                </a:solidFill>
                <a:latin typeface="Calibri" pitchFamily="34" charset="0"/>
                <a:ea typeface="Calibri" pitchFamily="34" charset="-122"/>
                <a:cs typeface="Calibri" pitchFamily="34" charset="-120"/>
              </a:rPr>
              <a:t>ServiceNow calculates it from Impact × Urgency via its own matrix. impact=1, urgency=1 → priority 1 (Critical). impact=1, urgency=2 → priority 2 (High). Sending “priority” directly in the body is silently ignored.</a:t>
            </a:r>
            <a:endParaRPr lang="en-US" sz="1250" dirty="0"/>
          </a:p>
        </p:txBody>
      </p:sp>
      <p:sp>
        <p:nvSpPr>
          <p:cNvPr id="10" name="Text 8"/>
          <p:cNvSpPr txBox="1"/>
          <p:nvPr/>
        </p:nvSpPr>
        <p:spPr>
          <a:xfrm>
            <a:off x="548640" y="5532120"/>
            <a:ext cx="11064240" cy="548640"/>
          </a:xfrm>
          <a:prstGeom prst="rect">
            <a:avLst/>
          </a:prstGeom>
          <a:noFill/>
          <a:ln/>
        </p:spPr>
        <p:txBody>
          <a:bodyPr wrap="square" lIns="0" tIns="0" rIns="0" bIns="0" rtlCol="0" anchor="ctr"/>
          <a:lstStyle/>
          <a:p>
            <a:pPr algn="l" indent="0" marL="0">
              <a:lnSpc>
                <a:spcPct val="130000"/>
              </a:lnSpc>
              <a:buNone/>
            </a:pPr>
            <a:r>
              <a:rPr lang="en-US" sz="1250" i="1" dirty="0">
                <a:solidFill>
                  <a:schemeClr val="accent4"/>
                </a:solidFill>
                <a:latin typeface="Calibri" pitchFamily="34" charset="0"/>
                <a:ea typeface="Calibri" pitchFamily="34" charset="-122"/>
                <a:cs typeface="Calibri" pitchFamily="34" charset="-120"/>
              </a:rPr>
              <a:t>Resolving a test incident is a second call: PATCH the same record with state=6 and a valid close_code (looked up from that instance's own choice list via /api/now/table/sys_choice).</a:t>
            </a:r>
            <a:endParaRPr lang="en-US" sz="1250" dirty="0"/>
          </a:p>
        </p:txBody>
      </p:sp>
      <p:sp>
        <p:nvSpPr>
          <p:cNvPr id="25" name="Slide Number Placeholder 0"/>
          <p:cNvSpPr>
            <a:spLocks noGrp="1"/>
          </p:cNvSpPr>
          <p:nvPr>
            <p:ph type="sldNum" sz="quarter" idx="4294967295"/>
          </p:nvPr>
        </p:nvSpPr>
        <p:spPr>
          <a:xfrm>
            <a:off x="114300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822960" y="2011680"/>
            <a:ext cx="9144000" cy="365760"/>
          </a:xfrm>
          <a:prstGeom prst="rect">
            <a:avLst/>
          </a:prstGeom>
          <a:noFill/>
          <a:ln/>
        </p:spPr>
        <p:txBody>
          <a:bodyPr wrap="square" lIns="0" tIns="0" rIns="0" bIns="0" rtlCol="0" anchor="ctr"/>
          <a:lstStyle/>
          <a:p>
            <a:pPr algn="l" indent="0" marL="0">
              <a:buNone/>
            </a:pPr>
            <a:r>
              <a:rPr lang="en-US" sz="1400" b="1" spc="200" kern="0" dirty="0">
                <a:solidFill>
                  <a:schemeClr val="accent1"/>
                </a:solidFill>
                <a:latin typeface="Calibri" pitchFamily="34" charset="0"/>
                <a:ea typeface="Calibri" pitchFamily="34" charset="-122"/>
                <a:cs typeface="Calibri" pitchFamily="34" charset="-120"/>
              </a:rPr>
              <a:t>02 · RELIABILITY ENGINEERING</a:t>
            </a:r>
            <a:endParaRPr lang="en-US" sz="1400" dirty="0"/>
          </a:p>
        </p:txBody>
      </p:sp>
      <p:sp>
        <p:nvSpPr>
          <p:cNvPr id="3" name="Text 0"/>
          <p:cNvSpPr/>
          <p:nvPr>
            <p:ph idx="100" type="title" hasCustomPrompt="1"/>
          </p:nvPr>
        </p:nvSpPr>
        <p:spPr>
          <a:xfrm>
            <a:off x="822960" y="2743200"/>
            <a:ext cx="10515600" cy="1463040"/>
          </a:xfrm>
          <a:prstGeom prst="rect">
            <a:avLst/>
          </a:prstGeom>
          <a:noFill/>
          <a:ln/>
        </p:spPr>
        <p:txBody>
          <a:bodyPr wrap="square" rtlCol="0"/>
          <a:lstStyle/>
          <a:p>
            <a:pPr algn="l" indent="0" marL="0">
              <a:buNone/>
            </a:pPr>
            <a:r>
              <a:rPr lang="en-US" sz="4000" b="1" dirty="0">
                <a:solidFill>
                  <a:schemeClr val="bg1"/>
                </a:solidFill>
                <a:latin typeface="Cambria" pitchFamily="34" charset="0"/>
                <a:ea typeface="Cambria" pitchFamily="34" charset="-122"/>
                <a:cs typeface="Cambria" pitchFamily="34" charset="-120"/>
              </a:rPr>
              <a:t>Reminders, dedup, and crash-safe delivery</a:t>
            </a:r>
            <a:endParaRPr lang="en-US" sz="4000" dirty="0"/>
          </a:p>
        </p:txBody>
      </p:sp>
      <p:sp>
        <p:nvSpPr>
          <p:cNvPr id="4" name="Text 0"/>
          <p:cNvSpPr/>
          <p:nvPr>
            <p:ph idx="101" type="body" hasCustomPrompt="1"/>
          </p:nvPr>
        </p:nvSpPr>
        <p:spPr>
          <a:xfrm>
            <a:off x="822960" y="4160520"/>
            <a:ext cx="9601200" cy="1097280"/>
          </a:xfrm>
          <a:prstGeom prst="rect">
            <a:avLst/>
          </a:prstGeom>
          <a:noFill/>
          <a:ln/>
        </p:spPr>
        <p:txBody>
          <a:bodyPr wrap="square" rtlCol="0"/>
          <a:lstStyle/>
          <a:p>
            <a:pPr algn="l" indent="0" marL="0">
              <a:buNone/>
            </a:pPr>
            <a:r>
              <a:rPr lang="en-US" sz="1600" dirty="0">
                <a:solidFill>
                  <a:srgbClr val="AEB8C9"/>
                </a:solidFill>
                <a:latin typeface="Calibri" pitchFamily="34" charset="0"/>
                <a:ea typeface="Calibri" pitchFamily="34" charset="-122"/>
                <a:cs typeface="Calibri" pitchFamily="34" charset="-120"/>
              </a:rPr>
              <a:t>How the workflow avoids two failure modes: forgetting an incident that stays critical, and duplicating an alert if it crashes mid-send.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320040"/>
          </a:xfrm>
          <a:prstGeom prst="rect">
            <a:avLst/>
          </a:prstGeom>
          <a:noFill/>
          <a:ln/>
        </p:spPr>
        <p:txBody>
          <a:bodyPr wrap="square" rtlCol="0"/>
          <a:lstStyle/>
          <a:p>
            <a:pPr algn="l" indent="0" marL="0">
              <a:buNone/>
            </a:pPr>
            <a:r>
              <a:rPr lang="en-US" sz="1300" b="1" spc="200" kern="0" dirty="0">
                <a:solidFill>
                  <a:schemeClr val="accent2"/>
                </a:solidFill>
                <a:latin typeface="Calibri" pitchFamily="34" charset="0"/>
                <a:ea typeface="Calibri" pitchFamily="34" charset="-122"/>
                <a:cs typeface="Calibri" pitchFamily="34" charset="-120"/>
              </a:rPr>
              <a:t>THE PROBLEM</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rtlCol="0"/>
          <a:lstStyle/>
          <a:p>
            <a:pPr algn="l" indent="0" marL="0">
              <a:buNone/>
            </a:pPr>
            <a:r>
              <a:rPr lang="en-US" sz="3200" b="1" dirty="0">
                <a:solidFill>
                  <a:schemeClr val="tx1"/>
                </a:solidFill>
                <a:latin typeface="Cambria" pitchFamily="34" charset="0"/>
                <a:ea typeface="Cambria" pitchFamily="34" charset="-122"/>
                <a:cs typeface="Cambria" pitchFamily="34" charset="-120"/>
              </a:rPr>
              <a:t>Send-then-save can duplicate an alert</a:t>
            </a:r>
            <a:endParaRPr lang="en-US" sz="3200" dirty="0"/>
          </a:p>
        </p:txBody>
      </p:sp>
      <p:sp>
        <p:nvSpPr>
          <p:cNvPr id="4" name="Text 2"/>
          <p:cNvSpPr txBox="1"/>
          <p:nvPr/>
        </p:nvSpPr>
        <p:spPr>
          <a:xfrm>
            <a:off x="548640" y="1691640"/>
            <a:ext cx="11064240" cy="822960"/>
          </a:xfrm>
          <a:prstGeom prst="rect">
            <a:avLst/>
          </a:prstGeom>
          <a:noFill/>
          <a:ln/>
        </p:spPr>
        <p:txBody>
          <a:bodyPr wrap="square" lIns="0" tIns="0" rIns="0" bIns="0" rtlCol="0" anchor="ctr"/>
          <a:lstStyle/>
          <a:p>
            <a:pPr algn="l" indent="0" marL="0">
              <a:lnSpc>
                <a:spcPct val="130000"/>
              </a:lnSpc>
              <a:buNone/>
            </a:pPr>
            <a:r>
              <a:rPr lang="en-US" sz="1500" dirty="0">
                <a:solidFill>
                  <a:schemeClr val="accent6"/>
                </a:solidFill>
                <a:latin typeface="Calibri" pitchFamily="34" charset="0"/>
                <a:ea typeface="Calibri" pitchFamily="34" charset="-122"/>
                <a:cs typeface="Calibri" pitchFamily="34" charset="-120"/>
              </a:rPr>
              <a:t>A naive design emails the alert first, then records that it was sent. If the workflow crashes or the save step fails in between, the next run has no record of the send, and resends it.</a:t>
            </a:r>
            <a:endParaRPr lang="en-US" sz="1500" dirty="0"/>
          </a:p>
        </p:txBody>
      </p:sp>
      <p:sp>
        <p:nvSpPr>
          <p:cNvPr id="5" name="Shape 3"/>
          <p:cNvSpPr/>
          <p:nvPr/>
        </p:nvSpPr>
        <p:spPr>
          <a:xfrm>
            <a:off x="548640" y="2834640"/>
            <a:ext cx="3291840" cy="1737360"/>
          </a:xfrm>
          <a:prstGeom prst="roundRect">
            <a:avLst>
              <a:gd name="adj" fmla="val 4211"/>
            </a:avLst>
          </a:prstGeom>
          <a:solidFill>
            <a:schemeClr val="bg1"/>
          </a:solidFill>
          <a:ln w="12700">
            <a:solidFill>
              <a:schemeClr val="accent5"/>
            </a:solidFill>
            <a:prstDash val="solid"/>
          </a:ln>
          <a:effectLst>
            <a:outerShdw sx="100000" sy="100000" kx="0" ky="0" algn="bl" rotWithShape="0" blurRad="127000" dist="38100" dir="5400000">
              <a:srgbClr val="1A1F2B">
                <a:alpha val="18000"/>
              </a:srgbClr>
            </a:outerShdw>
          </a:effectLst>
        </p:spPr>
      </p:sp>
      <p:sp>
        <p:nvSpPr>
          <p:cNvPr id="6" name="Text 4"/>
          <p:cNvSpPr txBox="1"/>
          <p:nvPr/>
        </p:nvSpPr>
        <p:spPr>
          <a:xfrm>
            <a:off x="777240" y="3063240"/>
            <a:ext cx="2834640" cy="411480"/>
          </a:xfrm>
          <a:prstGeom prst="rect">
            <a:avLst/>
          </a:prstGeom>
          <a:noFill/>
          <a:ln/>
        </p:spPr>
        <p:txBody>
          <a:bodyPr wrap="square" lIns="0" tIns="0" rIns="0" bIns="0" rtlCol="0" anchor="ctr"/>
          <a:lstStyle/>
          <a:p>
            <a:pPr algn="l" indent="0" marL="0">
              <a:buNone/>
            </a:pPr>
            <a:r>
              <a:rPr lang="en-US" sz="1600" b="1" dirty="0">
                <a:solidFill>
                  <a:schemeClr val="tx1"/>
                </a:solidFill>
                <a:latin typeface="Cambria" pitchFamily="34" charset="0"/>
                <a:ea typeface="Cambria" pitchFamily="34" charset="-122"/>
                <a:cs typeface="Cambria" pitchFamily="34" charset="-120"/>
              </a:rPr>
              <a:t>Send email</a:t>
            </a:r>
            <a:endParaRPr lang="en-US" sz="1600" dirty="0"/>
          </a:p>
        </p:txBody>
      </p:sp>
      <p:sp>
        <p:nvSpPr>
          <p:cNvPr id="7" name="Text 5"/>
          <p:cNvSpPr txBox="1"/>
          <p:nvPr/>
        </p:nvSpPr>
        <p:spPr>
          <a:xfrm>
            <a:off x="777240" y="3566160"/>
            <a:ext cx="2834640" cy="822960"/>
          </a:xfrm>
          <a:prstGeom prst="rect">
            <a:avLst/>
          </a:prstGeom>
          <a:noFill/>
          <a:ln/>
        </p:spPr>
        <p:txBody>
          <a:bodyPr wrap="square" lIns="0" tIns="0" rIns="0" bIns="0" rtlCol="0" anchor="ctr"/>
          <a:lstStyle/>
          <a:p>
            <a:pPr algn="l" indent="0" marL="0">
              <a:lnSpc>
                <a:spcPct val="125000"/>
              </a:lnSpc>
              <a:buNone/>
            </a:pPr>
            <a:r>
              <a:rPr lang="en-US" sz="1250" dirty="0">
                <a:solidFill>
                  <a:schemeClr val="accent6"/>
                </a:solidFill>
                <a:latin typeface="Calibri" pitchFamily="34" charset="0"/>
                <a:ea typeface="Calibri" pitchFamily="34" charset="-122"/>
                <a:cs typeface="Calibri" pitchFamily="34" charset="-120"/>
              </a:rPr>
              <a:t>INC0010042:critical delivered</a:t>
            </a:r>
            <a:endParaRPr lang="en-US" sz="1250" dirty="0"/>
          </a:p>
        </p:txBody>
      </p:sp>
      <p:sp>
        <p:nvSpPr>
          <p:cNvPr id="8" name="Shape 6"/>
          <p:cNvSpPr/>
          <p:nvPr/>
        </p:nvSpPr>
        <p:spPr>
          <a:xfrm>
            <a:off x="3895344" y="3566160"/>
            <a:ext cx="301752" cy="274320"/>
          </a:xfrm>
          <a:prstGeom prst="rightArrow">
            <a:avLst/>
          </a:prstGeom>
          <a:solidFill>
            <a:schemeClr val="accent4"/>
          </a:solidFill>
          <a:ln/>
        </p:spPr>
      </p:sp>
      <p:sp>
        <p:nvSpPr>
          <p:cNvPr id="9" name="Shape 7"/>
          <p:cNvSpPr/>
          <p:nvPr/>
        </p:nvSpPr>
        <p:spPr>
          <a:xfrm>
            <a:off x="4251960" y="2834640"/>
            <a:ext cx="3291840" cy="1737360"/>
          </a:xfrm>
          <a:prstGeom prst="roundRect">
            <a:avLst>
              <a:gd name="adj" fmla="val 4211"/>
            </a:avLst>
          </a:prstGeom>
          <a:solidFill>
            <a:schemeClr val="bg1"/>
          </a:solidFill>
          <a:ln w="12700">
            <a:solidFill>
              <a:schemeClr val="accent5"/>
            </a:solidFill>
            <a:prstDash val="solid"/>
          </a:ln>
          <a:effectLst>
            <a:outerShdw sx="100000" sy="100000" kx="0" ky="0" algn="bl" rotWithShape="0" blurRad="127000" dist="38100" dir="5400000">
              <a:srgbClr val="1A1F2B">
                <a:alpha val="18000"/>
              </a:srgbClr>
            </a:outerShdw>
          </a:effectLst>
        </p:spPr>
      </p:sp>
      <p:sp>
        <p:nvSpPr>
          <p:cNvPr id="10" name="Text 8"/>
          <p:cNvSpPr txBox="1"/>
          <p:nvPr/>
        </p:nvSpPr>
        <p:spPr>
          <a:xfrm>
            <a:off x="4480560" y="3063240"/>
            <a:ext cx="2834640" cy="411480"/>
          </a:xfrm>
          <a:prstGeom prst="rect">
            <a:avLst/>
          </a:prstGeom>
          <a:noFill/>
          <a:ln/>
        </p:spPr>
        <p:txBody>
          <a:bodyPr wrap="square" lIns="0" tIns="0" rIns="0" bIns="0" rtlCol="0" anchor="ctr"/>
          <a:lstStyle/>
          <a:p>
            <a:pPr algn="l" indent="0" marL="0">
              <a:buNone/>
            </a:pPr>
            <a:r>
              <a:rPr lang="en-US" sz="1600" b="1" dirty="0">
                <a:solidFill>
                  <a:schemeClr val="tx1"/>
                </a:solidFill>
                <a:latin typeface="Cambria" pitchFamily="34" charset="0"/>
                <a:ea typeface="Cambria" pitchFamily="34" charset="-122"/>
                <a:cs typeface="Cambria" pitchFamily="34" charset="-120"/>
              </a:rPr>
              <a:t>⚠ Crash</a:t>
            </a:r>
            <a:endParaRPr lang="en-US" sz="1600" dirty="0"/>
          </a:p>
        </p:txBody>
      </p:sp>
      <p:sp>
        <p:nvSpPr>
          <p:cNvPr id="11" name="Text 9"/>
          <p:cNvSpPr txBox="1"/>
          <p:nvPr/>
        </p:nvSpPr>
        <p:spPr>
          <a:xfrm>
            <a:off x="4480560" y="3566160"/>
            <a:ext cx="2834640" cy="822960"/>
          </a:xfrm>
          <a:prstGeom prst="rect">
            <a:avLst/>
          </a:prstGeom>
          <a:noFill/>
          <a:ln/>
        </p:spPr>
        <p:txBody>
          <a:bodyPr wrap="square" lIns="0" tIns="0" rIns="0" bIns="0" rtlCol="0" anchor="ctr"/>
          <a:lstStyle/>
          <a:p>
            <a:pPr algn="l" indent="0" marL="0">
              <a:lnSpc>
                <a:spcPct val="125000"/>
              </a:lnSpc>
              <a:buNone/>
            </a:pPr>
            <a:r>
              <a:rPr lang="en-US" sz="1250" dirty="0">
                <a:solidFill>
                  <a:schemeClr val="accent6"/>
                </a:solidFill>
                <a:latin typeface="Calibri" pitchFamily="34" charset="0"/>
                <a:ea typeface="Calibri" pitchFamily="34" charset="-122"/>
                <a:cs typeface="Calibri" pitchFamily="34" charset="-120"/>
              </a:rPr>
              <a:t>Workflow dies before saving state</a:t>
            </a:r>
            <a:endParaRPr lang="en-US" sz="1250" dirty="0"/>
          </a:p>
        </p:txBody>
      </p:sp>
      <p:sp>
        <p:nvSpPr>
          <p:cNvPr id="12" name="Shape 10"/>
          <p:cNvSpPr/>
          <p:nvPr/>
        </p:nvSpPr>
        <p:spPr>
          <a:xfrm>
            <a:off x="7598664" y="3566160"/>
            <a:ext cx="301752" cy="274320"/>
          </a:xfrm>
          <a:prstGeom prst="rightArrow">
            <a:avLst/>
          </a:prstGeom>
          <a:solidFill>
            <a:schemeClr val="accent4"/>
          </a:solidFill>
          <a:ln/>
        </p:spPr>
      </p:sp>
      <p:sp>
        <p:nvSpPr>
          <p:cNvPr id="13" name="Shape 11"/>
          <p:cNvSpPr/>
          <p:nvPr/>
        </p:nvSpPr>
        <p:spPr>
          <a:xfrm>
            <a:off x="7955280" y="2834640"/>
            <a:ext cx="3291840" cy="1737360"/>
          </a:xfrm>
          <a:prstGeom prst="roundRect">
            <a:avLst>
              <a:gd name="adj" fmla="val 4211"/>
            </a:avLst>
          </a:prstGeom>
          <a:solidFill>
            <a:schemeClr val="tx2"/>
          </a:solidFill>
          <a:ln/>
          <a:effectLst>
            <a:outerShdw sx="100000" sy="100000" kx="0" ky="0" algn="bl" rotWithShape="0" blurRad="127000" dist="38100" dir="5400000">
              <a:srgbClr val="1A1F2B">
                <a:alpha val="18000"/>
              </a:srgbClr>
            </a:outerShdw>
          </a:effectLst>
        </p:spPr>
      </p:sp>
      <p:sp>
        <p:nvSpPr>
          <p:cNvPr id="14" name="Text 12"/>
          <p:cNvSpPr txBox="1"/>
          <p:nvPr/>
        </p:nvSpPr>
        <p:spPr>
          <a:xfrm>
            <a:off x="8183880" y="3063240"/>
            <a:ext cx="2834640" cy="411480"/>
          </a:xfrm>
          <a:prstGeom prst="rect">
            <a:avLst/>
          </a:prstGeom>
          <a:noFill/>
          <a:ln/>
        </p:spPr>
        <p:txBody>
          <a:bodyPr wrap="square" lIns="0" tIns="0" rIns="0" bIns="0" rtlCol="0" anchor="ctr"/>
          <a:lstStyle/>
          <a:p>
            <a:pPr algn="l" indent="0" marL="0">
              <a:buNone/>
            </a:pPr>
            <a:r>
              <a:rPr lang="en-US" sz="1600" b="1" dirty="0">
                <a:solidFill>
                  <a:srgbClr val="FFFFFF"/>
                </a:solidFill>
                <a:latin typeface="Cambria" pitchFamily="34" charset="0"/>
                <a:ea typeface="Cambria" pitchFamily="34" charset="-122"/>
                <a:cs typeface="Cambria" pitchFamily="34" charset="-120"/>
              </a:rPr>
              <a:t>Next run</a:t>
            </a:r>
            <a:endParaRPr lang="en-US" sz="1600" dirty="0"/>
          </a:p>
        </p:txBody>
      </p:sp>
      <p:sp>
        <p:nvSpPr>
          <p:cNvPr id="15" name="Text 13"/>
          <p:cNvSpPr txBox="1"/>
          <p:nvPr/>
        </p:nvSpPr>
        <p:spPr>
          <a:xfrm>
            <a:off x="8183880" y="3566160"/>
            <a:ext cx="2834640" cy="822960"/>
          </a:xfrm>
          <a:prstGeom prst="rect">
            <a:avLst/>
          </a:prstGeom>
          <a:noFill/>
          <a:ln/>
        </p:spPr>
        <p:txBody>
          <a:bodyPr wrap="square" lIns="0" tIns="0" rIns="0" bIns="0" rtlCol="0" anchor="ctr"/>
          <a:lstStyle/>
          <a:p>
            <a:pPr algn="l" indent="0" marL="0">
              <a:lnSpc>
                <a:spcPct val="125000"/>
              </a:lnSpc>
              <a:buNone/>
            </a:pPr>
            <a:r>
              <a:rPr lang="en-US" sz="1250" dirty="0">
                <a:solidFill>
                  <a:srgbClr val="AEB8C9"/>
                </a:solidFill>
                <a:latin typeface="Calibri" pitchFamily="34" charset="0"/>
                <a:ea typeface="Calibri" pitchFamily="34" charset="-122"/>
                <a:cs typeface="Calibri" pitchFamily="34" charset="-120"/>
              </a:rPr>
              <a:t>No record found → sends again</a:t>
            </a:r>
            <a:endParaRPr lang="en-US" sz="1250" dirty="0"/>
          </a:p>
        </p:txBody>
      </p:sp>
      <p:sp>
        <p:nvSpPr>
          <p:cNvPr id="16" name="Text 14"/>
          <p:cNvSpPr txBox="1"/>
          <p:nvPr/>
        </p:nvSpPr>
        <p:spPr>
          <a:xfrm>
            <a:off x="548640" y="5029200"/>
            <a:ext cx="11064240" cy="457200"/>
          </a:xfrm>
          <a:prstGeom prst="rect">
            <a:avLst/>
          </a:prstGeom>
          <a:noFill/>
          <a:ln/>
        </p:spPr>
        <p:txBody>
          <a:bodyPr wrap="square" lIns="0" tIns="0" rIns="0" bIns="0" rtlCol="0" anchor="ctr"/>
          <a:lstStyle/>
          <a:p>
            <a:pPr algn="l" indent="0" marL="0">
              <a:buNone/>
            </a:pPr>
            <a:r>
              <a:rPr lang="en-US" sz="1300" i="1" dirty="0">
                <a:solidFill>
                  <a:schemeClr val="accent4"/>
                </a:solidFill>
                <a:latin typeface="Calibri" pitchFamily="34" charset="0"/>
                <a:ea typeface="Calibri" pitchFamily="34" charset="-122"/>
                <a:cs typeface="Calibri" pitchFamily="34" charset="-120"/>
              </a:rPr>
              <a:t>Why ordinary SMTP can't fix this: there is no transaction spanning “send an email” and “write a database row.” One of them has to come first.</a:t>
            </a:r>
            <a:endParaRPr lang="en-US" sz="1300" dirty="0"/>
          </a:p>
        </p:txBody>
      </p:sp>
      <p:sp>
        <p:nvSpPr>
          <p:cNvPr id="25" name="Slide Number Placeholder 0"/>
          <p:cNvSpPr>
            <a:spLocks noGrp="1"/>
          </p:cNvSpPr>
          <p:nvPr>
            <p:ph type="sldNum" sz="quarter" idx="4294967295"/>
          </p:nvPr>
        </p:nvSpPr>
        <p:spPr>
          <a:xfrm>
            <a:off x="114300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320040"/>
          </a:xfrm>
          <a:prstGeom prst="rect">
            <a:avLst/>
          </a:prstGeom>
          <a:noFill/>
          <a:ln/>
        </p:spPr>
        <p:txBody>
          <a:bodyPr wrap="square" rtlCol="0"/>
          <a:lstStyle/>
          <a:p>
            <a:pPr algn="l" indent="0" marL="0">
              <a:buNone/>
            </a:pPr>
            <a:r>
              <a:rPr lang="en-US" sz="1300" b="1" spc="200" kern="0" dirty="0">
                <a:solidFill>
                  <a:schemeClr val="accent2"/>
                </a:solidFill>
                <a:latin typeface="Calibri" pitchFamily="34" charset="0"/>
                <a:ea typeface="Calibri" pitchFamily="34" charset="-122"/>
                <a:cs typeface="Calibri" pitchFamily="34" charset="-120"/>
              </a:rPr>
              <a:t>THE FIX</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rtlCol="0"/>
          <a:lstStyle/>
          <a:p>
            <a:pPr algn="l" indent="0" marL="0">
              <a:buNone/>
            </a:pPr>
            <a:r>
              <a:rPr lang="en-US" sz="3200" b="1" dirty="0">
                <a:solidFill>
                  <a:schemeClr val="tx1"/>
                </a:solidFill>
                <a:latin typeface="Cambria" pitchFamily="34" charset="0"/>
                <a:ea typeface="Cambria" pitchFamily="34" charset="-122"/>
                <a:cs typeface="Cambria" pitchFamily="34" charset="-120"/>
              </a:rPr>
              <a:t>Claim before you send</a:t>
            </a:r>
            <a:endParaRPr lang="en-US" sz="3200" dirty="0"/>
          </a:p>
        </p:txBody>
      </p:sp>
      <p:sp>
        <p:nvSpPr>
          <p:cNvPr id="4" name="Shape 2"/>
          <p:cNvSpPr/>
          <p:nvPr/>
        </p:nvSpPr>
        <p:spPr>
          <a:xfrm>
            <a:off x="548640" y="1691640"/>
            <a:ext cx="2606040" cy="502920"/>
          </a:xfrm>
          <a:prstGeom prst="roundRect">
            <a:avLst>
              <a:gd name="adj" fmla="val 49091"/>
            </a:avLst>
          </a:prstGeom>
          <a:solidFill>
            <a:schemeClr val="bg2"/>
          </a:solidFill>
          <a:ln w="12700">
            <a:solidFill>
              <a:schemeClr val="accent5"/>
            </a:solidFill>
            <a:prstDash val="solid"/>
          </a:ln>
        </p:spPr>
      </p:sp>
      <p:sp>
        <p:nvSpPr>
          <p:cNvPr id="5" name="Text 3"/>
          <p:cNvSpPr txBox="1"/>
          <p:nvPr/>
        </p:nvSpPr>
        <p:spPr>
          <a:xfrm>
            <a:off x="548640" y="1691640"/>
            <a:ext cx="2606040" cy="502920"/>
          </a:xfrm>
          <a:prstGeom prst="rect">
            <a:avLst/>
          </a:prstGeom>
          <a:noFill/>
          <a:ln/>
        </p:spPr>
        <p:txBody>
          <a:bodyPr wrap="square" lIns="0" tIns="0" rIns="0" bIns="0" rtlCol="0" anchor="ctr"/>
          <a:lstStyle/>
          <a:p>
            <a:pPr algn="ctr" indent="0" marL="0">
              <a:buNone/>
            </a:pPr>
            <a:r>
              <a:rPr lang="en-US" sz="1250" b="1" dirty="0">
                <a:solidFill>
                  <a:schemeClr val="tx1"/>
                </a:solidFill>
                <a:latin typeface="Calibri" pitchFamily="34" charset="0"/>
                <a:ea typeface="Calibri" pitchFamily="34" charset="-122"/>
                <a:cs typeface="Calibri" pitchFamily="34" charset="-120"/>
              </a:rPr>
              <a:t>1. Look up</a:t>
            </a:r>
            <a:endParaRPr lang="en-US" sz="1250" dirty="0"/>
          </a:p>
        </p:txBody>
      </p:sp>
      <p:sp>
        <p:nvSpPr>
          <p:cNvPr id="6" name="Shape 4"/>
          <p:cNvSpPr/>
          <p:nvPr/>
        </p:nvSpPr>
        <p:spPr>
          <a:xfrm>
            <a:off x="3163824" y="1810512"/>
            <a:ext cx="146304" cy="274320"/>
          </a:xfrm>
          <a:prstGeom prst="rightArrow">
            <a:avLst/>
          </a:prstGeom>
          <a:solidFill>
            <a:schemeClr val="accent4"/>
          </a:solidFill>
          <a:ln/>
        </p:spPr>
      </p:sp>
      <p:sp>
        <p:nvSpPr>
          <p:cNvPr id="7" name="Shape 5"/>
          <p:cNvSpPr/>
          <p:nvPr/>
        </p:nvSpPr>
        <p:spPr>
          <a:xfrm>
            <a:off x="3319272" y="1691640"/>
            <a:ext cx="2606040" cy="502920"/>
          </a:xfrm>
          <a:prstGeom prst="roundRect">
            <a:avLst>
              <a:gd name="adj" fmla="val 49091"/>
            </a:avLst>
          </a:prstGeom>
          <a:solidFill>
            <a:schemeClr val="accent1"/>
          </a:solidFill>
          <a:ln w="12700">
            <a:solidFill>
              <a:schemeClr val="accent5"/>
            </a:solidFill>
            <a:prstDash val="solid"/>
          </a:ln>
        </p:spPr>
      </p:sp>
      <p:sp>
        <p:nvSpPr>
          <p:cNvPr id="8" name="Text 6"/>
          <p:cNvSpPr txBox="1"/>
          <p:nvPr/>
        </p:nvSpPr>
        <p:spPr>
          <a:xfrm>
            <a:off x="3319272" y="1691640"/>
            <a:ext cx="26060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 Claim (pending)</a:t>
            </a:r>
            <a:endParaRPr lang="en-US" sz="1250" dirty="0"/>
          </a:p>
        </p:txBody>
      </p:sp>
      <p:sp>
        <p:nvSpPr>
          <p:cNvPr id="9" name="Shape 7"/>
          <p:cNvSpPr/>
          <p:nvPr/>
        </p:nvSpPr>
        <p:spPr>
          <a:xfrm>
            <a:off x="5934456" y="1810512"/>
            <a:ext cx="146304" cy="274320"/>
          </a:xfrm>
          <a:prstGeom prst="rightArrow">
            <a:avLst/>
          </a:prstGeom>
          <a:solidFill>
            <a:schemeClr val="accent4"/>
          </a:solidFill>
          <a:ln/>
        </p:spPr>
      </p:sp>
      <p:sp>
        <p:nvSpPr>
          <p:cNvPr id="10" name="Shape 8"/>
          <p:cNvSpPr/>
          <p:nvPr/>
        </p:nvSpPr>
        <p:spPr>
          <a:xfrm>
            <a:off x="6089904" y="1691640"/>
            <a:ext cx="2606040" cy="502920"/>
          </a:xfrm>
          <a:prstGeom prst="roundRect">
            <a:avLst>
              <a:gd name="adj" fmla="val 49091"/>
            </a:avLst>
          </a:prstGeom>
          <a:solidFill>
            <a:schemeClr val="bg2"/>
          </a:solidFill>
          <a:ln w="12700">
            <a:solidFill>
              <a:schemeClr val="accent5"/>
            </a:solidFill>
            <a:prstDash val="solid"/>
          </a:ln>
        </p:spPr>
      </p:sp>
      <p:sp>
        <p:nvSpPr>
          <p:cNvPr id="11" name="Text 9"/>
          <p:cNvSpPr txBox="1"/>
          <p:nvPr/>
        </p:nvSpPr>
        <p:spPr>
          <a:xfrm>
            <a:off x="6089904" y="1691640"/>
            <a:ext cx="2606040" cy="502920"/>
          </a:xfrm>
          <a:prstGeom prst="rect">
            <a:avLst/>
          </a:prstGeom>
          <a:noFill/>
          <a:ln/>
        </p:spPr>
        <p:txBody>
          <a:bodyPr wrap="square" lIns="0" tIns="0" rIns="0" bIns="0" rtlCol="0" anchor="ctr"/>
          <a:lstStyle/>
          <a:p>
            <a:pPr algn="ctr" indent="0" marL="0">
              <a:buNone/>
            </a:pPr>
            <a:r>
              <a:rPr lang="en-US" sz="1250" b="1" dirty="0">
                <a:solidFill>
                  <a:schemeClr val="tx1"/>
                </a:solidFill>
                <a:latin typeface="Calibri" pitchFamily="34" charset="0"/>
                <a:ea typeface="Calibri" pitchFamily="34" charset="-122"/>
                <a:cs typeface="Calibri" pitchFamily="34" charset="-120"/>
              </a:rPr>
              <a:t>3. Send</a:t>
            </a:r>
            <a:endParaRPr lang="en-US" sz="1250" dirty="0"/>
          </a:p>
        </p:txBody>
      </p:sp>
      <p:sp>
        <p:nvSpPr>
          <p:cNvPr id="12" name="Shape 10"/>
          <p:cNvSpPr/>
          <p:nvPr/>
        </p:nvSpPr>
        <p:spPr>
          <a:xfrm>
            <a:off x="8705088" y="1810512"/>
            <a:ext cx="146304" cy="274320"/>
          </a:xfrm>
          <a:prstGeom prst="rightArrow">
            <a:avLst/>
          </a:prstGeom>
          <a:solidFill>
            <a:schemeClr val="accent4"/>
          </a:solidFill>
          <a:ln/>
        </p:spPr>
      </p:sp>
      <p:sp>
        <p:nvSpPr>
          <p:cNvPr id="13" name="Shape 11"/>
          <p:cNvSpPr/>
          <p:nvPr/>
        </p:nvSpPr>
        <p:spPr>
          <a:xfrm>
            <a:off x="8860536" y="1691640"/>
            <a:ext cx="2606040" cy="502920"/>
          </a:xfrm>
          <a:prstGeom prst="roundRect">
            <a:avLst>
              <a:gd name="adj" fmla="val 49091"/>
            </a:avLst>
          </a:prstGeom>
          <a:solidFill>
            <a:schemeClr val="bg2"/>
          </a:solidFill>
          <a:ln w="12700">
            <a:solidFill>
              <a:schemeClr val="accent5"/>
            </a:solidFill>
            <a:prstDash val="solid"/>
          </a:ln>
        </p:spPr>
      </p:sp>
      <p:sp>
        <p:nvSpPr>
          <p:cNvPr id="14" name="Text 12"/>
          <p:cNvSpPr txBox="1"/>
          <p:nvPr/>
        </p:nvSpPr>
        <p:spPr>
          <a:xfrm>
            <a:off x="8860536" y="1691640"/>
            <a:ext cx="2606040" cy="502920"/>
          </a:xfrm>
          <a:prstGeom prst="rect">
            <a:avLst/>
          </a:prstGeom>
          <a:noFill/>
          <a:ln/>
        </p:spPr>
        <p:txBody>
          <a:bodyPr wrap="square" lIns="0" tIns="0" rIns="0" bIns="0" rtlCol="0" anchor="ctr"/>
          <a:lstStyle/>
          <a:p>
            <a:pPr algn="ctr" indent="0" marL="0">
              <a:buNone/>
            </a:pPr>
            <a:r>
              <a:rPr lang="en-US" sz="1250" b="1" dirty="0">
                <a:solidFill>
                  <a:schemeClr val="tx1"/>
                </a:solidFill>
                <a:latin typeface="Calibri" pitchFamily="34" charset="0"/>
                <a:ea typeface="Calibri" pitchFamily="34" charset="-122"/>
                <a:cs typeface="Calibri" pitchFamily="34" charset="-120"/>
              </a:rPr>
              <a:t>4. Resolve (sent/failed)</a:t>
            </a:r>
            <a:endParaRPr lang="en-US" sz="1250" dirty="0"/>
          </a:p>
        </p:txBody>
      </p:sp>
      <p:sp>
        <p:nvSpPr>
          <p:cNvPr id="15" name="Shape 13"/>
          <p:cNvSpPr/>
          <p:nvPr/>
        </p:nvSpPr>
        <p:spPr>
          <a:xfrm>
            <a:off x="548640" y="2468880"/>
            <a:ext cx="5760720" cy="3566160"/>
          </a:xfrm>
          <a:prstGeom prst="roundRect">
            <a:avLst>
              <a:gd name="adj" fmla="val 1795"/>
            </a:avLst>
          </a:prstGeom>
          <a:solidFill>
            <a:schemeClr val="tx2"/>
          </a:solidFill>
          <a:ln/>
        </p:spPr>
      </p:sp>
      <p:sp>
        <p:nvSpPr>
          <p:cNvPr id="16" name="Text 14"/>
          <p:cNvSpPr txBox="1"/>
          <p:nvPr/>
        </p:nvSpPr>
        <p:spPr>
          <a:xfrm>
            <a:off x="822960" y="2697480"/>
            <a:ext cx="5212080" cy="3108960"/>
          </a:xfrm>
          <a:prstGeom prst="rect">
            <a:avLst/>
          </a:prstGeom>
          <a:noFill/>
          <a:ln/>
        </p:spPr>
        <p:txBody>
          <a:bodyPr wrap="square" lIns="0" tIns="0" rIns="0" bIns="0" rtlCol="0" anchor="t"/>
          <a:lstStyle/>
          <a:p>
            <a:pPr algn="l" indent="0" marL="0">
              <a:lnSpc>
                <a:spcPct val="125000"/>
              </a:lnSpc>
              <a:buNone/>
            </a:pPr>
            <a:r>
              <a:rPr lang="en-US" sz="1300" dirty="0">
                <a:solidFill>
                  <a:srgbClr val="7DD3C0"/>
                </a:solidFill>
                <a:latin typeface="Courier New" pitchFamily="34" charset="0"/>
                <a:ea typeface="Courier New" pitchFamily="34" charset="-122"/>
                <a:cs typeface="Courier New" pitchFamily="34" charset="-120"/>
              </a:rPr>
              <a:t>// lookup.js: is this key eligible to send?</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if (!rec) eligible = true;</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else if (rec.status === 'pending') eligible = false;</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else if (rec.status === 'failed') eligible = true;</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else if (rec.incident_state !== j.stateValue)</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  eligible = true;              // e.g. reopened</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else if (rec.status === 'sent' &amp;&amp;</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    now - rec.last_notified_at &gt;= intervalMs) {</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  eligible = true; isReminder = true;</a:t>
            </a:r>
            <a:endParaRPr lang="en-US" sz="1300" dirty="0"/>
          </a:p>
          <a:p>
            <a:pPr algn="l" indent="0" marL="0">
              <a:lnSpc>
                <a:spcPct val="125000"/>
              </a:lnSpc>
              <a:buNone/>
            </a:pPr>
            <a:r>
              <a:rPr lang="en-US" sz="1300" dirty="0">
                <a:solidFill>
                  <a:srgbClr val="E5E9F0"/>
                </a:solidFill>
                <a:latin typeface="Courier New" pitchFamily="34" charset="0"/>
                <a:ea typeface="Courier New" pitchFamily="34" charset="-122"/>
                <a:cs typeface="Courier New" pitchFamily="34" charset="-120"/>
              </a:rPr>
              <a:t>}</a:t>
            </a:r>
            <a:endParaRPr lang="en-US" sz="1300" dirty="0"/>
          </a:p>
        </p:txBody>
      </p:sp>
      <p:sp>
        <p:nvSpPr>
          <p:cNvPr id="17" name="Shape 15"/>
          <p:cNvSpPr/>
          <p:nvPr/>
        </p:nvSpPr>
        <p:spPr>
          <a:xfrm>
            <a:off x="6309360" y="2468880"/>
            <a:ext cx="5303520" cy="1600200"/>
          </a:xfrm>
          <a:prstGeom prst="roundRect">
            <a:avLst>
              <a:gd name="adj" fmla="val 4571"/>
            </a:avLst>
          </a:prstGeom>
          <a:solidFill>
            <a:schemeClr val="bg1"/>
          </a:solidFill>
          <a:ln w="12700">
            <a:solidFill>
              <a:schemeClr val="accent5"/>
            </a:solidFill>
            <a:prstDash val="solid"/>
          </a:ln>
          <a:effectLst>
            <a:outerShdw sx="100000" sy="100000" kx="0" ky="0" algn="bl" rotWithShape="0" blurRad="127000" dist="38100" dir="5400000">
              <a:srgbClr val="1A1F2B">
                <a:alpha val="18000"/>
              </a:srgbClr>
            </a:outerShdw>
          </a:effectLst>
        </p:spPr>
      </p:sp>
      <p:sp>
        <p:nvSpPr>
          <p:cNvPr id="18" name="Text 16"/>
          <p:cNvSpPr txBox="1"/>
          <p:nvPr/>
        </p:nvSpPr>
        <p:spPr>
          <a:xfrm>
            <a:off x="6537960" y="2615184"/>
            <a:ext cx="4846320" cy="320040"/>
          </a:xfrm>
          <a:prstGeom prst="rect">
            <a:avLst/>
          </a:prstGeom>
          <a:noFill/>
          <a:ln/>
        </p:spPr>
        <p:txBody>
          <a:bodyPr wrap="square" lIns="0" tIns="0" rIns="0" bIns="0" rtlCol="0" anchor="ctr"/>
          <a:lstStyle/>
          <a:p>
            <a:pPr algn="l" indent="0" marL="0">
              <a:buNone/>
            </a:pPr>
            <a:r>
              <a:rPr lang="en-US" sz="1300" b="1" dirty="0">
                <a:solidFill>
                  <a:schemeClr val="tx1"/>
                </a:solidFill>
                <a:latin typeface="Calibri" pitchFamily="34" charset="0"/>
                <a:ea typeface="Calibri" pitchFamily="34" charset="-122"/>
                <a:cs typeface="Calibri" pitchFamily="34" charset="-120"/>
              </a:rPr>
              <a:t>claim.js: written before the send</a:t>
            </a:r>
            <a:endParaRPr lang="en-US" sz="1300" dirty="0"/>
          </a:p>
        </p:txBody>
      </p:sp>
      <p:sp>
        <p:nvSpPr>
          <p:cNvPr id="19" name="Text 17"/>
          <p:cNvSpPr txBox="1"/>
          <p:nvPr/>
        </p:nvSpPr>
        <p:spPr>
          <a:xfrm>
            <a:off x="6537960" y="2926080"/>
            <a:ext cx="4846320" cy="457200"/>
          </a:xfrm>
          <a:prstGeom prst="rect">
            <a:avLst/>
          </a:prstGeom>
          <a:noFill/>
          <a:ln/>
        </p:spPr>
        <p:txBody>
          <a:bodyPr wrap="square" lIns="0" tIns="0" rIns="0" bIns="0" rtlCol="0" anchor="ctr"/>
          <a:lstStyle/>
          <a:p>
            <a:pPr algn="l" indent="0" marL="0">
              <a:buNone/>
            </a:pPr>
            <a:r>
              <a:rPr lang="en-US" sz="1200" dirty="0">
                <a:solidFill>
                  <a:schemeClr val="accent2"/>
                </a:solidFill>
                <a:latin typeface="Courier New" pitchFamily="34" charset="0"/>
                <a:ea typeface="Courier New" pitchFamily="34" charset="-122"/>
                <a:cs typeface="Courier New" pitchFamily="34" charset="-120"/>
              </a:rPr>
              <a:t>sd.alerts[key] = { status: 'pending', claimed_at: now, incident_state }</a:t>
            </a:r>
            <a:endParaRPr lang="en-US" sz="1200" dirty="0"/>
          </a:p>
        </p:txBody>
      </p:sp>
      <p:sp>
        <p:nvSpPr>
          <p:cNvPr id="20" name="Text 18"/>
          <p:cNvSpPr txBox="1"/>
          <p:nvPr/>
        </p:nvSpPr>
        <p:spPr>
          <a:xfrm>
            <a:off x="6537960" y="3429000"/>
            <a:ext cx="4846320" cy="548640"/>
          </a:xfrm>
          <a:prstGeom prst="rect">
            <a:avLst/>
          </a:prstGeom>
          <a:noFill/>
          <a:ln/>
        </p:spPr>
        <p:txBody>
          <a:bodyPr wrap="square" lIns="0" tIns="0" rIns="0" bIns="0" rtlCol="0" anchor="ctr"/>
          <a:lstStyle/>
          <a:p>
            <a:pPr algn="l" indent="0" marL="0">
              <a:lnSpc>
                <a:spcPct val="125000"/>
              </a:lnSpc>
              <a:buNone/>
            </a:pPr>
            <a:r>
              <a:rPr lang="en-US" sz="1200" dirty="0">
                <a:solidFill>
                  <a:schemeClr val="accent6"/>
                </a:solidFill>
                <a:latin typeface="Calibri" pitchFamily="34" charset="0"/>
                <a:ea typeface="Calibri" pitchFamily="34" charset="-122"/>
                <a:cs typeface="Calibri" pitchFamily="34" charset="-120"/>
              </a:rPr>
              <a:t>This record is what survives a crash. The next run finds it, not silence.</a:t>
            </a:r>
            <a:endParaRPr lang="en-US" sz="1200" dirty="0"/>
          </a:p>
        </p:txBody>
      </p:sp>
      <p:sp>
        <p:nvSpPr>
          <p:cNvPr id="21" name="Shape 19"/>
          <p:cNvSpPr/>
          <p:nvPr/>
        </p:nvSpPr>
        <p:spPr>
          <a:xfrm>
            <a:off x="6309360" y="4343400"/>
            <a:ext cx="5303520" cy="1691640"/>
          </a:xfrm>
          <a:prstGeom prst="roundRect">
            <a:avLst>
              <a:gd name="adj" fmla="val 4324"/>
            </a:avLst>
          </a:prstGeom>
          <a:solidFill>
            <a:schemeClr val="bg1"/>
          </a:solidFill>
          <a:ln w="12700">
            <a:solidFill>
              <a:schemeClr val="accent5"/>
            </a:solidFill>
            <a:prstDash val="solid"/>
          </a:ln>
          <a:effectLst>
            <a:outerShdw sx="100000" sy="100000" kx="0" ky="0" algn="bl" rotWithShape="0" blurRad="127000" dist="38100" dir="5400000">
              <a:srgbClr val="1A1F2B">
                <a:alpha val="18000"/>
              </a:srgbClr>
            </a:outerShdw>
          </a:effectLst>
        </p:spPr>
      </p:sp>
      <p:sp>
        <p:nvSpPr>
          <p:cNvPr id="22" name="Text 20"/>
          <p:cNvSpPr txBox="1"/>
          <p:nvPr/>
        </p:nvSpPr>
        <p:spPr>
          <a:xfrm>
            <a:off x="6537960" y="4507992"/>
            <a:ext cx="4846320" cy="320040"/>
          </a:xfrm>
          <a:prstGeom prst="rect">
            <a:avLst/>
          </a:prstGeom>
          <a:noFill/>
          <a:ln/>
        </p:spPr>
        <p:txBody>
          <a:bodyPr wrap="square" lIns="0" tIns="0" rIns="0" bIns="0" rtlCol="0" anchor="ctr"/>
          <a:lstStyle/>
          <a:p>
            <a:pPr algn="l" indent="0" marL="0">
              <a:buNone/>
            </a:pPr>
            <a:r>
              <a:rPr lang="en-US" sz="1300" b="1" dirty="0">
                <a:solidFill>
                  <a:schemeClr val="tx1"/>
                </a:solidFill>
                <a:latin typeface="Calibri" pitchFamily="34" charset="0"/>
                <a:ea typeface="Calibri" pitchFamily="34" charset="-122"/>
                <a:cs typeface="Calibri" pitchFamily="34" charset="-120"/>
              </a:rPr>
              <a:t>Self-healing safeguards</a:t>
            </a:r>
            <a:endParaRPr lang="en-US" sz="1300" dirty="0"/>
          </a:p>
        </p:txBody>
      </p:sp>
      <p:sp>
        <p:nvSpPr>
          <p:cNvPr id="23" name="Text 21"/>
          <p:cNvSpPr txBox="1"/>
          <p:nvPr/>
        </p:nvSpPr>
        <p:spPr>
          <a:xfrm>
            <a:off x="6537960" y="4846320"/>
            <a:ext cx="4846320" cy="1097280"/>
          </a:xfrm>
          <a:prstGeom prst="rect">
            <a:avLst/>
          </a:prstGeom>
          <a:noFill/>
          <a:ln/>
        </p:spPr>
        <p:txBody>
          <a:bodyPr wrap="square" lIns="0" tIns="0" rIns="0" bIns="0" rtlCol="0" anchor="ctr"/>
          <a:lstStyle/>
          <a:p>
            <a:pPr algn="l" marL="342900" indent="-342900">
              <a:lnSpc>
                <a:spcPct val="130000"/>
              </a:lnSpc>
              <a:buSzPct val="100000"/>
              <a:buChar char="•"/>
            </a:pPr>
            <a:r>
              <a:rPr lang="en-US" sz="1200" b="1" dirty="0">
                <a:solidFill>
                  <a:schemeClr val="accent6"/>
                </a:solidFill>
                <a:latin typeface="Calibri" pitchFamily="34" charset="0"/>
                <a:ea typeface="Calibri" pitchFamily="34" charset="-122"/>
                <a:cs typeface="Calibri" pitchFamily="34" charset="-120"/>
              </a:rPr>
              <a:t>Stale-claim recovery</a:t>
            </a:r>
            <a:pPr algn="l" indent="0" marL="0">
              <a:lnSpc>
                <a:spcPct val="130000"/>
              </a:lnSpc>
              <a:buNone/>
            </a:pPr>
            <a:r>
              <a:rPr lang="en-US" sz="1200" dirty="0">
                <a:solidFill>
                  <a:schemeClr val="accent6"/>
                </a:solidFill>
                <a:latin typeface="Calibri" pitchFamily="34" charset="0"/>
                <a:ea typeface="Calibri" pitchFamily="34" charset="-122"/>
                <a:cs typeface="Calibri" pitchFamily="34" charset="-120"/>
              </a:rPr>
              <a:t>: a “pending” older than 10 min is reset to retryable.</a:t>
            </a:r>
            <a:endParaRPr lang="en-US" sz="1200" dirty="0"/>
          </a:p>
          <a:p>
            <a:pPr algn="l" marL="342900" indent="-342900">
              <a:lnSpc>
                <a:spcPct val="130000"/>
              </a:lnSpc>
              <a:buSzPct val="100000"/>
              <a:buChar char="•"/>
            </a:pPr>
            <a:r>
              <a:rPr lang="en-US" sz="1200" b="1" dirty="0">
                <a:solidFill>
                  <a:schemeClr val="accent6"/>
                </a:solidFill>
                <a:latin typeface="Calibri" pitchFamily="34" charset="0"/>
                <a:ea typeface="Calibri" pitchFamily="34" charset="-122"/>
                <a:cs typeface="Calibri" pitchFamily="34" charset="-120"/>
              </a:rPr>
              <a:t>Run lock</a:t>
            </a:r>
            <a:pPr algn="l" indent="0" marL="0">
              <a:lnSpc>
                <a:spcPct val="130000"/>
              </a:lnSpc>
              <a:buNone/>
            </a:pPr>
            <a:r>
              <a:rPr lang="en-US" sz="1200" dirty="0">
                <a:solidFill>
                  <a:schemeClr val="accent6"/>
                </a:solidFill>
                <a:latin typeface="Calibri" pitchFamily="34" charset="0"/>
                <a:ea typeface="Calibri" pitchFamily="34" charset="-122"/>
                <a:cs typeface="Calibri" pitchFamily="34" charset="-120"/>
              </a:rPr>
              <a:t>: a TTL lock stops two runs from racing to claim the same key.</a:t>
            </a:r>
            <a:endParaRPr lang="en-US" sz="1200" dirty="0"/>
          </a:p>
        </p:txBody>
      </p:sp>
      <p:sp>
        <p:nvSpPr>
          <p:cNvPr id="24" name="Text 22"/>
          <p:cNvSpPr txBox="1"/>
          <p:nvPr/>
        </p:nvSpPr>
        <p:spPr>
          <a:xfrm>
            <a:off x="548640" y="6080760"/>
            <a:ext cx="11064240" cy="411480"/>
          </a:xfrm>
          <a:prstGeom prst="rect">
            <a:avLst/>
          </a:prstGeom>
          <a:noFill/>
          <a:ln/>
        </p:spPr>
        <p:txBody>
          <a:bodyPr wrap="square" lIns="0" tIns="0" rIns="0" bIns="0" rtlCol="0" anchor="ctr"/>
          <a:lstStyle/>
          <a:p>
            <a:pPr algn="l" indent="0" marL="0">
              <a:lnSpc>
                <a:spcPct val="120000"/>
              </a:lnSpc>
              <a:buNone/>
            </a:pPr>
            <a:r>
              <a:rPr lang="en-US" sz="1150" i="1" dirty="0">
                <a:solidFill>
                  <a:schemeClr val="accent4"/>
                </a:solidFill>
                <a:latin typeface="Calibri" pitchFamily="34" charset="0"/>
                <a:ea typeface="Calibri" pitchFamily="34" charset="-122"/>
                <a:cs typeface="Calibri" pitchFamily="34" charset="-120"/>
              </a:rPr>
              <a:t>At-least-once delivery: a narrow-window duplicate is possible; a missed critical alert is not. Plain SMTP can't guarantee exactly-once. This is the right tradeoff.</a:t>
            </a:r>
            <a:endParaRPr lang="en-US" sz="1150" dirty="0"/>
          </a:p>
        </p:txBody>
      </p:sp>
      <p:sp>
        <p:nvSpPr>
          <p:cNvPr id="25" name="Slide Number Placeholder 0"/>
          <p:cNvSpPr>
            <a:spLocks noGrp="1"/>
          </p:cNvSpPr>
          <p:nvPr>
            <p:ph type="sldNum" sz="quarter" idx="4294967295"/>
          </p:nvPr>
        </p:nvSpPr>
        <p:spPr>
          <a:xfrm>
            <a:off x="114300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320040"/>
          </a:xfrm>
          <a:prstGeom prst="rect">
            <a:avLst/>
          </a:prstGeom>
          <a:noFill/>
          <a:ln/>
        </p:spPr>
        <p:txBody>
          <a:bodyPr wrap="square" rtlCol="0"/>
          <a:lstStyle/>
          <a:p>
            <a:pPr algn="l" indent="0" marL="0">
              <a:buNone/>
            </a:pPr>
            <a:r>
              <a:rPr lang="en-US" sz="1300" b="1" spc="200" kern="0" dirty="0">
                <a:solidFill>
                  <a:schemeClr val="accent2"/>
                </a:solidFill>
                <a:latin typeface="Calibri" pitchFamily="34" charset="0"/>
                <a:ea typeface="Calibri" pitchFamily="34" charset="-122"/>
                <a:cs typeface="Calibri" pitchFamily="34" charset="-120"/>
              </a:rPr>
              <a:t>REMINDER POLICY</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rtlCol="0"/>
          <a:lstStyle/>
          <a:p>
            <a:pPr algn="l" indent="0" marL="0">
              <a:buNone/>
            </a:pPr>
            <a:r>
              <a:rPr lang="en-US" sz="3200" b="1" dirty="0">
                <a:solidFill>
                  <a:schemeClr val="tx1"/>
                </a:solidFill>
                <a:latin typeface="Cambria" pitchFamily="34" charset="0"/>
                <a:ea typeface="Cambria" pitchFamily="34" charset="-122"/>
                <a:cs typeface="Cambria" pitchFamily="34" charset="-120"/>
              </a:rPr>
              <a:t>An active critical incident isn't ignored forever</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2606040"/>
        </p:xfrm>
        <a:graphic>
          <a:graphicData uri="http://schemas.openxmlformats.org/drawingml/2006/table">
            <a:tbl>
              <a:tblPr/>
              <a:tblGrid>
                <a:gridCol w="1828800"/>
                <a:gridCol w="2834640"/>
                <a:gridCol w="6400800"/>
              </a:tblGrid>
              <a:tr h="56692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Time</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Incident state</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Action</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tx1"/>
                    </a:solidFill>
                  </a:tcPr>
                </a:tc>
              </a:tr>
              <a:tr h="566928">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10:00</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Critical, first seen</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50" b="1" dirty="0">
                          <a:solidFill>
                            <a:schemeClr val="accent2"/>
                          </a:solidFill>
                          <a:latin typeface="Calibri" pitchFamily="34" charset="0"/>
                          <a:ea typeface="Calibri" pitchFamily="34" charset="-122"/>
                          <a:cs typeface="Calibri" pitchFamily="34" charset="-120"/>
                        </a:rPr>
                        <a:t>Send email. Save status=sent, last_notified_at=10:00.</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r>
              <a:tr h="566928">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10:01–10:09</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Still critical</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Wait: reminder interval (10 min) hasn't elapsed.</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r>
              <a:tr h="566928">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10:10</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Still critical</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50" b="1" dirty="0">
                          <a:solidFill>
                            <a:schemeClr val="accent1"/>
                          </a:solidFill>
                          <a:latin typeface="Calibri" pitchFamily="34" charset="0"/>
                          <a:ea typeface="Calibri" pitchFamily="34" charset="-122"/>
                          <a:cs typeface="Calibri" pitchFamily="34" charset="-120"/>
                        </a:rPr>
                        <a:t>Reminder sent. Update last_notified_at=10:10.</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r>
              <a:tr h="566928">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10:15</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50" dirty="0">
                          <a:solidFill>
                            <a:schemeClr val="tx1"/>
                          </a:solidFill>
                          <a:latin typeface="Calibri" pitchFamily="34" charset="0"/>
                          <a:ea typeface="Calibri" pitchFamily="34" charset="-122"/>
                          <a:cs typeface="Calibri" pitchFamily="34" charset="-120"/>
                        </a:rPr>
                        <a:t>Resolved</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50" b="1" dirty="0">
                          <a:solidFill>
                            <a:schemeClr val="accent3"/>
                          </a:solidFill>
                          <a:latin typeface="Calibri" pitchFamily="34" charset="0"/>
                          <a:ea typeface="Calibri" pitchFamily="34" charset="-122"/>
                          <a:cs typeface="Calibri" pitchFamily="34" charset="-120"/>
                        </a:rPr>
                        <a:t>Stop. No further reminders for this key.</a:t>
                      </a:r>
                      <a:endParaRPr lang="en-US" sz="135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r>
            </a:tbl>
          </a:graphicData>
        </a:graphic>
      </p:graphicFrame>
      <p:sp>
        <p:nvSpPr>
          <p:cNvPr id="5" name="Text 2"/>
          <p:cNvSpPr txBox="1"/>
          <p:nvPr/>
        </p:nvSpPr>
        <p:spPr>
          <a:xfrm>
            <a:off x="548640" y="4663440"/>
            <a:ext cx="11064240" cy="640080"/>
          </a:xfrm>
          <a:prstGeom prst="rect">
            <a:avLst/>
          </a:prstGeom>
          <a:noFill/>
          <a:ln/>
        </p:spPr>
        <p:txBody>
          <a:bodyPr wrap="square" lIns="0" tIns="0" rIns="0" bIns="0" rtlCol="0" anchor="ctr"/>
          <a:lstStyle/>
          <a:p>
            <a:pPr algn="l" indent="0" marL="0">
              <a:lnSpc>
                <a:spcPct val="130000"/>
              </a:lnSpc>
              <a:buNone/>
            </a:pPr>
            <a:r>
              <a:rPr lang="en-US" sz="1300" dirty="0">
                <a:solidFill>
                  <a:schemeClr val="accent6"/>
                </a:solidFill>
                <a:latin typeface="Calibri" pitchFamily="34" charset="0"/>
                <a:ea typeface="Calibri" pitchFamily="34" charset="-122"/>
                <a:cs typeface="Calibri" pitchFamily="34" charset="-120"/>
              </a:rPr>
              <a:t>Never reset </a:t>
            </a:r>
            <a:pPr algn="l" indent="0" marL="0">
              <a:lnSpc>
                <a:spcPct val="130000"/>
              </a:lnSpc>
              <a:buNone/>
            </a:pPr>
            <a:r>
              <a:rPr lang="en-US" sz="1300" dirty="0">
                <a:solidFill>
                  <a:schemeClr val="accent1"/>
                </a:solidFill>
                <a:latin typeface="Courier New" pitchFamily="34" charset="0"/>
                <a:ea typeface="Courier New" pitchFamily="34" charset="-122"/>
                <a:cs typeface="Courier New" pitchFamily="34" charset="-120"/>
              </a:rPr>
              <a:t>status</a:t>
            </a:r>
            <a:pPr algn="l" indent="0" marL="0">
              <a:lnSpc>
                <a:spcPct val="130000"/>
              </a:lnSpc>
              <a:buNone/>
            </a:pPr>
            <a:r>
              <a:rPr lang="en-US" sz="1300" dirty="0">
                <a:solidFill>
                  <a:schemeClr val="accent6"/>
                </a:solidFill>
                <a:latin typeface="Calibri" pitchFamily="34" charset="0"/>
                <a:ea typeface="Calibri" pitchFamily="34" charset="-122"/>
                <a:cs typeface="Calibri" pitchFamily="34" charset="-120"/>
              </a:rPr>
              <a:t> back to unsent on every run; only </a:t>
            </a:r>
            <a:pPr algn="l" indent="0" marL="0">
              <a:lnSpc>
                <a:spcPct val="130000"/>
              </a:lnSpc>
              <a:buNone/>
            </a:pPr>
            <a:r>
              <a:rPr lang="en-US" sz="1300" dirty="0">
                <a:solidFill>
                  <a:schemeClr val="accent1"/>
                </a:solidFill>
                <a:latin typeface="Courier New" pitchFamily="34" charset="0"/>
                <a:ea typeface="Courier New" pitchFamily="34" charset="-122"/>
                <a:cs typeface="Courier New" pitchFamily="34" charset="-120"/>
              </a:rPr>
              <a:t>last_notified_at</a:t>
            </a:r>
            <a:pPr algn="l" indent="0" marL="0">
              <a:lnSpc>
                <a:spcPct val="130000"/>
              </a:lnSpc>
              <a:buNone/>
            </a:pPr>
            <a:r>
              <a:rPr lang="en-US" sz="1300" dirty="0">
                <a:solidFill>
                  <a:schemeClr val="accent6"/>
                </a:solidFill>
                <a:latin typeface="Calibri" pitchFamily="34" charset="0"/>
                <a:ea typeface="Calibri" pitchFamily="34" charset="-122"/>
                <a:cs typeface="Calibri" pitchFamily="34" charset="-120"/>
              </a:rPr>
              <a:t> moves forward. That's what turns “re-alert” into a controlled reminder instead of an accidental duplicate every 5 minutes.</a:t>
            </a:r>
            <a:endParaRPr lang="en-US" sz="1300" dirty="0"/>
          </a:p>
        </p:txBody>
      </p:sp>
      <p:sp>
        <p:nvSpPr>
          <p:cNvPr id="6" name="Text 3"/>
          <p:cNvSpPr txBox="1"/>
          <p:nvPr/>
        </p:nvSpPr>
        <p:spPr>
          <a:xfrm>
            <a:off x="548640" y="5440680"/>
            <a:ext cx="11064240" cy="365760"/>
          </a:xfrm>
          <a:prstGeom prst="rect">
            <a:avLst/>
          </a:prstGeom>
          <a:noFill/>
          <a:ln/>
        </p:spPr>
        <p:txBody>
          <a:bodyPr wrap="square" lIns="0" tIns="0" rIns="0" bIns="0" rtlCol="0" anchor="ctr"/>
          <a:lstStyle/>
          <a:p>
            <a:pPr algn="l" indent="0" marL="0">
              <a:buNone/>
            </a:pPr>
            <a:r>
              <a:rPr lang="en-US" sz="1200" i="1" dirty="0">
                <a:solidFill>
                  <a:schemeClr val="accent4"/>
                </a:solidFill>
                <a:latin typeface="Calibri" pitchFamily="34" charset="0"/>
                <a:ea typeface="Calibri" pitchFamily="34" charset="-122"/>
                <a:cs typeface="Calibri" pitchFamily="34" charset="-120"/>
              </a:rPr>
              <a:t>The 10-minute interval is configurable per alert type (reminderMinutesUrgent for critical/high, reminderHours for stale).</a:t>
            </a:r>
            <a:endParaRPr lang="en-US" sz="1200" dirty="0"/>
          </a:p>
        </p:txBody>
      </p:sp>
      <p:sp>
        <p:nvSpPr>
          <p:cNvPr id="25" name="Slide Number Placeholder 0"/>
          <p:cNvSpPr>
            <a:spLocks noGrp="1"/>
          </p:cNvSpPr>
          <p:nvPr>
            <p:ph type="sldNum" sz="quarter" idx="4294967295"/>
          </p:nvPr>
        </p:nvSpPr>
        <p:spPr>
          <a:xfrm>
            <a:off x="114300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320040"/>
          </a:xfrm>
          <a:prstGeom prst="rect">
            <a:avLst/>
          </a:prstGeom>
          <a:noFill/>
          <a:ln/>
        </p:spPr>
        <p:txBody>
          <a:bodyPr wrap="square" rtlCol="0"/>
          <a:lstStyle/>
          <a:p>
            <a:pPr algn="l" indent="0" marL="0">
              <a:buNone/>
            </a:pPr>
            <a:r>
              <a:rPr lang="en-US" sz="1300" b="1" spc="200" kern="0" dirty="0">
                <a:solidFill>
                  <a:schemeClr val="accent2"/>
                </a:solidFill>
                <a:latin typeface="Calibri" pitchFamily="34" charset="0"/>
                <a:ea typeface="Calibri" pitchFamily="34" charset="-122"/>
                <a:cs typeface="Calibri" pitchFamily="34" charset="-120"/>
              </a:rPr>
              <a:t>DATA MODEL</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rtlCol="0"/>
          <a:lstStyle/>
          <a:p>
            <a:pPr algn="l" indent="0" marL="0">
              <a:buNone/>
            </a:pPr>
            <a:r>
              <a:rPr lang="en-US" sz="3200" b="1" dirty="0">
                <a:solidFill>
                  <a:schemeClr val="tx1"/>
                </a:solidFill>
                <a:latin typeface="Cambria" pitchFamily="34" charset="0"/>
                <a:ea typeface="Cambria" pitchFamily="34" charset="-122"/>
                <a:cs typeface="Cambria" pitchFamily="34" charset="-120"/>
              </a:rPr>
              <a:t>Alert State Store</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64240" cy="2926080"/>
        </p:xfrm>
        <a:graphic>
          <a:graphicData uri="http://schemas.openxmlformats.org/drawingml/2006/table">
            <a:tbl>
              <a:tblPr/>
              <a:tblGrid>
                <a:gridCol w="2377440"/>
                <a:gridCol w="3566160"/>
                <a:gridCol w="5120640"/>
              </a:tblGrid>
              <a:tr h="51206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Field</a:t>
                      </a:r>
                      <a:endParaRPr lang="en-US" sz="130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Purpose</a:t>
                      </a:r>
                      <a:endParaRPr lang="en-US" sz="130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tx1"/>
                    </a:solidFill>
                  </a:tcPr>
                </a:tc>
              </a:tr>
              <a:tr h="512064">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key</a:t>
                      </a:r>
                      <a:endParaRPr lang="en-US" sz="1300" dirty="0">
                        <a:latin typeface="Courier New" charset="0"/>
                        <a:ea typeface="Courier New" charset="0"/>
                        <a:cs typeface="Courier New"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00" dirty="0">
                          <a:solidFill>
                            <a:schemeClr val="accent2"/>
                          </a:solidFill>
                          <a:latin typeface="Courier New" pitchFamily="34" charset="0"/>
                          <a:ea typeface="Courier New" pitchFamily="34" charset="-122"/>
                          <a:cs typeface="Courier New" pitchFamily="34" charset="-120"/>
                        </a:rPr>
                        <a:t>INC0010042:critical</a:t>
                      </a:r>
                      <a:endParaRPr lang="en-US" sz="1300" dirty="0">
                        <a:latin typeface="Courier New" charset="0"/>
                        <a:ea typeface="Courier New" charset="0"/>
                        <a:cs typeface="Courier New"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incident number + alert type</a:t>
                      </a:r>
                      <a:endParaRPr lang="en-US" sz="130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r>
              <a:tr h="512064">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status</a:t>
                      </a:r>
                      <a:endParaRPr lang="en-US" sz="1300" dirty="0">
                        <a:latin typeface="Courier New" charset="0"/>
                        <a:ea typeface="Courier New" charset="0"/>
                        <a:cs typeface="Courier New"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pending / sent / failed</a:t>
                      </a:r>
                      <a:endParaRPr lang="en-US" sz="130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where this alert is in its lifecycle</a:t>
                      </a:r>
                      <a:endParaRPr lang="en-US" sz="130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r>
              <a:tr h="512064">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claimed_at</a:t>
                      </a:r>
                      <a:endParaRPr lang="en-US" sz="1300" dirty="0">
                        <a:latin typeface="Courier New" charset="0"/>
                        <a:ea typeface="Courier New" charset="0"/>
                        <a:cs typeface="Courier New"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2026-10-25T10:00:03Z</a:t>
                      </a:r>
                      <a:endParaRPr lang="en-US" sz="130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set on claim; drives stale-claim recovery</a:t>
                      </a:r>
                      <a:endParaRPr lang="en-US" sz="130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r>
              <a:tr h="512064">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last_notified_at</a:t>
                      </a:r>
                      <a:endParaRPr lang="en-US" sz="1300" dirty="0">
                        <a:latin typeface="Courier New" charset="0"/>
                        <a:ea typeface="Courier New" charset="0"/>
                        <a:cs typeface="Courier New"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2026-10-25T10:10:00Z</a:t>
                      </a:r>
                      <a:endParaRPr lang="en-US" sz="130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drives the reminder interval</a:t>
                      </a:r>
                      <a:endParaRPr lang="en-US" sz="130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r>
              <a:tr h="512064">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incident_state</a:t>
                      </a:r>
                      <a:endParaRPr lang="en-US" sz="1300" dirty="0">
                        <a:latin typeface="Courier New" charset="0"/>
                        <a:ea typeface="Courier New" charset="0"/>
                        <a:cs typeface="Courier New"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In Progress</a:t>
                      </a:r>
                      <a:endParaRPr lang="en-US" sz="130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detects reopen / state changes</a:t>
                      </a:r>
                      <a:endParaRPr lang="en-US" sz="1300" dirty="0">
                        <a:latin typeface="Calibri" charset="0"/>
                        <a:ea typeface="Calibri" charset="0"/>
                        <a:cs typeface="Calibri" charset="0"/>
                      </a:endParaRPr>
                    </a:p>
                  </a:txBody>
                  <a:tcPr marL="91440" marR="91440" marT="45720" marB="45720" anchor="ctr">
                    <a:lnL w="12700" cap="flat" cmpd="sng" algn="ctr">
                      <a:solidFill>
                        <a:schemeClr val="accent5"/>
                      </a:solidFill>
                      <a:prstDash val="solid"/>
                      <a:round/>
                      <a:headEnd type="none" w="med" len="med"/>
                      <a:tailEnd type="none" w="med" len="med"/>
                    </a:lnL>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r>
            </a:tbl>
          </a:graphicData>
        </a:graphic>
      </p:graphicFrame>
      <p:sp>
        <p:nvSpPr>
          <p:cNvPr id="5" name="Text 2"/>
          <p:cNvSpPr txBox="1"/>
          <p:nvPr/>
        </p:nvSpPr>
        <p:spPr>
          <a:xfrm>
            <a:off x="548640" y="5120640"/>
            <a:ext cx="11064240" cy="457200"/>
          </a:xfrm>
          <a:prstGeom prst="rect">
            <a:avLst/>
          </a:prstGeom>
          <a:noFill/>
          <a:ln/>
        </p:spPr>
        <p:txBody>
          <a:bodyPr wrap="square" lIns="0" tIns="0" rIns="0" bIns="0" rtlCol="0" anchor="ctr"/>
          <a:lstStyle/>
          <a:p>
            <a:pPr algn="l" indent="0" marL="0">
              <a:lnSpc>
                <a:spcPct val="130000"/>
              </a:lnSpc>
              <a:buNone/>
            </a:pPr>
            <a:r>
              <a:rPr lang="en-US" sz="1250" i="1" dirty="0">
                <a:solidFill>
                  <a:schemeClr val="accent4"/>
                </a:solidFill>
                <a:latin typeface="Calibri" pitchFamily="34" charset="0"/>
                <a:ea typeface="Calibri" pitchFamily="34" charset="-122"/>
                <a:cs typeface="Calibri" pitchFamily="34" charset="-120"/>
              </a:rPr>
              <a:t>Kept in n8n workflow static data, persists across restarts on an active (production) workflow, but only saved by real scheduled runs, not manual test runs.</a:t>
            </a:r>
            <a:endParaRPr lang="en-US" sz="1250" dirty="0"/>
          </a:p>
        </p:txBody>
      </p:sp>
      <p:sp>
        <p:nvSpPr>
          <p:cNvPr id="25" name="Slide Number Placeholder 0"/>
          <p:cNvSpPr>
            <a:spLocks noGrp="1"/>
          </p:cNvSpPr>
          <p:nvPr>
            <p:ph type="sldNum" sz="quarter" idx="4294967295"/>
          </p:nvPr>
        </p:nvSpPr>
        <p:spPr>
          <a:xfrm>
            <a:off x="114300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320040"/>
          </a:xfrm>
          <a:prstGeom prst="rect">
            <a:avLst/>
          </a:prstGeom>
          <a:noFill/>
          <a:ln/>
        </p:spPr>
        <p:txBody>
          <a:bodyPr wrap="square" rtlCol="0"/>
          <a:lstStyle/>
          <a:p>
            <a:pPr algn="l" indent="0" marL="0">
              <a:buNone/>
            </a:pPr>
            <a:r>
              <a:rPr lang="en-US" sz="1300" b="1" spc="200" kern="0" dirty="0">
                <a:solidFill>
                  <a:schemeClr val="accent2"/>
                </a:solidFill>
                <a:latin typeface="Calibri" pitchFamily="34" charset="0"/>
                <a:ea typeface="Calibri" pitchFamily="34" charset="-122"/>
                <a:cs typeface="Calibri" pitchFamily="34" charset="-120"/>
              </a:rPr>
              <a:t>EXAMPLE</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rtlCol="0"/>
          <a:lstStyle/>
          <a:p>
            <a:pPr algn="l" indent="0" marL="0">
              <a:buNone/>
            </a:pPr>
            <a:r>
              <a:rPr lang="en-US" sz="3200" b="1" dirty="0">
                <a:solidFill>
                  <a:schemeClr val="tx1"/>
                </a:solidFill>
                <a:latin typeface="Cambria" pitchFamily="34" charset="0"/>
                <a:ea typeface="Cambria" pitchFamily="34" charset="-122"/>
                <a:cs typeface="Cambria" pitchFamily="34" charset="-120"/>
              </a:rPr>
              <a:t>What the team actually receives</a:t>
            </a:r>
            <a:endParaRPr lang="en-US" sz="3200" dirty="0"/>
          </a:p>
        </p:txBody>
      </p:sp>
      <p:sp>
        <p:nvSpPr>
          <p:cNvPr id="4" name="Shape 2"/>
          <p:cNvSpPr/>
          <p:nvPr/>
        </p:nvSpPr>
        <p:spPr>
          <a:xfrm>
            <a:off x="548640" y="1737360"/>
            <a:ext cx="11064240" cy="4297680"/>
          </a:xfrm>
          <a:prstGeom prst="roundRect">
            <a:avLst>
              <a:gd name="adj" fmla="val 1702"/>
            </a:avLst>
          </a:prstGeom>
          <a:solidFill>
            <a:schemeClr val="bg1"/>
          </a:solidFill>
          <a:ln w="12700">
            <a:solidFill>
              <a:schemeClr val="accent5"/>
            </a:solidFill>
            <a:prstDash val="solid"/>
          </a:ln>
          <a:effectLst>
            <a:outerShdw sx="100000" sy="100000" kx="0" ky="0" algn="bl" rotWithShape="0" blurRad="127000" dist="38100" dir="5400000">
              <a:srgbClr val="1A1F2B">
                <a:alpha val="18000"/>
              </a:srgbClr>
            </a:outerShdw>
          </a:effectLst>
        </p:spPr>
      </p:sp>
      <p:sp>
        <p:nvSpPr>
          <p:cNvPr id="5" name="Shape 3"/>
          <p:cNvSpPr/>
          <p:nvPr/>
        </p:nvSpPr>
        <p:spPr>
          <a:xfrm>
            <a:off x="548640" y="1737360"/>
            <a:ext cx="11064240" cy="502920"/>
          </a:xfrm>
          <a:prstGeom prst="roundRect">
            <a:avLst>
              <a:gd name="adj" fmla="val 9091"/>
            </a:avLst>
          </a:prstGeom>
          <a:solidFill>
            <a:schemeClr val="accent1"/>
          </a:solidFill>
          <a:ln/>
        </p:spPr>
      </p:sp>
      <p:sp>
        <p:nvSpPr>
          <p:cNvPr id="6" name="Text 4"/>
          <p:cNvSpPr txBox="1"/>
          <p:nvPr/>
        </p:nvSpPr>
        <p:spPr>
          <a:xfrm>
            <a:off x="822960" y="1737360"/>
            <a:ext cx="10515600" cy="50292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[CRITICAL INCIDENT]  INC0010042 - Production application unavailable</a:t>
            </a:r>
            <a:endParaRPr lang="en-US" sz="1400" dirty="0"/>
          </a:p>
        </p:txBody>
      </p:sp>
      <p:sp>
        <p:nvSpPr>
          <p:cNvPr id="7" name="Text 5"/>
          <p:cNvSpPr txBox="1"/>
          <p:nvPr/>
        </p:nvSpPr>
        <p:spPr>
          <a:xfrm>
            <a:off x="868680" y="2423160"/>
            <a:ext cx="10424160" cy="3429000"/>
          </a:xfrm>
          <a:prstGeom prst="rect">
            <a:avLst/>
          </a:prstGeom>
          <a:noFill/>
          <a:ln/>
        </p:spPr>
        <p:txBody>
          <a:bodyPr wrap="square" lIns="0" tIns="0" rIns="0" bIns="0" rtlCol="0" anchor="ctr"/>
          <a:lstStyle/>
          <a:p>
            <a:pPr algn="l" indent="0" marL="0">
              <a:lnSpc>
                <a:spcPct val="120000"/>
              </a:lnSpc>
              <a:buNone/>
            </a:pPr>
            <a:r>
              <a:rPr lang="en-US" sz="1300" dirty="0">
                <a:solidFill>
                  <a:schemeClr val="tx1"/>
                </a:solidFill>
                <a:latin typeface="Courier New" pitchFamily="34" charset="0"/>
                <a:ea typeface="Courier New" pitchFamily="34" charset="-122"/>
                <a:cs typeface="Courier New" pitchFamily="34" charset="-120"/>
              </a:rPr>
              <a:t>Hello Team,</a:t>
            </a:r>
            <a:endParaRPr lang="en-US" sz="1300" dirty="0"/>
          </a:p>
          <a:p>
            <a:pPr algn="l" indent="0" marL="0">
              <a:lnSpc>
                <a:spcPct val="120000"/>
              </a:lnSpc>
              <a:buNone/>
            </a:pPr>
            <a:endParaRPr lang="en-US" sz="1300" dirty="0"/>
          </a:p>
          <a:p>
            <a:pPr algn="l" indent="0" marL="0">
              <a:lnSpc>
                <a:spcPct val="120000"/>
              </a:lnSpc>
              <a:buNone/>
            </a:pPr>
            <a:r>
              <a:rPr lang="en-US" sz="1300" dirty="0">
                <a:solidFill>
                  <a:schemeClr val="tx1"/>
                </a:solidFill>
                <a:latin typeface="Courier New" pitchFamily="34" charset="0"/>
                <a:ea typeface="Courier New" pitchFamily="34" charset="-122"/>
                <a:cs typeface="Courier New" pitchFamily="34" charset="-120"/>
              </a:rPr>
              <a:t>A critical incident has been detected in ServiceNow.</a:t>
            </a:r>
            <a:endParaRPr lang="en-US" sz="1300" dirty="0"/>
          </a:p>
          <a:p>
            <a:pPr algn="l" indent="0" marL="0">
              <a:lnSpc>
                <a:spcPct val="120000"/>
              </a:lnSpc>
              <a:buNone/>
            </a:pPr>
            <a:endParaRPr lang="en-US" sz="1300" dirty="0"/>
          </a:p>
          <a:p>
            <a:pPr algn="l" indent="0" marL="0">
              <a:lnSpc>
                <a:spcPct val="120000"/>
              </a:lnSpc>
              <a:buNone/>
            </a:pPr>
            <a:r>
              <a:rPr lang="en-US" sz="1300" dirty="0">
                <a:solidFill>
                  <a:schemeClr val="tx1"/>
                </a:solidFill>
                <a:latin typeface="Courier New" pitchFamily="34" charset="0"/>
                <a:ea typeface="Courier New" pitchFamily="34" charset="-122"/>
                <a:cs typeface="Courier New" pitchFamily="34" charset="-120"/>
              </a:rPr>
              <a:t>  Incident:       INC0010042</a:t>
            </a:r>
            <a:endParaRPr lang="en-US" sz="1300" dirty="0"/>
          </a:p>
          <a:p>
            <a:pPr algn="l" indent="0" marL="0">
              <a:lnSpc>
                <a:spcPct val="120000"/>
              </a:lnSpc>
              <a:buNone/>
            </a:pPr>
            <a:r>
              <a:rPr lang="en-US" sz="1300" dirty="0">
                <a:solidFill>
                  <a:schemeClr val="tx1"/>
                </a:solidFill>
                <a:latin typeface="Courier New" pitchFamily="34" charset="0"/>
                <a:ea typeface="Courier New" pitchFamily="34" charset="-122"/>
                <a:cs typeface="Courier New" pitchFamily="34" charset="-120"/>
              </a:rPr>
              <a:t>  Priority:       1 - Critical</a:t>
            </a:r>
            <a:endParaRPr lang="en-US" sz="1300" dirty="0"/>
          </a:p>
          <a:p>
            <a:pPr algn="l" indent="0" marL="0">
              <a:lnSpc>
                <a:spcPct val="120000"/>
              </a:lnSpc>
              <a:buNone/>
            </a:pPr>
            <a:r>
              <a:rPr lang="en-US" sz="1300" dirty="0">
                <a:solidFill>
                  <a:schemeClr val="tx1"/>
                </a:solidFill>
                <a:latin typeface="Courier New" pitchFamily="34" charset="0"/>
                <a:ea typeface="Courier New" pitchFamily="34" charset="-122"/>
                <a:cs typeface="Courier New" pitchFamily="34" charset="-120"/>
              </a:rPr>
              <a:t>  Status:         In Progress</a:t>
            </a:r>
            <a:endParaRPr lang="en-US" sz="1300" dirty="0"/>
          </a:p>
          <a:p>
            <a:pPr algn="l" indent="0" marL="0">
              <a:lnSpc>
                <a:spcPct val="120000"/>
              </a:lnSpc>
              <a:buNone/>
            </a:pPr>
            <a:r>
              <a:rPr lang="en-US" sz="1300" dirty="0">
                <a:solidFill>
                  <a:schemeClr val="tx1"/>
                </a:solidFill>
                <a:latin typeface="Courier New" pitchFamily="34" charset="0"/>
                <a:ea typeface="Courier New" pitchFamily="34" charset="-122"/>
                <a:cs typeface="Courier New" pitchFamily="34" charset="-120"/>
              </a:rPr>
              <a:t>  Assigned to:    Example User</a:t>
            </a:r>
            <a:endParaRPr lang="en-US" sz="1300" dirty="0"/>
          </a:p>
          <a:p>
            <a:pPr algn="l" indent="0" marL="0">
              <a:lnSpc>
                <a:spcPct val="120000"/>
              </a:lnSpc>
              <a:buNone/>
            </a:pPr>
            <a:r>
              <a:rPr lang="en-US" sz="1300" dirty="0">
                <a:solidFill>
                  <a:schemeClr val="tx1"/>
                </a:solidFill>
                <a:latin typeface="Courier New" pitchFamily="34" charset="0"/>
                <a:ea typeface="Courier New" pitchFamily="34" charset="-122"/>
                <a:cs typeface="Courier New" pitchFamily="34" charset="-120"/>
              </a:rPr>
              <a:t>  Description:    Production application unavailable</a:t>
            </a:r>
            <a:endParaRPr lang="en-US" sz="1300" dirty="0"/>
          </a:p>
          <a:p>
            <a:pPr algn="l" indent="0" marL="0">
              <a:lnSpc>
                <a:spcPct val="120000"/>
              </a:lnSpc>
              <a:buNone/>
            </a:pPr>
            <a:r>
              <a:rPr lang="en-US" sz="1300" dirty="0">
                <a:solidFill>
                  <a:schemeClr val="tx1"/>
                </a:solidFill>
                <a:latin typeface="Courier New" pitchFamily="34" charset="0"/>
                <a:ea typeface="Courier New" pitchFamily="34" charset="-122"/>
                <a:cs typeface="Courier New" pitchFamily="34" charset="-120"/>
              </a:rPr>
              <a:t>  Last updated:   2026-10-25 09:58 UTC</a:t>
            </a:r>
            <a:endParaRPr lang="en-US" sz="1300" dirty="0"/>
          </a:p>
          <a:p>
            <a:pPr algn="l" indent="0" marL="0">
              <a:lnSpc>
                <a:spcPct val="120000"/>
              </a:lnSpc>
              <a:buNone/>
            </a:pPr>
            <a:endParaRPr lang="en-US" sz="1300" dirty="0"/>
          </a:p>
          <a:p>
            <a:pPr algn="l" indent="0" marL="0">
              <a:lnSpc>
                <a:spcPct val="120000"/>
              </a:lnSpc>
              <a:buNone/>
            </a:pPr>
            <a:r>
              <a:rPr lang="en-US" sz="1300" dirty="0">
                <a:solidFill>
                  <a:schemeClr val="tx1"/>
                </a:solidFill>
                <a:latin typeface="Courier New" pitchFamily="34" charset="0"/>
                <a:ea typeface="Courier New" pitchFamily="34" charset="-122"/>
                <a:cs typeface="Courier New" pitchFamily="34" charset="-120"/>
              </a:rPr>
              <a:t>Please investigate this incident as soon as possible.</a:t>
            </a:r>
            <a:endParaRPr lang="en-US" sz="1300" dirty="0"/>
          </a:p>
          <a:p>
            <a:pPr algn="l" indent="0" marL="0">
              <a:lnSpc>
                <a:spcPct val="120000"/>
              </a:lnSpc>
              <a:buNone/>
            </a:pPr>
            <a:r>
              <a:rPr lang="en-US" sz="1300" dirty="0">
                <a:solidFill>
                  <a:schemeClr val="tx1"/>
                </a:solidFill>
                <a:latin typeface="Courier New" pitchFamily="34" charset="0"/>
                <a:ea typeface="Courier New" pitchFamily="34" charset="-122"/>
                <a:cs typeface="Courier New" pitchFamily="34" charset="-120"/>
              </a:rPr>
              <a:t>View incident: https://dev421307.service-now.com/nav_to.do?...</a:t>
            </a:r>
            <a:endParaRPr lang="en-US" sz="1300" dirty="0"/>
          </a:p>
        </p:txBody>
      </p:sp>
      <p:sp>
        <p:nvSpPr>
          <p:cNvPr id="8" name="Text 6"/>
          <p:cNvSpPr txBox="1"/>
          <p:nvPr/>
        </p:nvSpPr>
        <p:spPr>
          <a:xfrm>
            <a:off x="548640" y="6172200"/>
            <a:ext cx="11064240" cy="365760"/>
          </a:xfrm>
          <a:prstGeom prst="rect">
            <a:avLst/>
          </a:prstGeom>
          <a:noFill/>
          <a:ln/>
        </p:spPr>
        <p:txBody>
          <a:bodyPr wrap="square" lIns="0" tIns="0" rIns="0" bIns="0" rtlCol="0" anchor="ctr"/>
          <a:lstStyle/>
          <a:p>
            <a:pPr algn="l" indent="0" marL="0">
              <a:buNone/>
            </a:pPr>
            <a:r>
              <a:rPr lang="en-US" sz="1200" i="1" dirty="0">
                <a:solidFill>
                  <a:schemeClr val="accent4"/>
                </a:solidFill>
                <a:latin typeface="Calibri" pitchFamily="34" charset="0"/>
                <a:ea typeface="Calibri" pitchFamily="34" charset="-122"/>
                <a:cs typeface="Calibri" pitchFamily="34" charset="-120"/>
              </a:rPr>
              <a:t>A reminder reuses this template with a [REMINDER] subject prefix and a one-line note that the incident is still unresolved.</a:t>
            </a:r>
            <a:endParaRPr lang="en-US" sz="1200" dirty="0"/>
          </a:p>
        </p:txBody>
      </p:sp>
      <p:sp>
        <p:nvSpPr>
          <p:cNvPr id="25" name="Slide Number Placeholder 0"/>
          <p:cNvSpPr>
            <a:spLocks noGrp="1"/>
          </p:cNvSpPr>
          <p:nvPr>
            <p:ph type="sldNum" sz="quarter" idx="4294967295"/>
          </p:nvPr>
        </p:nvSpPr>
        <p:spPr>
          <a:xfrm>
            <a:off x="114300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822960" y="2011680"/>
            <a:ext cx="9144000" cy="365760"/>
          </a:xfrm>
          <a:prstGeom prst="rect">
            <a:avLst/>
          </a:prstGeom>
          <a:noFill/>
          <a:ln/>
        </p:spPr>
        <p:txBody>
          <a:bodyPr wrap="square" lIns="0" tIns="0" rIns="0" bIns="0" rtlCol="0" anchor="ctr"/>
          <a:lstStyle/>
          <a:p>
            <a:pPr algn="l" indent="0" marL="0">
              <a:buNone/>
            </a:pPr>
            <a:r>
              <a:rPr lang="en-US" sz="1400" b="1" spc="200" kern="0" dirty="0">
                <a:solidFill>
                  <a:schemeClr val="accent1"/>
                </a:solidFill>
                <a:latin typeface="Calibri" pitchFamily="34" charset="0"/>
                <a:ea typeface="Calibri" pitchFamily="34" charset="-122"/>
                <a:cs typeface="Calibri" pitchFamily="34" charset="-120"/>
              </a:rPr>
              <a:t>03 · DELIVERY</a:t>
            </a:r>
            <a:endParaRPr lang="en-US" sz="1400" dirty="0"/>
          </a:p>
        </p:txBody>
      </p:sp>
      <p:sp>
        <p:nvSpPr>
          <p:cNvPr id="3" name="Text 0"/>
          <p:cNvSpPr/>
          <p:nvPr>
            <p:ph idx="100" type="title" hasCustomPrompt="1"/>
          </p:nvPr>
        </p:nvSpPr>
        <p:spPr>
          <a:xfrm>
            <a:off x="822960" y="2743200"/>
            <a:ext cx="10515600" cy="1463040"/>
          </a:xfrm>
          <a:prstGeom prst="rect">
            <a:avLst/>
          </a:prstGeom>
          <a:noFill/>
          <a:ln/>
        </p:spPr>
        <p:txBody>
          <a:bodyPr wrap="square" rtlCol="0"/>
          <a:lstStyle/>
          <a:p>
            <a:pPr algn="l" indent="0" marL="0">
              <a:buNone/>
            </a:pPr>
            <a:r>
              <a:rPr lang="en-US" sz="4000" b="1" dirty="0">
                <a:solidFill>
                  <a:schemeClr val="bg1"/>
                </a:solidFill>
                <a:latin typeface="Cambria" pitchFamily="34" charset="0"/>
                <a:ea typeface="Cambria" pitchFamily="34" charset="-122"/>
                <a:cs typeface="Cambria" pitchFamily="34" charset="-120"/>
              </a:rPr>
              <a:t>Where it all lives</a:t>
            </a:r>
            <a:endParaRPr lang="en-US" sz="4000" dirty="0"/>
          </a:p>
        </p:txBody>
      </p:sp>
      <p:sp>
        <p:nvSpPr>
          <p:cNvPr id="4" name="Text 0"/>
          <p:cNvSpPr/>
          <p:nvPr>
            <p:ph idx="101" type="body" hasCustomPrompt="1"/>
          </p:nvPr>
        </p:nvSpPr>
        <p:spPr>
          <a:xfrm>
            <a:off x="822960" y="4160520"/>
            <a:ext cx="9601200" cy="1097280"/>
          </a:xfrm>
          <a:prstGeom prst="rect">
            <a:avLst/>
          </a:prstGeom>
          <a:noFill/>
          <a:ln/>
        </p:spPr>
        <p:txBody>
          <a:bodyPr wrap="square" rtlCol="0"/>
          <a:lstStyle/>
          <a:p>
            <a:pPr algn="l" indent="0" marL="0">
              <a:buNone/>
            </a:pPr>
            <a:r>
              <a:rPr lang="en-US" sz="1600" dirty="0">
                <a:solidFill>
                  <a:srgbClr val="AEB8C9"/>
                </a:solidFill>
                <a:latin typeface="Calibri" pitchFamily="34" charset="0"/>
                <a:ea typeface="Calibri" pitchFamily="34" charset="-122"/>
                <a:cs typeface="Calibri" pitchFamily="34" charset="-120"/>
              </a:rPr>
              <a:t>A public GitHub repo with the workflow, the design docs, and everything needed to run it.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9144000" cy="320040"/>
          </a:xfrm>
          <a:prstGeom prst="rect">
            <a:avLst/>
          </a:prstGeom>
          <a:noFill/>
          <a:ln/>
        </p:spPr>
        <p:txBody>
          <a:bodyPr wrap="square" rtlCol="0"/>
          <a:lstStyle/>
          <a:p>
            <a:pPr algn="l" indent="0" marL="0">
              <a:buNone/>
            </a:pPr>
            <a:r>
              <a:rPr lang="en-US" sz="1300" b="1" spc="200" kern="0" dirty="0">
                <a:solidFill>
                  <a:schemeClr val="accent2"/>
                </a:solidFill>
                <a:latin typeface="Calibri" pitchFamily="34" charset="0"/>
                <a:ea typeface="Calibri" pitchFamily="34" charset="-122"/>
                <a:cs typeface="Calibri" pitchFamily="34" charset="-120"/>
              </a:rPr>
              <a:t>REPOSITORY</a:t>
            </a:r>
            <a:endParaRPr lang="en-US" sz="1300" dirty="0"/>
          </a:p>
        </p:txBody>
      </p:sp>
      <p:sp>
        <p:nvSpPr>
          <p:cNvPr id="3" name="Text 0"/>
          <p:cNvSpPr/>
          <p:nvPr>
            <p:ph idx="101" type="title" hasCustomPrompt="1"/>
          </p:nvPr>
        </p:nvSpPr>
        <p:spPr>
          <a:xfrm>
            <a:off x="548640" y="713232"/>
            <a:ext cx="11064240" cy="777240"/>
          </a:xfrm>
          <a:prstGeom prst="rect">
            <a:avLst/>
          </a:prstGeom>
          <a:noFill/>
          <a:ln/>
        </p:spPr>
        <p:txBody>
          <a:bodyPr wrap="square" rtlCol="0"/>
          <a:lstStyle/>
          <a:p>
            <a:pPr algn="l" indent="0" marL="0">
              <a:buNone/>
            </a:pPr>
            <a:r>
              <a:rPr lang="en-US" sz="3200" b="1" dirty="0">
                <a:solidFill>
                  <a:schemeClr val="tx1"/>
                </a:solidFill>
                <a:latin typeface="Cambria" pitchFamily="34" charset="0"/>
                <a:ea typeface="Cambria" pitchFamily="34" charset="-122"/>
                <a:cs typeface="Cambria" pitchFamily="34" charset="-120"/>
              </a:rPr>
              <a:t>github.com/Chethan616/n8n-epsilon  ·  public</a:t>
            </a:r>
            <a:endParaRPr lang="en-US" sz="3200" dirty="0"/>
          </a:p>
        </p:txBody>
      </p:sp>
      <p:sp>
        <p:nvSpPr>
          <p:cNvPr id="4" name="Shape 2"/>
          <p:cNvSpPr/>
          <p:nvPr/>
        </p:nvSpPr>
        <p:spPr>
          <a:xfrm>
            <a:off x="548640" y="1783080"/>
            <a:ext cx="5349240" cy="868680"/>
          </a:xfrm>
          <a:prstGeom prst="roundRect">
            <a:avLst>
              <a:gd name="adj" fmla="val 8421"/>
            </a:avLst>
          </a:prstGeom>
          <a:solidFill>
            <a:schemeClr val="bg1"/>
          </a:solidFill>
          <a:ln w="12700">
            <a:solidFill>
              <a:schemeClr val="accent5"/>
            </a:solidFill>
            <a:prstDash val="solid"/>
          </a:ln>
        </p:spPr>
      </p:sp>
      <p:sp>
        <p:nvSpPr>
          <p:cNvPr id="5" name="Text 3"/>
          <p:cNvSpPr txBox="1"/>
          <p:nvPr/>
        </p:nvSpPr>
        <p:spPr>
          <a:xfrm>
            <a:off x="777240" y="1874520"/>
            <a:ext cx="4892040" cy="320040"/>
          </a:xfrm>
          <a:prstGeom prst="rect">
            <a:avLst/>
          </a:prstGeom>
          <a:noFill/>
          <a:ln/>
        </p:spPr>
        <p:txBody>
          <a:bodyPr wrap="square" lIns="0" tIns="0" rIns="0" bIns="0" rtlCol="0" anchor="ctr"/>
          <a:lstStyle/>
          <a:p>
            <a:pPr algn="l" indent="0" marL="0">
              <a:buNone/>
            </a:pPr>
            <a:r>
              <a:rPr lang="en-US" sz="1300" b="1" dirty="0">
                <a:solidFill>
                  <a:schemeClr val="accent2"/>
                </a:solidFill>
                <a:latin typeface="Courier New" pitchFamily="34" charset="0"/>
                <a:ea typeface="Courier New" pitchFamily="34" charset="-122"/>
                <a:cs typeface="Courier New" pitchFamily="34" charset="-120"/>
              </a:rPr>
              <a:t>README.md</a:t>
            </a:r>
            <a:endParaRPr lang="en-US" sz="1300" dirty="0"/>
          </a:p>
        </p:txBody>
      </p:sp>
      <p:sp>
        <p:nvSpPr>
          <p:cNvPr id="6" name="Text 4"/>
          <p:cNvSpPr txBox="1"/>
          <p:nvPr/>
        </p:nvSpPr>
        <p:spPr>
          <a:xfrm>
            <a:off x="777240" y="2221992"/>
            <a:ext cx="4892040" cy="365760"/>
          </a:xfrm>
          <a:prstGeom prst="rect">
            <a:avLst/>
          </a:prstGeom>
          <a:noFill/>
          <a:ln/>
        </p:spPr>
        <p:txBody>
          <a:bodyPr wrap="square" lIns="0" tIns="0" rIns="0" bIns="0" rtlCol="0" anchor="ctr"/>
          <a:lstStyle/>
          <a:p>
            <a:pPr algn="l" indent="0" marL="0">
              <a:buNone/>
            </a:pPr>
            <a:r>
              <a:rPr lang="en-US" sz="1150" dirty="0">
                <a:solidFill>
                  <a:schemeClr val="accent6"/>
                </a:solidFill>
                <a:latin typeface="Calibri" pitchFamily="34" charset="0"/>
                <a:ea typeface="Calibri" pitchFamily="34" charset="-122"/>
                <a:cs typeface="Calibri" pitchFamily="34" charset="-120"/>
              </a:rPr>
              <a:t>Overview, architecture diagram, setup</a:t>
            </a:r>
            <a:endParaRPr lang="en-US" sz="1150" dirty="0"/>
          </a:p>
        </p:txBody>
      </p:sp>
      <p:sp>
        <p:nvSpPr>
          <p:cNvPr id="7" name="Shape 5"/>
          <p:cNvSpPr/>
          <p:nvPr/>
        </p:nvSpPr>
        <p:spPr>
          <a:xfrm>
            <a:off x="6263640" y="1783080"/>
            <a:ext cx="5349240" cy="868680"/>
          </a:xfrm>
          <a:prstGeom prst="roundRect">
            <a:avLst>
              <a:gd name="adj" fmla="val 8421"/>
            </a:avLst>
          </a:prstGeom>
          <a:solidFill>
            <a:schemeClr val="bg1"/>
          </a:solidFill>
          <a:ln w="12700">
            <a:solidFill>
              <a:schemeClr val="accent5"/>
            </a:solidFill>
            <a:prstDash val="solid"/>
          </a:ln>
        </p:spPr>
      </p:sp>
      <p:sp>
        <p:nvSpPr>
          <p:cNvPr id="8" name="Text 6"/>
          <p:cNvSpPr txBox="1"/>
          <p:nvPr/>
        </p:nvSpPr>
        <p:spPr>
          <a:xfrm>
            <a:off x="6492240" y="1874520"/>
            <a:ext cx="4892040" cy="320040"/>
          </a:xfrm>
          <a:prstGeom prst="rect">
            <a:avLst/>
          </a:prstGeom>
          <a:noFill/>
          <a:ln/>
        </p:spPr>
        <p:txBody>
          <a:bodyPr wrap="square" lIns="0" tIns="0" rIns="0" bIns="0" rtlCol="0" anchor="ctr"/>
          <a:lstStyle/>
          <a:p>
            <a:pPr algn="l" indent="0" marL="0">
              <a:buNone/>
            </a:pPr>
            <a:r>
              <a:rPr lang="en-US" sz="1300" b="1" dirty="0">
                <a:solidFill>
                  <a:schemeClr val="accent2"/>
                </a:solidFill>
                <a:latin typeface="Courier New" pitchFamily="34" charset="0"/>
                <a:ea typeface="Courier New" pitchFamily="34" charset="-122"/>
                <a:cs typeface="Courier New" pitchFamily="34" charset="-120"/>
              </a:rPr>
              <a:t>plan.md</a:t>
            </a:r>
            <a:endParaRPr lang="en-US" sz="1300" dirty="0"/>
          </a:p>
        </p:txBody>
      </p:sp>
      <p:sp>
        <p:nvSpPr>
          <p:cNvPr id="9" name="Text 7"/>
          <p:cNvSpPr txBox="1"/>
          <p:nvPr/>
        </p:nvSpPr>
        <p:spPr>
          <a:xfrm>
            <a:off x="6492240" y="2221992"/>
            <a:ext cx="4892040" cy="365760"/>
          </a:xfrm>
          <a:prstGeom prst="rect">
            <a:avLst/>
          </a:prstGeom>
          <a:noFill/>
          <a:ln/>
        </p:spPr>
        <p:txBody>
          <a:bodyPr wrap="square" lIns="0" tIns="0" rIns="0" bIns="0" rtlCol="0" anchor="ctr"/>
          <a:lstStyle/>
          <a:p>
            <a:pPr algn="l" indent="0" marL="0">
              <a:buNone/>
            </a:pPr>
            <a:r>
              <a:rPr lang="en-US" sz="1150" dirty="0">
                <a:solidFill>
                  <a:schemeClr val="accent6"/>
                </a:solidFill>
                <a:latin typeface="Calibri" pitchFamily="34" charset="0"/>
                <a:ea typeface="Calibri" pitchFamily="34" charset="-122"/>
                <a:cs typeface="Calibri" pitchFamily="34" charset="-120"/>
              </a:rPr>
              <a:t>Reminder + claim-based design, task split</a:t>
            </a:r>
            <a:endParaRPr lang="en-US" sz="1150" dirty="0"/>
          </a:p>
        </p:txBody>
      </p:sp>
      <p:sp>
        <p:nvSpPr>
          <p:cNvPr id="10" name="Shape 8"/>
          <p:cNvSpPr/>
          <p:nvPr/>
        </p:nvSpPr>
        <p:spPr>
          <a:xfrm>
            <a:off x="548640" y="2816352"/>
            <a:ext cx="5349240" cy="868680"/>
          </a:xfrm>
          <a:prstGeom prst="roundRect">
            <a:avLst>
              <a:gd name="adj" fmla="val 8421"/>
            </a:avLst>
          </a:prstGeom>
          <a:solidFill>
            <a:schemeClr val="bg1"/>
          </a:solidFill>
          <a:ln w="12700">
            <a:solidFill>
              <a:schemeClr val="accent5"/>
            </a:solidFill>
            <a:prstDash val="solid"/>
          </a:ln>
        </p:spPr>
      </p:sp>
      <p:sp>
        <p:nvSpPr>
          <p:cNvPr id="11" name="Text 9"/>
          <p:cNvSpPr txBox="1"/>
          <p:nvPr/>
        </p:nvSpPr>
        <p:spPr>
          <a:xfrm>
            <a:off x="777240" y="2907792"/>
            <a:ext cx="4892040" cy="320040"/>
          </a:xfrm>
          <a:prstGeom prst="rect">
            <a:avLst/>
          </a:prstGeom>
          <a:noFill/>
          <a:ln/>
        </p:spPr>
        <p:txBody>
          <a:bodyPr wrap="square" lIns="0" tIns="0" rIns="0" bIns="0" rtlCol="0" anchor="ctr"/>
          <a:lstStyle/>
          <a:p>
            <a:pPr algn="l" indent="0" marL="0">
              <a:buNone/>
            </a:pPr>
            <a:r>
              <a:rPr lang="en-US" sz="1300" b="1" dirty="0">
                <a:solidFill>
                  <a:schemeClr val="accent2"/>
                </a:solidFill>
                <a:latin typeface="Courier New" pitchFamily="34" charset="0"/>
                <a:ea typeface="Courier New" pitchFamily="34" charset="-122"/>
                <a:cs typeface="Courier New" pitchFamily="34" charset="-120"/>
              </a:rPr>
              <a:t>docs/architecture.md</a:t>
            </a:r>
            <a:endParaRPr lang="en-US" sz="1300" dirty="0"/>
          </a:p>
        </p:txBody>
      </p:sp>
      <p:sp>
        <p:nvSpPr>
          <p:cNvPr id="12" name="Text 10"/>
          <p:cNvSpPr txBox="1"/>
          <p:nvPr/>
        </p:nvSpPr>
        <p:spPr>
          <a:xfrm>
            <a:off x="777240" y="3255264"/>
            <a:ext cx="4892040" cy="365760"/>
          </a:xfrm>
          <a:prstGeom prst="rect">
            <a:avLst/>
          </a:prstGeom>
          <a:noFill/>
          <a:ln/>
        </p:spPr>
        <p:txBody>
          <a:bodyPr wrap="square" lIns="0" tIns="0" rIns="0" bIns="0" rtlCol="0" anchor="ctr"/>
          <a:lstStyle/>
          <a:p>
            <a:pPr algn="l" indent="0" marL="0">
              <a:buNone/>
            </a:pPr>
            <a:r>
              <a:rPr lang="en-US" sz="1150" dirty="0">
                <a:solidFill>
                  <a:schemeClr val="accent6"/>
                </a:solidFill>
                <a:latin typeface="Calibri" pitchFamily="34" charset="0"/>
                <a:ea typeface="Calibri" pitchFamily="34" charset="-122"/>
                <a:cs typeface="Calibri" pitchFamily="34" charset="-120"/>
              </a:rPr>
              <a:t>Full design doc</a:t>
            </a:r>
            <a:endParaRPr lang="en-US" sz="1150" dirty="0"/>
          </a:p>
        </p:txBody>
      </p:sp>
      <p:sp>
        <p:nvSpPr>
          <p:cNvPr id="13" name="Shape 11"/>
          <p:cNvSpPr/>
          <p:nvPr/>
        </p:nvSpPr>
        <p:spPr>
          <a:xfrm>
            <a:off x="6263640" y="2816352"/>
            <a:ext cx="5349240" cy="868680"/>
          </a:xfrm>
          <a:prstGeom prst="roundRect">
            <a:avLst>
              <a:gd name="adj" fmla="val 8421"/>
            </a:avLst>
          </a:prstGeom>
          <a:solidFill>
            <a:schemeClr val="bg1"/>
          </a:solidFill>
          <a:ln w="12700">
            <a:solidFill>
              <a:schemeClr val="accent5"/>
            </a:solidFill>
            <a:prstDash val="solid"/>
          </a:ln>
        </p:spPr>
      </p:sp>
      <p:sp>
        <p:nvSpPr>
          <p:cNvPr id="14" name="Text 12"/>
          <p:cNvSpPr txBox="1"/>
          <p:nvPr/>
        </p:nvSpPr>
        <p:spPr>
          <a:xfrm>
            <a:off x="6492240" y="2907792"/>
            <a:ext cx="4892040" cy="320040"/>
          </a:xfrm>
          <a:prstGeom prst="rect">
            <a:avLst/>
          </a:prstGeom>
          <a:noFill/>
          <a:ln/>
        </p:spPr>
        <p:txBody>
          <a:bodyPr wrap="square" lIns="0" tIns="0" rIns="0" bIns="0" rtlCol="0" anchor="ctr"/>
          <a:lstStyle/>
          <a:p>
            <a:pPr algn="l" indent="0" marL="0">
              <a:buNone/>
            </a:pPr>
            <a:r>
              <a:rPr lang="en-US" sz="1300" b="1" dirty="0">
                <a:solidFill>
                  <a:schemeClr val="accent2"/>
                </a:solidFill>
                <a:latin typeface="Courier New" pitchFamily="34" charset="0"/>
                <a:ea typeface="Courier New" pitchFamily="34" charset="-122"/>
                <a:cs typeface="Courier New" pitchFamily="34" charset="-120"/>
              </a:rPr>
              <a:t>docs/test-results.md</a:t>
            </a:r>
            <a:endParaRPr lang="en-US" sz="1300" dirty="0"/>
          </a:p>
        </p:txBody>
      </p:sp>
      <p:sp>
        <p:nvSpPr>
          <p:cNvPr id="15" name="Text 13"/>
          <p:cNvSpPr txBox="1"/>
          <p:nvPr/>
        </p:nvSpPr>
        <p:spPr>
          <a:xfrm>
            <a:off x="6492240" y="3255264"/>
            <a:ext cx="4892040" cy="365760"/>
          </a:xfrm>
          <a:prstGeom prst="rect">
            <a:avLst/>
          </a:prstGeom>
          <a:noFill/>
          <a:ln/>
        </p:spPr>
        <p:txBody>
          <a:bodyPr wrap="square" lIns="0" tIns="0" rIns="0" bIns="0" rtlCol="0" anchor="ctr"/>
          <a:lstStyle/>
          <a:p>
            <a:pPr algn="l" indent="0" marL="0">
              <a:buNone/>
            </a:pPr>
            <a:r>
              <a:rPr lang="en-US" sz="1150" dirty="0">
                <a:solidFill>
                  <a:schemeClr val="accent6"/>
                </a:solidFill>
                <a:latin typeface="Calibri" pitchFamily="34" charset="0"/>
                <a:ea typeface="Calibri" pitchFamily="34" charset="-122"/>
                <a:cs typeface="Calibri" pitchFamily="34" charset="-120"/>
              </a:rPr>
              <a:t>Unit + end-to-end results</a:t>
            </a:r>
            <a:endParaRPr lang="en-US" sz="1150" dirty="0"/>
          </a:p>
        </p:txBody>
      </p:sp>
      <p:sp>
        <p:nvSpPr>
          <p:cNvPr id="16" name="Shape 14"/>
          <p:cNvSpPr/>
          <p:nvPr/>
        </p:nvSpPr>
        <p:spPr>
          <a:xfrm>
            <a:off x="548640" y="3849624"/>
            <a:ext cx="5349240" cy="868680"/>
          </a:xfrm>
          <a:prstGeom prst="roundRect">
            <a:avLst>
              <a:gd name="adj" fmla="val 8421"/>
            </a:avLst>
          </a:prstGeom>
          <a:solidFill>
            <a:schemeClr val="bg1"/>
          </a:solidFill>
          <a:ln w="12700">
            <a:solidFill>
              <a:schemeClr val="accent5"/>
            </a:solidFill>
            <a:prstDash val="solid"/>
          </a:ln>
        </p:spPr>
      </p:sp>
      <p:sp>
        <p:nvSpPr>
          <p:cNvPr id="17" name="Text 15"/>
          <p:cNvSpPr txBox="1"/>
          <p:nvPr/>
        </p:nvSpPr>
        <p:spPr>
          <a:xfrm>
            <a:off x="777240" y="3941064"/>
            <a:ext cx="4892040" cy="320040"/>
          </a:xfrm>
          <a:prstGeom prst="rect">
            <a:avLst/>
          </a:prstGeom>
          <a:noFill/>
          <a:ln/>
        </p:spPr>
        <p:txBody>
          <a:bodyPr wrap="square" lIns="0" tIns="0" rIns="0" bIns="0" rtlCol="0" anchor="ctr"/>
          <a:lstStyle/>
          <a:p>
            <a:pPr algn="l" indent="0" marL="0">
              <a:buNone/>
            </a:pPr>
            <a:r>
              <a:rPr lang="en-US" sz="1300" b="1" dirty="0">
                <a:solidFill>
                  <a:schemeClr val="accent2"/>
                </a:solidFill>
                <a:latin typeface="Courier New" pitchFamily="34" charset="0"/>
                <a:ea typeface="Courier New" pitchFamily="34" charset="-122"/>
                <a:cs typeface="Courier New" pitchFamily="34" charset="-120"/>
              </a:rPr>
              <a:t>workflows/*.json</a:t>
            </a:r>
            <a:endParaRPr lang="en-US" sz="1300" dirty="0"/>
          </a:p>
        </p:txBody>
      </p:sp>
      <p:sp>
        <p:nvSpPr>
          <p:cNvPr id="18" name="Text 16"/>
          <p:cNvSpPr txBox="1"/>
          <p:nvPr/>
        </p:nvSpPr>
        <p:spPr>
          <a:xfrm>
            <a:off x="777240" y="4288536"/>
            <a:ext cx="4892040" cy="365760"/>
          </a:xfrm>
          <a:prstGeom prst="rect">
            <a:avLst/>
          </a:prstGeom>
          <a:noFill/>
          <a:ln/>
        </p:spPr>
        <p:txBody>
          <a:bodyPr wrap="square" lIns="0" tIns="0" rIns="0" bIns="0" rtlCol="0" anchor="ctr"/>
          <a:lstStyle/>
          <a:p>
            <a:pPr algn="l" indent="0" marL="0">
              <a:buNone/>
            </a:pPr>
            <a:r>
              <a:rPr lang="en-US" sz="1150" dirty="0">
                <a:solidFill>
                  <a:schemeClr val="accent6"/>
                </a:solidFill>
                <a:latin typeface="Calibri" pitchFamily="34" charset="0"/>
                <a:ea typeface="Calibri" pitchFamily="34" charset="-122"/>
                <a:cs typeface="Calibri" pitchFamily="34" charset="-120"/>
              </a:rPr>
              <a:t>Importable n8n workflow + error handler</a:t>
            </a:r>
            <a:endParaRPr lang="en-US" sz="1150" dirty="0"/>
          </a:p>
        </p:txBody>
      </p:sp>
      <p:sp>
        <p:nvSpPr>
          <p:cNvPr id="19" name="Shape 17"/>
          <p:cNvSpPr/>
          <p:nvPr/>
        </p:nvSpPr>
        <p:spPr>
          <a:xfrm>
            <a:off x="6263640" y="3849624"/>
            <a:ext cx="5349240" cy="868680"/>
          </a:xfrm>
          <a:prstGeom prst="roundRect">
            <a:avLst>
              <a:gd name="adj" fmla="val 8421"/>
            </a:avLst>
          </a:prstGeom>
          <a:solidFill>
            <a:schemeClr val="bg1"/>
          </a:solidFill>
          <a:ln w="12700">
            <a:solidFill>
              <a:schemeClr val="accent5"/>
            </a:solidFill>
            <a:prstDash val="solid"/>
          </a:ln>
        </p:spPr>
      </p:sp>
      <p:sp>
        <p:nvSpPr>
          <p:cNvPr id="20" name="Text 18"/>
          <p:cNvSpPr txBox="1"/>
          <p:nvPr/>
        </p:nvSpPr>
        <p:spPr>
          <a:xfrm>
            <a:off x="6492240" y="3941064"/>
            <a:ext cx="4892040" cy="320040"/>
          </a:xfrm>
          <a:prstGeom prst="rect">
            <a:avLst/>
          </a:prstGeom>
          <a:noFill/>
          <a:ln/>
        </p:spPr>
        <p:txBody>
          <a:bodyPr wrap="square" lIns="0" tIns="0" rIns="0" bIns="0" rtlCol="0" anchor="ctr"/>
          <a:lstStyle/>
          <a:p>
            <a:pPr algn="l" indent="0" marL="0">
              <a:buNone/>
            </a:pPr>
            <a:r>
              <a:rPr lang="en-US" sz="1300" b="1" dirty="0">
                <a:solidFill>
                  <a:schemeClr val="accent2"/>
                </a:solidFill>
                <a:latin typeface="Courier New" pitchFamily="34" charset="0"/>
                <a:ea typeface="Courier New" pitchFamily="34" charset="-122"/>
                <a:cs typeface="Courier New" pitchFamily="34" charset="-120"/>
              </a:rPr>
              <a:t>.env.example, links.txt</a:t>
            </a:r>
            <a:endParaRPr lang="en-US" sz="1300" dirty="0"/>
          </a:p>
        </p:txBody>
      </p:sp>
      <p:sp>
        <p:nvSpPr>
          <p:cNvPr id="21" name="Text 19"/>
          <p:cNvSpPr txBox="1"/>
          <p:nvPr/>
        </p:nvSpPr>
        <p:spPr>
          <a:xfrm>
            <a:off x="6492240" y="4288536"/>
            <a:ext cx="4892040" cy="365760"/>
          </a:xfrm>
          <a:prstGeom prst="rect">
            <a:avLst/>
          </a:prstGeom>
          <a:noFill/>
          <a:ln/>
        </p:spPr>
        <p:txBody>
          <a:bodyPr wrap="square" lIns="0" tIns="0" rIns="0" bIns="0" rtlCol="0" anchor="ctr"/>
          <a:lstStyle/>
          <a:p>
            <a:pPr algn="l" indent="0" marL="0">
              <a:buNone/>
            </a:pPr>
            <a:r>
              <a:rPr lang="en-US" sz="1150" dirty="0">
                <a:solidFill>
                  <a:schemeClr val="accent6"/>
                </a:solidFill>
                <a:latin typeface="Calibri" pitchFamily="34" charset="0"/>
                <a:ea typeface="Calibri" pitchFamily="34" charset="-122"/>
                <a:cs typeface="Calibri" pitchFamily="34" charset="-120"/>
              </a:rPr>
              <a:t>Config template and reference links</a:t>
            </a:r>
            <a:endParaRPr lang="en-US" sz="1150" dirty="0"/>
          </a:p>
        </p:txBody>
      </p:sp>
      <p:sp>
        <p:nvSpPr>
          <p:cNvPr id="25" name="Slide Number Placeholder 0"/>
          <p:cNvSpPr>
            <a:spLocks noGrp="1"/>
          </p:cNvSpPr>
          <p:nvPr>
            <p:ph type="sldNum" sz="quarter" idx="4294967295"/>
          </p:nvPr>
        </p:nvSpPr>
        <p:spPr>
          <a:xfrm>
            <a:off x="1143000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Epsilon Incident Monitor">
  <a:themeElements>
    <a:clrScheme name="Epsilon Incident Monitor">
      <a:dk1>
        <a:srgbClr val="101828"/>
      </a:dk1>
      <a:lt1>
        <a:srgbClr val="FFFFFF"/>
      </a:lt1>
      <a:dk2>
        <a:srgbClr val="0B1220"/>
      </a:dk2>
      <a:lt2>
        <a:srgbClr val="F7F8FA"/>
      </a:lt2>
      <a:accent1>
        <a:srgbClr val="F2994A"/>
      </a:accent1>
      <a:accent2>
        <a:srgbClr val="2F6FED"/>
      </a:accent2>
      <a:accent3>
        <a:srgbClr val="0EA5A3"/>
      </a:accent3>
      <a:accent4>
        <a:srgbClr val="6B7280"/>
      </a:accent4>
      <a:accent5>
        <a:srgbClr val="E3E6E4"/>
      </a:accent5>
      <a:accent6>
        <a:srgbClr val="4A5568"/>
      </a:accent6>
      <a:hlink>
        <a:srgbClr val="2F6FED"/>
      </a:hlink>
      <a:folHlink>
        <a:srgbClr val="6B7280"/>
      </a:folHlink>
    </a:clrScheme>
    <a:fontScheme name="Epsilon Incident Monit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2026-10-26T19:20:12Z</dcterms:created>
  <dcterms:modified xsi:type="dcterms:W3CDTF">2026-10-26T19:20:12Z</dcterms:modified>
</cp:coreProperties>
</file>
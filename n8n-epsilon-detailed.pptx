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1819c7f5-bc89-5463-2b25-199a4ebb9c22}">
          <p14:sldIdLst>
            <p14:sldId id="256"/>
          </p14:sldIdLst>
        </p14:section>
        <p14:section name="Overview" id="{7e1473d0-e326-cb20-fc18-408d0ddd8cad}">
          <p14:sldIdLst>
            <p14:sldId id="257"/>
            <p14:sldId id="258"/>
          </p14:sldIdLst>
        </p14:section>
        <p14:section name="Architecture" id="{ffcbe2b7-a026-c210-bb7d-237cdeac39b1}">
          <p14:sldIdLst>
            <p14:sldId id="259"/>
            <p14:sldId id="260"/>
          </p14:sldIdLst>
        </p14:section>
        <p14:section name="Logic" id="{f09171c5-154f-6aed-d1aa-f924bb488615}">
          <p14:sldIdLst>
            <p14:sldId id="261"/>
          </p14:sldIdLst>
        </p14:section>
        <p14:section name="Pipeline" id="{ae95dfdd-dbfb-15ad-b82e-8ac06b111c6e}">
          <p14:sldIdLst>
            <p14:sldId id="262"/>
          </p14:sldIdLst>
        </p14:section>
        <p14:section name="Reliability" id="{5231954d-7539-f912-4445-e7578415b34d}">
          <p14:sldIdLst>
            <p14:sldId id="263"/>
            <p14:sldId id="264"/>
            <p14:sldId id="265"/>
            <p14:sldId id="266"/>
            <p14:sldId id="267"/>
            <p14:sldId id="268"/>
          </p14:sldIdLst>
        </p14:section>
        <p14:section name="Delivery" id="{ecd6551d-bae9-decc-3c6b-1b066dd13355}">
          <p14:sldIdLst>
            <p14:sldId id="269"/>
            <p14:sldId id="270"/>
            <p14:sldId id="271"/>
          </p14:sldIdLst>
        </p14:section>
        <p14:section name="Status" id="{c869a52f-7927-cbaf-e265-10f9572deff4}">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9601200" cy="1463040"/>
          </a:xfrm>
          <a:prstGeom prst="rect">
            <a:avLst/>
          </a:prstGeom>
          <a:noFill/>
          <a:ln/>
        </p:spPr>
        <p:txBody>
          <a:bodyPr wrap="square" rtlCol="0"/>
          <a:lstStyle>
            <a:lvl1pPr algn="l" indent="0" marL="0">
              <a:buNone/>
              <a:defRPr lang="en-US" sz="1800" dirty="0">
                <a:solidFill>
                  <a:srgbClr val="AEB8C9"/>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743200"/>
            <a:ext cx="1051560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4160520"/>
            <a:ext cx="9601200" cy="1097280"/>
          </a:xfrm>
          <a:prstGeom prst="rect">
            <a:avLst/>
          </a:prstGeom>
          <a:noFill/>
          <a:ln/>
        </p:spPr>
        <p:txBody>
          <a:bodyPr wrap="square" rtlCol="0"/>
          <a:lstStyle>
            <a:lvl1pPr algn="l" indent="0" marL="0">
              <a:buNone/>
              <a:defRPr lang="en-US" sz="1600" dirty="0">
                <a:solidFill>
                  <a:srgbClr val="AEB8C9"/>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lvl1pPr algn="l" indent="0" marL="0">
              <a:buNone/>
              <a:defRPr lang="en-US" sz="1300" b="1" spc="200" kern="0" dirty="0">
                <a:solidFill>
                  <a:schemeClr val="accent2"/>
                </a:solidFill>
                <a:latin typeface="Calibri" pitchFamily="34" charset="0"/>
                <a:ea typeface="Calibri" pitchFamily="34" charset="-122"/>
                <a:cs typeface="Calibri" pitchFamily="34" charset="-120"/>
              </a:defRPr>
            </a:lvl1pPr>
          </a:lstStyle>
          <a:p>
            <a:pPr algn="l" indent="0" marL="0">
              <a:buNone/>
            </a:pP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510528"/>
            <a:ext cx="7315200" cy="274320"/>
          </a:xfrm>
          <a:prstGeom prst="rect">
            <a:avLst/>
          </a:prstGeom>
          <a:noFill/>
          <a:ln/>
        </p:spPr>
        <p:txBody>
          <a:bodyPr wrap="square" rtlCol="0" anchor="ctr"/>
          <a:lstStyle/>
          <a:p>
            <a:pPr algn="l" indent="0" marL="0">
              <a:buNone/>
            </a:pPr>
            <a:r>
              <a:rPr lang="en-US" sz="1000" dirty="0">
                <a:solidFill>
                  <a:schemeClr val="accent4"/>
                </a:solidFill>
                <a:latin typeface="Calibri" pitchFamily="34" charset="0"/>
                <a:ea typeface="Calibri" pitchFamily="34" charset="-122"/>
                <a:cs typeface="Calibri" pitchFamily="34" charset="-120"/>
              </a:rPr>
              <a:t>n8n-epsilon · ServiceNow Incident Monitoring &amp; Alerts</a:t>
            </a:r>
            <a:endParaRPr lang="en-US" sz="10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822960"/>
            <a:ext cx="10515600" cy="10058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554480"/>
            <a:ext cx="91440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latin typeface="Calibri" pitchFamily="34" charset="0"/>
                <a:ea typeface="Calibri" pitchFamily="34" charset="-122"/>
                <a:cs typeface="Calibri" pitchFamily="34" charset="-120"/>
              </a:rPr>
              <a:t>EPSILON · PUBLICIS GROUPE AUTOMATION ASSIGNMENT</a:t>
            </a:r>
            <a:endParaRPr lang="en-US" sz="1400" dirty="0"/>
          </a:p>
        </p:txBody>
      </p:sp>
      <p:sp>
        <p:nvSpPr>
          <p:cNvPr id="3" name="Text 0"/>
          <p:cNvSpPr/>
          <p:nvPr>
            <p:ph idx="100" type="title" hasCustomPrompt="1"/>
          </p:nvPr>
        </p:nvSpPr>
        <p:spPr>
          <a:xfrm>
            <a:off x="822960" y="2286000"/>
            <a:ext cx="10515600" cy="164592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ServiceNow Incident Monitoring &amp; Alerts</a:t>
            </a:r>
            <a:endParaRPr lang="en-US" sz="4400" dirty="0"/>
          </a:p>
        </p:txBody>
      </p:sp>
      <p:sp>
        <p:nvSpPr>
          <p:cNvPr id="4" name="Text 0"/>
          <p:cNvSpPr/>
          <p:nvPr>
            <p:ph idx="101" type="body" hasCustomPrompt="1"/>
          </p:nvPr>
        </p:nvSpPr>
        <p:spPr>
          <a:xfrm>
            <a:off x="822960" y="4023360"/>
            <a:ext cx="9601200" cy="1463040"/>
          </a:xfrm>
          <a:prstGeom prst="rect">
            <a:avLst/>
          </a:prstGeom>
          <a:noFill/>
          <a:ln/>
        </p:spPr>
        <p:txBody>
          <a:bodyPr wrap="square" rtlCol="0"/>
          <a:lstStyle/>
          <a:p>
            <a:pPr algn="l" indent="0" marL="0">
              <a:buNone/>
            </a:pPr>
            <a:r>
              <a:rPr lang="en-US" sz="1800" dirty="0">
                <a:solidFill>
                  <a:srgbClr val="AEB8C9"/>
                </a:solidFill>
                <a:latin typeface="Calibri" pitchFamily="34" charset="0"/>
                <a:ea typeface="Calibri" pitchFamily="34" charset="-122"/>
                <a:cs typeface="Calibri" pitchFamily="34" charset="-120"/>
              </a:rPr>
              <a:t>How we built a crash-safe n8n workflow that watches ServiceNow and emails the team the moment an incident needs attention.</a:t>
            </a:r>
            <a:endParaRPr lang="en-US" sz="1800" dirty="0"/>
          </a:p>
        </p:txBody>
      </p:sp>
      <p:sp>
        <p:nvSpPr>
          <p:cNvPr id="5" name="Text 3"/>
          <p:cNvSpPr txBox="1"/>
          <p:nvPr/>
        </p:nvSpPr>
        <p:spPr>
          <a:xfrm>
            <a:off x="822960" y="5806440"/>
            <a:ext cx="9144000" cy="365760"/>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Sanjna J</a:t>
            </a:r>
            <a:pPr algn="l" indent="0" marL="0">
              <a:buNone/>
            </a:pPr>
            <a:r>
              <a:rPr lang="en-US" sz="1500" dirty="0">
                <a:solidFill>
                  <a:schemeClr val="accent4"/>
                </a:solidFill>
                <a:latin typeface="Calibri" pitchFamily="34" charset="0"/>
                <a:ea typeface="Calibri" pitchFamily="34" charset="-122"/>
                <a:cs typeface="Calibri" pitchFamily="34" charset="-120"/>
              </a:rPr>
              <a:t>   ·   </a:t>
            </a:r>
            <a:pPr algn="l" indent="0" marL="0">
              <a:buNone/>
            </a:pPr>
            <a:r>
              <a:rPr lang="en-US" sz="1500" b="1" dirty="0">
                <a:solidFill>
                  <a:srgbClr val="FFFFFF"/>
                </a:solidFill>
                <a:latin typeface="Calibri" pitchFamily="34" charset="0"/>
                <a:ea typeface="Calibri" pitchFamily="34" charset="-122"/>
                <a:cs typeface="Calibri" pitchFamily="34" charset="-120"/>
              </a:rPr>
              <a:t>Manikonda Chethan Krishna</a:t>
            </a:r>
            <a:endParaRPr lang="en-US" sz="1500" dirty="0"/>
          </a:p>
        </p:txBody>
      </p:sp>
      <p:sp>
        <p:nvSpPr>
          <p:cNvPr id="6" name="Text 4"/>
          <p:cNvSpPr txBox="1"/>
          <p:nvPr/>
        </p:nvSpPr>
        <p:spPr>
          <a:xfrm>
            <a:off x="822960" y="6172200"/>
            <a:ext cx="9144000" cy="320040"/>
          </a:xfrm>
          <a:prstGeom prst="rect">
            <a:avLst/>
          </a:prstGeom>
          <a:noFill/>
          <a:ln/>
        </p:spPr>
        <p:txBody>
          <a:bodyPr wrap="square" lIns="0" tIns="0" rIns="0" bIns="0" rtlCol="0" anchor="ctr"/>
          <a:lstStyle/>
          <a:p>
            <a:pPr algn="l" indent="0" marL="0">
              <a:buNone/>
            </a:pPr>
            <a:r>
              <a:rPr lang="en-US" sz="1200" dirty="0">
                <a:solidFill>
                  <a:schemeClr val="accent4"/>
                </a:solidFill>
                <a:latin typeface="Calibri" pitchFamily="34" charset="0"/>
                <a:ea typeface="Calibri" pitchFamily="34" charset="-122"/>
                <a:cs typeface="Calibri" pitchFamily="34" charset="-120"/>
              </a:rPr>
              <a:t>n8n Community Edition  ·  ServiceNow Table API  ·  Gmail SMTP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PROBLEM STATEMENT</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Critical incidents can sit unnoticed between manual checks</a:t>
            </a:r>
            <a:endParaRPr lang="en-US" sz="3200" dirty="0"/>
          </a:p>
        </p:txBody>
      </p:sp>
      <p:sp>
        <p:nvSpPr>
          <p:cNvPr id="4" name="Text 2"/>
          <p:cNvSpPr txBox="1"/>
          <p:nvPr/>
        </p:nvSpPr>
        <p:spPr>
          <a:xfrm>
            <a:off x="548640" y="1691640"/>
            <a:ext cx="11064240" cy="777240"/>
          </a:xfrm>
          <a:prstGeom prst="rect">
            <a:avLst/>
          </a:prstGeom>
          <a:noFill/>
          <a:ln/>
        </p:spPr>
        <p:txBody>
          <a:bodyPr wrap="square" lIns="0" tIns="0" rIns="0" bIns="0" rtlCol="0" anchor="ctr"/>
          <a:lstStyle/>
          <a:p>
            <a:pPr algn="l" indent="0" marL="0">
              <a:lnSpc>
                <a:spcPct val="125000"/>
              </a:lnSpc>
              <a:buNone/>
            </a:pPr>
            <a:r>
              <a:rPr lang="en-US" sz="1500" dirty="0">
                <a:solidFill>
                  <a:schemeClr val="accent6"/>
                </a:solidFill>
                <a:latin typeface="Calibri" pitchFamily="34" charset="0"/>
                <a:ea typeface="Calibri" pitchFamily="34" charset="-122"/>
                <a:cs typeface="Calibri" pitchFamily="34" charset="-120"/>
              </a:rPr>
              <a:t>ServiceNow incidents are tracked manually today. There is no automated path from “an incident needs attention” to “the right person was told” — and once an email is sent, nothing ensures it's not sent twice, or that a still-unresolved critical incident gets a second look.</a:t>
            </a:r>
            <a:endParaRPr lang="en-US" sz="1500" dirty="0"/>
          </a:p>
        </p:txBody>
      </p:sp>
      <p:sp>
        <p:nvSpPr>
          <p:cNvPr id="5" name="Shape 3"/>
          <p:cNvSpPr/>
          <p:nvPr/>
        </p:nvSpPr>
        <p:spPr>
          <a:xfrm>
            <a:off x="548640" y="2743200"/>
            <a:ext cx="3520440" cy="2651760"/>
          </a:xfrm>
          <a:prstGeom prst="roundRect">
            <a:avLst>
              <a:gd name="adj" fmla="val 2759"/>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6" name="Shape 4"/>
          <p:cNvSpPr/>
          <p:nvPr/>
        </p:nvSpPr>
        <p:spPr>
          <a:xfrm>
            <a:off x="822960" y="3017520"/>
            <a:ext cx="502920" cy="502920"/>
          </a:xfrm>
          <a:prstGeom prst="roundRect">
            <a:avLst>
              <a:gd name="adj" fmla="val 18182"/>
            </a:avLst>
          </a:prstGeom>
          <a:solidFill>
            <a:schemeClr val="accent1"/>
          </a:solidFill>
          <a:ln/>
        </p:spPr>
      </p:sp>
      <p:sp>
        <p:nvSpPr>
          <p:cNvPr id="7" name="Text 5"/>
          <p:cNvSpPr txBox="1"/>
          <p:nvPr/>
        </p:nvSpPr>
        <p:spPr>
          <a:xfrm>
            <a:off x="822960" y="3017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txBox="1"/>
          <p:nvPr/>
        </p:nvSpPr>
        <p:spPr>
          <a:xfrm>
            <a:off x="822960" y="3703320"/>
            <a:ext cx="2971800" cy="457200"/>
          </a:xfrm>
          <a:prstGeom prst="rect">
            <a:avLst/>
          </a:prstGeom>
          <a:noFill/>
          <a:ln/>
        </p:spPr>
        <p:txBody>
          <a:bodyPr wrap="square" lIns="0" tIns="0" rIns="0" bIns="0" rtlCol="0" anchor="ctr"/>
          <a:lstStyle/>
          <a:p>
            <a:pPr algn="l" indent="0" marL="0">
              <a:buNone/>
            </a:pPr>
            <a:r>
              <a:rPr lang="en-US" sz="1700" b="1" dirty="0">
                <a:solidFill>
                  <a:schemeClr val="tx1"/>
                </a:solidFill>
                <a:latin typeface="Cambria" pitchFamily="34" charset="0"/>
                <a:ea typeface="Cambria" pitchFamily="34" charset="-122"/>
                <a:cs typeface="Cambria" pitchFamily="34" charset="-120"/>
              </a:rPr>
              <a:t>Delayed response</a:t>
            </a:r>
            <a:endParaRPr lang="en-US" sz="1700" dirty="0"/>
          </a:p>
        </p:txBody>
      </p:sp>
      <p:sp>
        <p:nvSpPr>
          <p:cNvPr id="9" name="Text 7"/>
          <p:cNvSpPr txBox="1"/>
          <p:nvPr/>
        </p:nvSpPr>
        <p:spPr>
          <a:xfrm>
            <a:off x="822960" y="4160520"/>
            <a:ext cx="2971800" cy="1097280"/>
          </a:xfrm>
          <a:prstGeom prst="rect">
            <a:avLst/>
          </a:prstGeom>
          <a:noFill/>
          <a:ln/>
        </p:spPr>
        <p:txBody>
          <a:bodyPr wrap="square" lIns="0" tIns="0" rIns="0" bIns="0" rtlCol="0" anchor="ctr"/>
          <a:lstStyle/>
          <a:p>
            <a:pPr algn="l" indent="0" marL="0">
              <a:lnSpc>
                <a:spcPct val="125000"/>
              </a:lnSpc>
              <a:buNone/>
            </a:pPr>
            <a:r>
              <a:rPr lang="en-US" sz="1300" dirty="0">
                <a:solidFill>
                  <a:schemeClr val="accent6"/>
                </a:solidFill>
                <a:latin typeface="Calibri" pitchFamily="34" charset="0"/>
                <a:ea typeface="Calibri" pitchFamily="34" charset="-122"/>
                <a:cs typeface="Calibri" pitchFamily="34" charset="-120"/>
              </a:rPr>
              <a:t>Teams only notice a critical incident when someone happens to check the console.</a:t>
            </a:r>
            <a:endParaRPr lang="en-US" sz="1300" dirty="0"/>
          </a:p>
        </p:txBody>
      </p:sp>
      <p:sp>
        <p:nvSpPr>
          <p:cNvPr id="10" name="Shape 8"/>
          <p:cNvSpPr/>
          <p:nvPr/>
        </p:nvSpPr>
        <p:spPr>
          <a:xfrm>
            <a:off x="4343400" y="2743200"/>
            <a:ext cx="3520440" cy="2651760"/>
          </a:xfrm>
          <a:prstGeom prst="roundRect">
            <a:avLst>
              <a:gd name="adj" fmla="val 2759"/>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1" name="Shape 9"/>
          <p:cNvSpPr/>
          <p:nvPr/>
        </p:nvSpPr>
        <p:spPr>
          <a:xfrm>
            <a:off x="4617720" y="3017520"/>
            <a:ext cx="502920" cy="502920"/>
          </a:xfrm>
          <a:prstGeom prst="roundRect">
            <a:avLst>
              <a:gd name="adj" fmla="val 18182"/>
            </a:avLst>
          </a:prstGeom>
          <a:solidFill>
            <a:schemeClr val="accent1"/>
          </a:solidFill>
          <a:ln/>
        </p:spPr>
      </p:sp>
      <p:sp>
        <p:nvSpPr>
          <p:cNvPr id="12" name="Text 10"/>
          <p:cNvSpPr txBox="1"/>
          <p:nvPr/>
        </p:nvSpPr>
        <p:spPr>
          <a:xfrm>
            <a:off x="4617720" y="3017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4617720" y="3703320"/>
            <a:ext cx="2971800" cy="457200"/>
          </a:xfrm>
          <a:prstGeom prst="rect">
            <a:avLst/>
          </a:prstGeom>
          <a:noFill/>
          <a:ln/>
        </p:spPr>
        <p:txBody>
          <a:bodyPr wrap="square" lIns="0" tIns="0" rIns="0" bIns="0" rtlCol="0" anchor="ctr"/>
          <a:lstStyle/>
          <a:p>
            <a:pPr algn="l" indent="0" marL="0">
              <a:buNone/>
            </a:pPr>
            <a:r>
              <a:rPr lang="en-US" sz="1700" b="1" dirty="0">
                <a:solidFill>
                  <a:schemeClr val="tx1"/>
                </a:solidFill>
                <a:latin typeface="Cambria" pitchFamily="34" charset="0"/>
                <a:ea typeface="Cambria" pitchFamily="34" charset="-122"/>
                <a:cs typeface="Cambria" pitchFamily="34" charset="-120"/>
              </a:rPr>
              <a:t>No escalation</a:t>
            </a:r>
            <a:endParaRPr lang="en-US" sz="1700" dirty="0"/>
          </a:p>
        </p:txBody>
      </p:sp>
      <p:sp>
        <p:nvSpPr>
          <p:cNvPr id="14" name="Text 12"/>
          <p:cNvSpPr txBox="1"/>
          <p:nvPr/>
        </p:nvSpPr>
        <p:spPr>
          <a:xfrm>
            <a:off x="4617720" y="4160520"/>
            <a:ext cx="2971800" cy="1097280"/>
          </a:xfrm>
          <a:prstGeom prst="rect">
            <a:avLst/>
          </a:prstGeom>
          <a:noFill/>
          <a:ln/>
        </p:spPr>
        <p:txBody>
          <a:bodyPr wrap="square" lIns="0" tIns="0" rIns="0" bIns="0" rtlCol="0" anchor="ctr"/>
          <a:lstStyle/>
          <a:p>
            <a:pPr algn="l" indent="0" marL="0">
              <a:lnSpc>
                <a:spcPct val="125000"/>
              </a:lnSpc>
              <a:buNone/>
            </a:pPr>
            <a:r>
              <a:rPr lang="en-US" sz="1300" dirty="0">
                <a:solidFill>
                  <a:schemeClr val="accent6"/>
                </a:solidFill>
                <a:latin typeface="Calibri" pitchFamily="34" charset="0"/>
                <a:ea typeface="Calibri" pitchFamily="34" charset="-122"/>
                <a:cs typeface="Calibri" pitchFamily="34" charset="-120"/>
              </a:rPr>
              <a:t>High-priority and stale tickets get no automatic nudge when missed — and no reminder while they stay open.</a:t>
            </a:r>
            <a:endParaRPr lang="en-US" sz="1300" dirty="0"/>
          </a:p>
        </p:txBody>
      </p:sp>
      <p:sp>
        <p:nvSpPr>
          <p:cNvPr id="15" name="Shape 13"/>
          <p:cNvSpPr/>
          <p:nvPr/>
        </p:nvSpPr>
        <p:spPr>
          <a:xfrm>
            <a:off x="8138160" y="2743200"/>
            <a:ext cx="3520440" cy="2651760"/>
          </a:xfrm>
          <a:prstGeom prst="roundRect">
            <a:avLst>
              <a:gd name="adj" fmla="val 2759"/>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6" name="Shape 14"/>
          <p:cNvSpPr/>
          <p:nvPr/>
        </p:nvSpPr>
        <p:spPr>
          <a:xfrm>
            <a:off x="8412480" y="3017520"/>
            <a:ext cx="502920" cy="502920"/>
          </a:xfrm>
          <a:prstGeom prst="roundRect">
            <a:avLst>
              <a:gd name="adj" fmla="val 18182"/>
            </a:avLst>
          </a:prstGeom>
          <a:solidFill>
            <a:schemeClr val="accent1"/>
          </a:solidFill>
          <a:ln/>
        </p:spPr>
      </p:sp>
      <p:sp>
        <p:nvSpPr>
          <p:cNvPr id="17" name="Text 15"/>
          <p:cNvSpPr txBox="1"/>
          <p:nvPr/>
        </p:nvSpPr>
        <p:spPr>
          <a:xfrm>
            <a:off x="8412480" y="30175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8412480" y="3703320"/>
            <a:ext cx="2971800" cy="457200"/>
          </a:xfrm>
          <a:prstGeom prst="rect">
            <a:avLst/>
          </a:prstGeom>
          <a:noFill/>
          <a:ln/>
        </p:spPr>
        <p:txBody>
          <a:bodyPr wrap="square" lIns="0" tIns="0" rIns="0" bIns="0" rtlCol="0" anchor="ctr"/>
          <a:lstStyle/>
          <a:p>
            <a:pPr algn="l" indent="0" marL="0">
              <a:buNone/>
            </a:pPr>
            <a:r>
              <a:rPr lang="en-US" sz="1700" b="1" dirty="0">
                <a:solidFill>
                  <a:schemeClr val="tx1"/>
                </a:solidFill>
                <a:latin typeface="Cambria" pitchFamily="34" charset="0"/>
                <a:ea typeface="Cambria" pitchFamily="34" charset="-122"/>
                <a:cs typeface="Cambria" pitchFamily="34" charset="-120"/>
              </a:rPr>
              <a:t>Duplicate risk</a:t>
            </a:r>
            <a:endParaRPr lang="en-US" sz="1700" dirty="0"/>
          </a:p>
        </p:txBody>
      </p:sp>
      <p:sp>
        <p:nvSpPr>
          <p:cNvPr id="19" name="Text 17"/>
          <p:cNvSpPr txBox="1"/>
          <p:nvPr/>
        </p:nvSpPr>
        <p:spPr>
          <a:xfrm>
            <a:off x="8412480" y="4160520"/>
            <a:ext cx="2971800" cy="1097280"/>
          </a:xfrm>
          <a:prstGeom prst="rect">
            <a:avLst/>
          </a:prstGeom>
          <a:noFill/>
          <a:ln/>
        </p:spPr>
        <p:txBody>
          <a:bodyPr wrap="square" lIns="0" tIns="0" rIns="0" bIns="0" rtlCol="0" anchor="ctr"/>
          <a:lstStyle/>
          <a:p>
            <a:pPr algn="l" indent="0" marL="0">
              <a:lnSpc>
                <a:spcPct val="125000"/>
              </a:lnSpc>
              <a:buNone/>
            </a:pPr>
            <a:r>
              <a:rPr lang="en-US" sz="1300" dirty="0">
                <a:solidFill>
                  <a:schemeClr val="accent6"/>
                </a:solidFill>
                <a:latin typeface="Calibri" pitchFamily="34" charset="0"/>
                <a:ea typeface="Calibri" pitchFamily="34" charset="-122"/>
                <a:cs typeface="Calibri" pitchFamily="34" charset="-120"/>
              </a:rPr>
              <a:t>A crash between “email sent” and “state saved” can silently resend the same alert.</a:t>
            </a:r>
            <a:endParaRPr lang="en-US" sz="13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SOLUTION</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A scheduled n8n workflow with crash-safe delivery</a:t>
            </a:r>
            <a:endParaRPr lang="en-US" sz="3200" dirty="0"/>
          </a:p>
        </p:txBody>
      </p:sp>
      <p:sp>
        <p:nvSpPr>
          <p:cNvPr id="4" name="Text 2"/>
          <p:cNvSpPr txBox="1"/>
          <p:nvPr/>
        </p:nvSpPr>
        <p:spPr>
          <a:xfrm>
            <a:off x="548640" y="1691640"/>
            <a:ext cx="11064240" cy="685800"/>
          </a:xfrm>
          <a:prstGeom prst="rect">
            <a:avLst/>
          </a:prstGeom>
          <a:noFill/>
          <a:ln/>
        </p:spPr>
        <p:txBody>
          <a:bodyPr wrap="square" lIns="0" tIns="0" rIns="0" bIns="0" rtlCol="0" anchor="ctr"/>
          <a:lstStyle/>
          <a:p>
            <a:pPr algn="l" indent="0" marL="0">
              <a:lnSpc>
                <a:spcPct val="125000"/>
              </a:lnSpc>
              <a:buNone/>
            </a:pPr>
            <a:r>
              <a:rPr lang="en-US" sz="1500" dirty="0">
                <a:solidFill>
                  <a:schemeClr val="accent6"/>
                </a:solidFill>
                <a:latin typeface="Calibri" pitchFamily="34" charset="0"/>
                <a:ea typeface="Calibri" pitchFamily="34" charset="-122"/>
                <a:cs typeface="Calibri" pitchFamily="34" charset="-120"/>
              </a:rPr>
              <a:t>Every 5 minutes, n8n polls the ServiceNow Table API, evaluates each incident against alert rules, checks a claim-based dedup store, and emails the team over Gmail SMTP when a rule fires — with reminders for incidents that stay open.</a:t>
            </a:r>
            <a:endParaRPr lang="en-US" sz="1500" dirty="0"/>
          </a:p>
        </p:txBody>
      </p:sp>
      <p:sp>
        <p:nvSpPr>
          <p:cNvPr id="5" name="Shape 3"/>
          <p:cNvSpPr/>
          <p:nvPr/>
        </p:nvSpPr>
        <p:spPr>
          <a:xfrm>
            <a:off x="548640" y="2697480"/>
            <a:ext cx="3520440" cy="3017520"/>
          </a:xfrm>
          <a:prstGeom prst="roundRect">
            <a:avLst>
              <a:gd name="adj" fmla="val 2424"/>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6" name="Shape 4"/>
          <p:cNvSpPr/>
          <p:nvPr/>
        </p:nvSpPr>
        <p:spPr>
          <a:xfrm>
            <a:off x="548640" y="2697480"/>
            <a:ext cx="3520440" cy="73152"/>
          </a:xfrm>
          <a:prstGeom prst="roundRect">
            <a:avLst/>
          </a:prstGeom>
          <a:solidFill>
            <a:schemeClr val="accent2"/>
          </a:solidFill>
          <a:ln/>
        </p:spPr>
      </p:sp>
      <p:sp>
        <p:nvSpPr>
          <p:cNvPr id="7" name="Text 5"/>
          <p:cNvSpPr txBox="1"/>
          <p:nvPr/>
        </p:nvSpPr>
        <p:spPr>
          <a:xfrm>
            <a:off x="822960" y="3017520"/>
            <a:ext cx="2971800" cy="365760"/>
          </a:xfrm>
          <a:prstGeom prst="rect">
            <a:avLst/>
          </a:prstGeom>
          <a:noFill/>
          <a:ln/>
        </p:spPr>
        <p:txBody>
          <a:bodyPr wrap="square" lIns="0" tIns="0" rIns="0" bIns="0" rtlCol="0" anchor="ctr"/>
          <a:lstStyle/>
          <a:p>
            <a:pPr algn="l" indent="0" marL="0">
              <a:buNone/>
            </a:pPr>
            <a:r>
              <a:rPr lang="en-US" sz="1400" b="1" spc="200" kern="0" dirty="0">
                <a:solidFill>
                  <a:schemeClr val="accent2"/>
                </a:solidFill>
                <a:latin typeface="Calibri" pitchFamily="34" charset="0"/>
                <a:ea typeface="Calibri" pitchFamily="34" charset="-122"/>
                <a:cs typeface="Calibri" pitchFamily="34" charset="-120"/>
              </a:rPr>
              <a:t>DETECT</a:t>
            </a:r>
            <a:endParaRPr lang="en-US" sz="1400" dirty="0"/>
          </a:p>
        </p:txBody>
      </p:sp>
      <p:sp>
        <p:nvSpPr>
          <p:cNvPr id="8" name="Text 6"/>
          <p:cNvSpPr txBox="1"/>
          <p:nvPr/>
        </p:nvSpPr>
        <p:spPr>
          <a:xfrm>
            <a:off x="822960" y="3474720"/>
            <a:ext cx="2971800" cy="2011680"/>
          </a:xfrm>
          <a:prstGeom prst="rect">
            <a:avLst/>
          </a:prstGeom>
          <a:noFill/>
          <a:ln/>
        </p:spPr>
        <p:txBody>
          <a:bodyPr wrap="square" lIns="0" tIns="0" rIns="0" bIns="0" rtlCol="0" anchor="ctr"/>
          <a:lstStyle/>
          <a:p>
            <a:pPr algn="l" indent="0" marL="0">
              <a:lnSpc>
                <a:spcPct val="130000"/>
              </a:lnSpc>
              <a:buNone/>
            </a:pPr>
            <a:r>
              <a:rPr lang="en-US" sz="1350" dirty="0">
                <a:solidFill>
                  <a:schemeClr val="accent6"/>
                </a:solidFill>
                <a:latin typeface="Calibri" pitchFamily="34" charset="0"/>
                <a:ea typeface="Calibri" pitchFamily="34" charset="-122"/>
                <a:cs typeface="Calibri" pitchFamily="34" charset="-120"/>
              </a:rPr>
              <a:t>Poll ServiceNow's Table API every 5 minutes for unresolved incidents, filtered server-side.</a:t>
            </a:r>
            <a:endParaRPr lang="en-US" sz="1350" dirty="0"/>
          </a:p>
        </p:txBody>
      </p:sp>
      <p:sp>
        <p:nvSpPr>
          <p:cNvPr id="9" name="Shape 7"/>
          <p:cNvSpPr/>
          <p:nvPr/>
        </p:nvSpPr>
        <p:spPr>
          <a:xfrm>
            <a:off x="4343400" y="2697480"/>
            <a:ext cx="3520440" cy="3017520"/>
          </a:xfrm>
          <a:prstGeom prst="roundRect">
            <a:avLst>
              <a:gd name="adj" fmla="val 2424"/>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0" name="Shape 8"/>
          <p:cNvSpPr/>
          <p:nvPr/>
        </p:nvSpPr>
        <p:spPr>
          <a:xfrm>
            <a:off x="4343400" y="2697480"/>
            <a:ext cx="3520440" cy="73152"/>
          </a:xfrm>
          <a:prstGeom prst="roundRect">
            <a:avLst/>
          </a:prstGeom>
          <a:solidFill>
            <a:schemeClr val="accent1"/>
          </a:solidFill>
          <a:ln/>
        </p:spPr>
      </p:sp>
      <p:sp>
        <p:nvSpPr>
          <p:cNvPr id="11" name="Text 9"/>
          <p:cNvSpPr txBox="1"/>
          <p:nvPr/>
        </p:nvSpPr>
        <p:spPr>
          <a:xfrm>
            <a:off x="4617720" y="3017520"/>
            <a:ext cx="29718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latin typeface="Calibri" pitchFamily="34" charset="0"/>
                <a:ea typeface="Calibri" pitchFamily="34" charset="-122"/>
                <a:cs typeface="Calibri" pitchFamily="34" charset="-120"/>
              </a:rPr>
              <a:t>DECIDE</a:t>
            </a:r>
            <a:endParaRPr lang="en-US" sz="1400" dirty="0"/>
          </a:p>
        </p:txBody>
      </p:sp>
      <p:sp>
        <p:nvSpPr>
          <p:cNvPr id="12" name="Text 10"/>
          <p:cNvSpPr txBox="1"/>
          <p:nvPr/>
        </p:nvSpPr>
        <p:spPr>
          <a:xfrm>
            <a:off x="4617720" y="3474720"/>
            <a:ext cx="2971800" cy="2011680"/>
          </a:xfrm>
          <a:prstGeom prst="rect">
            <a:avLst/>
          </a:prstGeom>
          <a:noFill/>
          <a:ln/>
        </p:spPr>
        <p:txBody>
          <a:bodyPr wrap="square" lIns="0" tIns="0" rIns="0" bIns="0" rtlCol="0" anchor="ctr"/>
          <a:lstStyle/>
          <a:p>
            <a:pPr algn="l" indent="0" marL="0">
              <a:lnSpc>
                <a:spcPct val="130000"/>
              </a:lnSpc>
              <a:buNone/>
            </a:pPr>
            <a:r>
              <a:rPr lang="en-US" sz="1350" dirty="0">
                <a:solidFill>
                  <a:schemeClr val="accent6"/>
                </a:solidFill>
                <a:latin typeface="Calibri" pitchFamily="34" charset="0"/>
                <a:ea typeface="Calibri" pitchFamily="34" charset="-122"/>
                <a:cs typeface="Calibri" pitchFamily="34" charset="-120"/>
              </a:rPr>
              <a:t>Evaluate critical / high / stale rules, then claim the alert key before sending — crash-safe, at-least-once.</a:t>
            </a:r>
            <a:endParaRPr lang="en-US" sz="1350" dirty="0"/>
          </a:p>
        </p:txBody>
      </p:sp>
      <p:sp>
        <p:nvSpPr>
          <p:cNvPr id="13" name="Shape 11"/>
          <p:cNvSpPr/>
          <p:nvPr/>
        </p:nvSpPr>
        <p:spPr>
          <a:xfrm>
            <a:off x="8138160" y="2697480"/>
            <a:ext cx="3520440" cy="3017520"/>
          </a:xfrm>
          <a:prstGeom prst="roundRect">
            <a:avLst>
              <a:gd name="adj" fmla="val 2424"/>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4" name="Shape 12"/>
          <p:cNvSpPr/>
          <p:nvPr/>
        </p:nvSpPr>
        <p:spPr>
          <a:xfrm>
            <a:off x="8138160" y="2697480"/>
            <a:ext cx="3520440" cy="73152"/>
          </a:xfrm>
          <a:prstGeom prst="roundRect">
            <a:avLst/>
          </a:prstGeom>
          <a:solidFill>
            <a:schemeClr val="accent3"/>
          </a:solidFill>
          <a:ln/>
        </p:spPr>
      </p:sp>
      <p:sp>
        <p:nvSpPr>
          <p:cNvPr id="15" name="Text 13"/>
          <p:cNvSpPr txBox="1"/>
          <p:nvPr/>
        </p:nvSpPr>
        <p:spPr>
          <a:xfrm>
            <a:off x="8412480" y="3017520"/>
            <a:ext cx="2971800" cy="365760"/>
          </a:xfrm>
          <a:prstGeom prst="rect">
            <a:avLst/>
          </a:prstGeom>
          <a:noFill/>
          <a:ln/>
        </p:spPr>
        <p:txBody>
          <a:bodyPr wrap="square" lIns="0" tIns="0" rIns="0" bIns="0" rtlCol="0" anchor="ctr"/>
          <a:lstStyle/>
          <a:p>
            <a:pPr algn="l" indent="0" marL="0">
              <a:buNone/>
            </a:pPr>
            <a:r>
              <a:rPr lang="en-US" sz="1400" b="1" spc="200" kern="0" dirty="0">
                <a:solidFill>
                  <a:schemeClr val="accent3"/>
                </a:solidFill>
                <a:latin typeface="Calibri" pitchFamily="34" charset="0"/>
                <a:ea typeface="Calibri" pitchFamily="34" charset="-122"/>
                <a:cs typeface="Calibri" pitchFamily="34" charset="-120"/>
              </a:rPr>
              <a:t>NOTIFY</a:t>
            </a:r>
            <a:endParaRPr lang="en-US" sz="1400" dirty="0"/>
          </a:p>
        </p:txBody>
      </p:sp>
      <p:sp>
        <p:nvSpPr>
          <p:cNvPr id="16" name="Text 14"/>
          <p:cNvSpPr txBox="1"/>
          <p:nvPr/>
        </p:nvSpPr>
        <p:spPr>
          <a:xfrm>
            <a:off x="8412480" y="3474720"/>
            <a:ext cx="2971800" cy="2011680"/>
          </a:xfrm>
          <a:prstGeom prst="rect">
            <a:avLst/>
          </a:prstGeom>
          <a:noFill/>
          <a:ln/>
        </p:spPr>
        <p:txBody>
          <a:bodyPr wrap="square" lIns="0" tIns="0" rIns="0" bIns="0" rtlCol="0" anchor="ctr"/>
          <a:lstStyle/>
          <a:p>
            <a:pPr algn="l" indent="0" marL="0">
              <a:lnSpc>
                <a:spcPct val="130000"/>
              </a:lnSpc>
              <a:buNone/>
            </a:pPr>
            <a:r>
              <a:rPr lang="en-US" sz="1350" dirty="0">
                <a:solidFill>
                  <a:schemeClr val="accent6"/>
                </a:solidFill>
                <a:latin typeface="Calibri" pitchFamily="34" charset="0"/>
                <a:ea typeface="Calibri" pitchFamily="34" charset="-122"/>
                <a:cs typeface="Calibri" pitchFamily="34" charset="-120"/>
              </a:rPr>
              <a:t>Send a structured Gmail SMTP email, with reminders for incidents that stay unresolved.</a:t>
            </a:r>
            <a:endParaRPr lang="en-US" sz="13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ARCHITECTURE</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High-level system view</a:t>
            </a:r>
            <a:endParaRPr lang="en-US" sz="3200" dirty="0"/>
          </a:p>
        </p:txBody>
      </p:sp>
      <p:sp>
        <p:nvSpPr>
          <p:cNvPr id="4" name="Shape 2"/>
          <p:cNvSpPr/>
          <p:nvPr/>
        </p:nvSpPr>
        <p:spPr>
          <a:xfrm>
            <a:off x="548640" y="1874520"/>
            <a:ext cx="1920240" cy="1371600"/>
          </a:xfrm>
          <a:prstGeom prst="roundRect">
            <a:avLst>
              <a:gd name="adj" fmla="val 5333"/>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5" name="Text 3"/>
          <p:cNvSpPr txBox="1"/>
          <p:nvPr/>
        </p:nvSpPr>
        <p:spPr>
          <a:xfrm>
            <a:off x="640080" y="2039112"/>
            <a:ext cx="173736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ServiceNow</a:t>
            </a:r>
            <a:endParaRPr lang="en-US" sz="1500" dirty="0"/>
          </a:p>
        </p:txBody>
      </p:sp>
      <p:sp>
        <p:nvSpPr>
          <p:cNvPr id="6" name="Text 4"/>
          <p:cNvSpPr txBox="1"/>
          <p:nvPr/>
        </p:nvSpPr>
        <p:spPr>
          <a:xfrm>
            <a:off x="640080" y="2496312"/>
            <a:ext cx="1737360" cy="685800"/>
          </a:xfrm>
          <a:prstGeom prst="rect">
            <a:avLst/>
          </a:prstGeom>
          <a:noFill/>
          <a:ln/>
        </p:spPr>
        <p:txBody>
          <a:bodyPr wrap="square" lIns="0" tIns="0" rIns="0" bIns="0" rtlCol="0" anchor="ctr"/>
          <a:lstStyle/>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Incident records</a:t>
            </a:r>
            <a:endParaRPr lang="en-US" sz="1100" dirty="0"/>
          </a:p>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priority, state</a:t>
            </a:r>
            <a:endParaRPr lang="en-US" sz="1100" dirty="0"/>
          </a:p>
        </p:txBody>
      </p:sp>
      <p:sp>
        <p:nvSpPr>
          <p:cNvPr id="7" name="Shape 5"/>
          <p:cNvSpPr/>
          <p:nvPr/>
        </p:nvSpPr>
        <p:spPr>
          <a:xfrm>
            <a:off x="548640" y="1874520"/>
            <a:ext cx="1920240" cy="54864"/>
          </a:xfrm>
          <a:prstGeom prst="roundRect">
            <a:avLst/>
          </a:prstGeom>
          <a:solidFill>
            <a:schemeClr val="tx1"/>
          </a:solidFill>
          <a:ln/>
        </p:spPr>
      </p:sp>
      <p:sp>
        <p:nvSpPr>
          <p:cNvPr id="8" name="Shape 6"/>
          <p:cNvSpPr/>
          <p:nvPr/>
        </p:nvSpPr>
        <p:spPr>
          <a:xfrm>
            <a:off x="2496312" y="2423160"/>
            <a:ext cx="265176" cy="274320"/>
          </a:xfrm>
          <a:prstGeom prst="rightArrow">
            <a:avLst/>
          </a:prstGeom>
          <a:solidFill>
            <a:schemeClr val="accent4"/>
          </a:solidFill>
          <a:ln/>
        </p:spPr>
      </p:sp>
      <p:sp>
        <p:nvSpPr>
          <p:cNvPr id="9" name="Shape 7"/>
          <p:cNvSpPr/>
          <p:nvPr/>
        </p:nvSpPr>
        <p:spPr>
          <a:xfrm>
            <a:off x="2788920" y="1874520"/>
            <a:ext cx="1920240" cy="1371600"/>
          </a:xfrm>
          <a:prstGeom prst="roundRect">
            <a:avLst>
              <a:gd name="adj" fmla="val 5333"/>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0" name="Text 8"/>
          <p:cNvSpPr txBox="1"/>
          <p:nvPr/>
        </p:nvSpPr>
        <p:spPr>
          <a:xfrm>
            <a:off x="2880360" y="2039112"/>
            <a:ext cx="173736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n8n</a:t>
            </a:r>
            <a:endParaRPr lang="en-US" sz="1500" dirty="0"/>
          </a:p>
        </p:txBody>
      </p:sp>
      <p:sp>
        <p:nvSpPr>
          <p:cNvPr id="11" name="Text 9"/>
          <p:cNvSpPr txBox="1"/>
          <p:nvPr/>
        </p:nvSpPr>
        <p:spPr>
          <a:xfrm>
            <a:off x="2880360" y="2496312"/>
            <a:ext cx="1737360" cy="685800"/>
          </a:xfrm>
          <a:prstGeom prst="rect">
            <a:avLst/>
          </a:prstGeom>
          <a:noFill/>
          <a:ln/>
        </p:spPr>
        <p:txBody>
          <a:bodyPr wrap="square" lIns="0" tIns="0" rIns="0" bIns="0" rtlCol="0" anchor="ctr"/>
          <a:lstStyle/>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Schedule + orchestration</a:t>
            </a:r>
            <a:endParaRPr lang="en-US" sz="1100" dirty="0"/>
          </a:p>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every 5 minutes</a:t>
            </a:r>
            <a:endParaRPr lang="en-US" sz="1100" dirty="0"/>
          </a:p>
        </p:txBody>
      </p:sp>
      <p:sp>
        <p:nvSpPr>
          <p:cNvPr id="12" name="Shape 10"/>
          <p:cNvSpPr/>
          <p:nvPr/>
        </p:nvSpPr>
        <p:spPr>
          <a:xfrm>
            <a:off x="2788920" y="1874520"/>
            <a:ext cx="1920240" cy="54864"/>
          </a:xfrm>
          <a:prstGeom prst="roundRect">
            <a:avLst/>
          </a:prstGeom>
          <a:solidFill>
            <a:schemeClr val="accent2"/>
          </a:solidFill>
          <a:ln/>
        </p:spPr>
      </p:sp>
      <p:sp>
        <p:nvSpPr>
          <p:cNvPr id="13" name="Shape 11"/>
          <p:cNvSpPr/>
          <p:nvPr/>
        </p:nvSpPr>
        <p:spPr>
          <a:xfrm>
            <a:off x="4736592" y="2423160"/>
            <a:ext cx="265176" cy="274320"/>
          </a:xfrm>
          <a:prstGeom prst="rightArrow">
            <a:avLst/>
          </a:prstGeom>
          <a:solidFill>
            <a:schemeClr val="accent4"/>
          </a:solidFill>
          <a:ln/>
        </p:spPr>
      </p:sp>
      <p:sp>
        <p:nvSpPr>
          <p:cNvPr id="14" name="Shape 12"/>
          <p:cNvSpPr/>
          <p:nvPr/>
        </p:nvSpPr>
        <p:spPr>
          <a:xfrm>
            <a:off x="5029200" y="1874520"/>
            <a:ext cx="1920240" cy="1371600"/>
          </a:xfrm>
          <a:prstGeom prst="roundRect">
            <a:avLst>
              <a:gd name="adj" fmla="val 5333"/>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5" name="Text 13"/>
          <p:cNvSpPr txBox="1"/>
          <p:nvPr/>
        </p:nvSpPr>
        <p:spPr>
          <a:xfrm>
            <a:off x="5120640" y="2039112"/>
            <a:ext cx="173736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REST API</a:t>
            </a:r>
            <a:endParaRPr lang="en-US" sz="1500" dirty="0"/>
          </a:p>
        </p:txBody>
      </p:sp>
      <p:sp>
        <p:nvSpPr>
          <p:cNvPr id="16" name="Text 14"/>
          <p:cNvSpPr txBox="1"/>
          <p:nvPr/>
        </p:nvSpPr>
        <p:spPr>
          <a:xfrm>
            <a:off x="5120640" y="2496312"/>
            <a:ext cx="1737360" cy="685800"/>
          </a:xfrm>
          <a:prstGeom prst="rect">
            <a:avLst/>
          </a:prstGeom>
          <a:noFill/>
          <a:ln/>
        </p:spPr>
        <p:txBody>
          <a:bodyPr wrap="square" lIns="0" tIns="0" rIns="0" bIns="0" rtlCol="0" anchor="ctr"/>
          <a:lstStyle/>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Authenticated GET</a:t>
            </a:r>
            <a:endParaRPr lang="en-US" sz="1100" dirty="0"/>
          </a:p>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Table API</a:t>
            </a:r>
            <a:endParaRPr lang="en-US" sz="1100" dirty="0"/>
          </a:p>
        </p:txBody>
      </p:sp>
      <p:sp>
        <p:nvSpPr>
          <p:cNvPr id="17" name="Shape 15"/>
          <p:cNvSpPr/>
          <p:nvPr/>
        </p:nvSpPr>
        <p:spPr>
          <a:xfrm>
            <a:off x="5029200" y="1874520"/>
            <a:ext cx="1920240" cy="54864"/>
          </a:xfrm>
          <a:prstGeom prst="roundRect">
            <a:avLst/>
          </a:prstGeom>
          <a:solidFill>
            <a:schemeClr val="accent2"/>
          </a:solidFill>
          <a:ln/>
        </p:spPr>
      </p:sp>
      <p:sp>
        <p:nvSpPr>
          <p:cNvPr id="18" name="Shape 16"/>
          <p:cNvSpPr/>
          <p:nvPr/>
        </p:nvSpPr>
        <p:spPr>
          <a:xfrm>
            <a:off x="6976872" y="2423160"/>
            <a:ext cx="265176" cy="274320"/>
          </a:xfrm>
          <a:prstGeom prst="rightArrow">
            <a:avLst/>
          </a:prstGeom>
          <a:solidFill>
            <a:schemeClr val="accent4"/>
          </a:solidFill>
          <a:ln/>
        </p:spPr>
      </p:sp>
      <p:sp>
        <p:nvSpPr>
          <p:cNvPr id="19" name="Shape 17"/>
          <p:cNvSpPr/>
          <p:nvPr/>
        </p:nvSpPr>
        <p:spPr>
          <a:xfrm>
            <a:off x="7269480" y="1874520"/>
            <a:ext cx="1920240" cy="1371600"/>
          </a:xfrm>
          <a:prstGeom prst="roundRect">
            <a:avLst>
              <a:gd name="adj" fmla="val 5333"/>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20" name="Text 18"/>
          <p:cNvSpPr txBox="1"/>
          <p:nvPr/>
        </p:nvSpPr>
        <p:spPr>
          <a:xfrm>
            <a:off x="7360920" y="2039112"/>
            <a:ext cx="173736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Evaluate +</a:t>
            </a:r>
            <a:endParaRPr lang="en-US" sz="1500" dirty="0"/>
          </a:p>
          <a:p>
            <a:pPr algn="ctr" indent="0" marL="0">
              <a:buNone/>
            </a:pPr>
            <a:r>
              <a:rPr lang="en-US" sz="1500" b="1" dirty="0">
                <a:solidFill>
                  <a:schemeClr val="tx1"/>
                </a:solidFill>
                <a:latin typeface="Cambria" pitchFamily="34" charset="0"/>
                <a:ea typeface="Cambria" pitchFamily="34" charset="-122"/>
                <a:cs typeface="Cambria" pitchFamily="34" charset="-120"/>
              </a:rPr>
              <a:t>Claim</a:t>
            </a:r>
            <a:endParaRPr lang="en-US" sz="1500" dirty="0"/>
          </a:p>
        </p:txBody>
      </p:sp>
      <p:sp>
        <p:nvSpPr>
          <p:cNvPr id="21" name="Text 19"/>
          <p:cNvSpPr txBox="1"/>
          <p:nvPr/>
        </p:nvSpPr>
        <p:spPr>
          <a:xfrm>
            <a:off x="7360920" y="2496312"/>
            <a:ext cx="1737360" cy="685800"/>
          </a:xfrm>
          <a:prstGeom prst="rect">
            <a:avLst/>
          </a:prstGeom>
          <a:noFill/>
          <a:ln/>
        </p:spPr>
        <p:txBody>
          <a:bodyPr wrap="square" lIns="0" tIns="0" rIns="0" bIns="0" rtlCol="0" anchor="ctr"/>
          <a:lstStyle/>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Critical / high / stale</a:t>
            </a:r>
            <a:endParaRPr lang="en-US" sz="1100" dirty="0"/>
          </a:p>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 dedup store</a:t>
            </a:r>
            <a:endParaRPr lang="en-US" sz="1100" dirty="0"/>
          </a:p>
        </p:txBody>
      </p:sp>
      <p:sp>
        <p:nvSpPr>
          <p:cNvPr id="22" name="Shape 20"/>
          <p:cNvSpPr/>
          <p:nvPr/>
        </p:nvSpPr>
        <p:spPr>
          <a:xfrm>
            <a:off x="7269480" y="1874520"/>
            <a:ext cx="1920240" cy="54864"/>
          </a:xfrm>
          <a:prstGeom prst="roundRect">
            <a:avLst/>
          </a:prstGeom>
          <a:solidFill>
            <a:schemeClr val="accent1"/>
          </a:solidFill>
          <a:ln/>
        </p:spPr>
      </p:sp>
      <p:sp>
        <p:nvSpPr>
          <p:cNvPr id="23" name="Shape 21"/>
          <p:cNvSpPr/>
          <p:nvPr/>
        </p:nvSpPr>
        <p:spPr>
          <a:xfrm>
            <a:off x="9217152" y="2423160"/>
            <a:ext cx="265176" cy="274320"/>
          </a:xfrm>
          <a:prstGeom prst="rightArrow">
            <a:avLst/>
          </a:prstGeom>
          <a:solidFill>
            <a:schemeClr val="accent4"/>
          </a:solidFill>
          <a:ln/>
        </p:spPr>
      </p:sp>
      <p:sp>
        <p:nvSpPr>
          <p:cNvPr id="24" name="Shape 22"/>
          <p:cNvSpPr/>
          <p:nvPr/>
        </p:nvSpPr>
        <p:spPr>
          <a:xfrm>
            <a:off x="9509760" y="1874520"/>
            <a:ext cx="1920240" cy="1371600"/>
          </a:xfrm>
          <a:prstGeom prst="roundRect">
            <a:avLst>
              <a:gd name="adj" fmla="val 5333"/>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25" name="Text 23"/>
          <p:cNvSpPr txBox="1"/>
          <p:nvPr/>
        </p:nvSpPr>
        <p:spPr>
          <a:xfrm>
            <a:off x="9601200" y="2039112"/>
            <a:ext cx="1737360" cy="457200"/>
          </a:xfrm>
          <a:prstGeom prst="rect">
            <a:avLst/>
          </a:prstGeom>
          <a:no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Gmail SMTP</a:t>
            </a:r>
            <a:endParaRPr lang="en-US" sz="1500" dirty="0"/>
          </a:p>
        </p:txBody>
      </p:sp>
      <p:sp>
        <p:nvSpPr>
          <p:cNvPr id="26" name="Text 24"/>
          <p:cNvSpPr txBox="1"/>
          <p:nvPr/>
        </p:nvSpPr>
        <p:spPr>
          <a:xfrm>
            <a:off x="9601200" y="2496312"/>
            <a:ext cx="1737360" cy="685800"/>
          </a:xfrm>
          <a:prstGeom prst="rect">
            <a:avLst/>
          </a:prstGeom>
          <a:noFill/>
          <a:ln/>
        </p:spPr>
        <p:txBody>
          <a:bodyPr wrap="square" lIns="0" tIns="0" rIns="0" bIns="0" rtlCol="0" anchor="ctr"/>
          <a:lstStyle/>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Structured alert</a:t>
            </a:r>
            <a:endParaRPr lang="en-US" sz="1100" dirty="0"/>
          </a:p>
          <a:p>
            <a:pPr algn="ctr" indent="0" marL="0">
              <a:lnSpc>
                <a:spcPct val="120000"/>
              </a:lnSpc>
              <a:buNone/>
            </a:pPr>
            <a:r>
              <a:rPr lang="en-US" sz="1100" dirty="0">
                <a:solidFill>
                  <a:schemeClr val="accent6"/>
                </a:solidFill>
                <a:latin typeface="Calibri" pitchFamily="34" charset="0"/>
                <a:ea typeface="Calibri" pitchFamily="34" charset="-122"/>
                <a:cs typeface="Calibri" pitchFamily="34" charset="-120"/>
              </a:rPr>
              <a:t>email</a:t>
            </a:r>
            <a:endParaRPr lang="en-US" sz="1100" dirty="0"/>
          </a:p>
        </p:txBody>
      </p:sp>
      <p:sp>
        <p:nvSpPr>
          <p:cNvPr id="27" name="Shape 25"/>
          <p:cNvSpPr/>
          <p:nvPr/>
        </p:nvSpPr>
        <p:spPr>
          <a:xfrm>
            <a:off x="9509760" y="1874520"/>
            <a:ext cx="1920240" cy="54864"/>
          </a:xfrm>
          <a:prstGeom prst="roundRect">
            <a:avLst/>
          </a:prstGeom>
          <a:solidFill>
            <a:schemeClr val="accent1"/>
          </a:solidFill>
          <a:ln/>
        </p:spPr>
      </p:sp>
      <p:sp>
        <p:nvSpPr>
          <p:cNvPr id="28" name="Shape 26"/>
          <p:cNvSpPr/>
          <p:nvPr/>
        </p:nvSpPr>
        <p:spPr>
          <a:xfrm>
            <a:off x="3931920" y="3931920"/>
            <a:ext cx="4297680" cy="1371600"/>
          </a:xfrm>
          <a:prstGeom prst="roundRect">
            <a:avLst>
              <a:gd name="adj" fmla="val 5333"/>
            </a:avLst>
          </a:prstGeom>
          <a:solidFill>
            <a:schemeClr val="tx2"/>
          </a:solidFill>
          <a:ln/>
          <a:effectLst>
            <a:outerShdw sx="100000" sy="100000" kx="0" ky="0" algn="bl" rotWithShape="0" blurRad="127000" dist="38100" dir="5400000">
              <a:srgbClr val="1A1F2B">
                <a:alpha val="18000"/>
              </a:srgbClr>
            </a:outerShdw>
          </a:effectLst>
        </p:spPr>
      </p:sp>
      <p:sp>
        <p:nvSpPr>
          <p:cNvPr id="29" name="Text 27"/>
          <p:cNvSpPr txBox="1"/>
          <p:nvPr/>
        </p:nvSpPr>
        <p:spPr>
          <a:xfrm>
            <a:off x="4206240" y="4114800"/>
            <a:ext cx="374904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Alert State Store</a:t>
            </a:r>
            <a:endParaRPr lang="en-US" sz="1500" dirty="0"/>
          </a:p>
        </p:txBody>
      </p:sp>
      <p:sp>
        <p:nvSpPr>
          <p:cNvPr id="30" name="Text 28"/>
          <p:cNvSpPr txBox="1"/>
          <p:nvPr/>
        </p:nvSpPr>
        <p:spPr>
          <a:xfrm>
            <a:off x="4206240" y="4526280"/>
            <a:ext cx="3749040" cy="640080"/>
          </a:xfrm>
          <a:prstGeom prst="rect">
            <a:avLst/>
          </a:prstGeom>
          <a:noFill/>
          <a:ln/>
        </p:spPr>
        <p:txBody>
          <a:bodyPr wrap="square" lIns="0" tIns="0" rIns="0" bIns="0" rtlCol="0" anchor="ctr"/>
          <a:lstStyle/>
          <a:p>
            <a:pPr algn="ctr" indent="0" marL="0">
              <a:lnSpc>
                <a:spcPct val="130000"/>
              </a:lnSpc>
              <a:buNone/>
            </a:pPr>
            <a:r>
              <a:rPr lang="en-US" sz="1100" dirty="0">
                <a:solidFill>
                  <a:srgbClr val="AEB8C9"/>
                </a:solidFill>
                <a:latin typeface="Calibri" pitchFamily="34" charset="0"/>
                <a:ea typeface="Calibri" pitchFamily="34" charset="-122"/>
                <a:cs typeface="Calibri" pitchFamily="34" charset="-120"/>
              </a:rPr>
              <a:t>key = incident + alert type  →  status, claimed_at, last_notified_at, incident_state</a:t>
            </a:r>
            <a:endParaRPr lang="en-US" sz="1100" dirty="0"/>
          </a:p>
        </p:txBody>
      </p:sp>
      <p:sp>
        <p:nvSpPr>
          <p:cNvPr id="31" name="Shape 29"/>
          <p:cNvSpPr/>
          <p:nvPr/>
        </p:nvSpPr>
        <p:spPr>
          <a:xfrm>
            <a:off x="6080760" y="3246120"/>
            <a:ext cx="0" cy="685800"/>
          </a:xfrm>
          <a:prstGeom prst="line">
            <a:avLst/>
          </a:prstGeom>
          <a:noFill/>
          <a:ln w="25400">
            <a:solidFill>
              <a:schemeClr val="accent1"/>
            </a:solidFill>
            <a:prstDash val="dash"/>
            <a:tailEnd type="triangle"/>
          </a:ln>
        </p:spPr>
      </p:sp>
      <p:sp>
        <p:nvSpPr>
          <p:cNvPr id="32" name="Text 30"/>
          <p:cNvSpPr txBox="1"/>
          <p:nvPr/>
        </p:nvSpPr>
        <p:spPr>
          <a:xfrm>
            <a:off x="548640" y="6035040"/>
            <a:ext cx="11064240" cy="365760"/>
          </a:xfrm>
          <a:prstGeom prst="rect">
            <a:avLst/>
          </a:prstGeom>
          <a:noFill/>
          <a:ln/>
        </p:spPr>
        <p:txBody>
          <a:bodyPr wrap="square" lIns="0" tIns="0" rIns="0" bIns="0" rtlCol="0" anchor="ctr"/>
          <a:lstStyle/>
          <a:p>
            <a:pPr algn="l" indent="0" marL="0">
              <a:buNone/>
            </a:pPr>
            <a:r>
              <a:rPr lang="en-US" sz="1200" i="1" dirty="0">
                <a:solidFill>
                  <a:schemeClr val="accent4"/>
                </a:solidFill>
                <a:latin typeface="Calibri" pitchFamily="34" charset="0"/>
                <a:ea typeface="Calibri" pitchFamily="34" charset="-122"/>
                <a:cs typeface="Calibri" pitchFamily="34" charset="-120"/>
              </a:rPr>
              <a:t>Execution logs and error handling (retries, visible failures) apply at every step.</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TECH STACK</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Six pieces, no new infrastructure</a:t>
            </a:r>
            <a:endParaRPr lang="en-US" sz="3200" dirty="0"/>
          </a:p>
        </p:txBody>
      </p:sp>
      <p:sp>
        <p:nvSpPr>
          <p:cNvPr id="4" name="Shape 2"/>
          <p:cNvSpPr/>
          <p:nvPr/>
        </p:nvSpPr>
        <p:spPr>
          <a:xfrm>
            <a:off x="548640" y="182880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5" name="Shape 3"/>
          <p:cNvSpPr/>
          <p:nvPr/>
        </p:nvSpPr>
        <p:spPr>
          <a:xfrm>
            <a:off x="777240" y="2029968"/>
            <a:ext cx="128016" cy="128016"/>
          </a:xfrm>
          <a:prstGeom prst="roundRect">
            <a:avLst>
              <a:gd name="adj" fmla="val 21429"/>
            </a:avLst>
          </a:prstGeom>
          <a:solidFill>
            <a:schemeClr val="tx1"/>
          </a:solidFill>
          <a:ln/>
        </p:spPr>
      </p:sp>
      <p:sp>
        <p:nvSpPr>
          <p:cNvPr id="6" name="Text 4"/>
          <p:cNvSpPr txBox="1"/>
          <p:nvPr/>
        </p:nvSpPr>
        <p:spPr>
          <a:xfrm>
            <a:off x="1051560" y="193852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ServiceNow</a:t>
            </a:r>
            <a:endParaRPr lang="en-US" sz="1500" dirty="0"/>
          </a:p>
        </p:txBody>
      </p:sp>
      <p:sp>
        <p:nvSpPr>
          <p:cNvPr id="7" name="Text 5"/>
          <p:cNvSpPr txBox="1"/>
          <p:nvPr/>
        </p:nvSpPr>
        <p:spPr>
          <a:xfrm>
            <a:off x="777240" y="235915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Incident source — Table API, personal developer instance</a:t>
            </a:r>
            <a:endParaRPr lang="en-US" sz="1200" dirty="0"/>
          </a:p>
        </p:txBody>
      </p:sp>
      <p:sp>
        <p:nvSpPr>
          <p:cNvPr id="8" name="Shape 6"/>
          <p:cNvSpPr/>
          <p:nvPr/>
        </p:nvSpPr>
        <p:spPr>
          <a:xfrm>
            <a:off x="4343400" y="182880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9" name="Shape 7"/>
          <p:cNvSpPr/>
          <p:nvPr/>
        </p:nvSpPr>
        <p:spPr>
          <a:xfrm>
            <a:off x="4572000" y="2029968"/>
            <a:ext cx="128016" cy="128016"/>
          </a:xfrm>
          <a:prstGeom prst="roundRect">
            <a:avLst>
              <a:gd name="adj" fmla="val 21429"/>
            </a:avLst>
          </a:prstGeom>
          <a:solidFill>
            <a:schemeClr val="accent2"/>
          </a:solidFill>
          <a:ln/>
        </p:spPr>
      </p:sp>
      <p:sp>
        <p:nvSpPr>
          <p:cNvPr id="10" name="Text 8"/>
          <p:cNvSpPr txBox="1"/>
          <p:nvPr/>
        </p:nvSpPr>
        <p:spPr>
          <a:xfrm>
            <a:off x="4846320" y="193852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n8n Community Edition</a:t>
            </a:r>
            <a:endParaRPr lang="en-US" sz="1500" dirty="0"/>
          </a:p>
        </p:txBody>
      </p:sp>
      <p:sp>
        <p:nvSpPr>
          <p:cNvPr id="11" name="Text 9"/>
          <p:cNvSpPr txBox="1"/>
          <p:nvPr/>
        </p:nvSpPr>
        <p:spPr>
          <a:xfrm>
            <a:off x="4572000" y="235915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Self-hosted orchestration — Schedule, HTTP, Code, IF nodes</a:t>
            </a:r>
            <a:endParaRPr lang="en-US" sz="1200" dirty="0"/>
          </a:p>
        </p:txBody>
      </p:sp>
      <p:sp>
        <p:nvSpPr>
          <p:cNvPr id="12" name="Shape 10"/>
          <p:cNvSpPr/>
          <p:nvPr/>
        </p:nvSpPr>
        <p:spPr>
          <a:xfrm>
            <a:off x="8138160" y="182880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3" name="Shape 11"/>
          <p:cNvSpPr/>
          <p:nvPr/>
        </p:nvSpPr>
        <p:spPr>
          <a:xfrm>
            <a:off x="8366760" y="2029968"/>
            <a:ext cx="128016" cy="128016"/>
          </a:xfrm>
          <a:prstGeom prst="roundRect">
            <a:avLst>
              <a:gd name="adj" fmla="val 21429"/>
            </a:avLst>
          </a:prstGeom>
          <a:solidFill>
            <a:schemeClr val="accent2"/>
          </a:solidFill>
          <a:ln/>
        </p:spPr>
      </p:sp>
      <p:sp>
        <p:nvSpPr>
          <p:cNvPr id="14" name="Text 12"/>
          <p:cNvSpPr txBox="1"/>
          <p:nvPr/>
        </p:nvSpPr>
        <p:spPr>
          <a:xfrm>
            <a:off x="8641080" y="193852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ServiceNow REST Table API</a:t>
            </a:r>
            <a:endParaRPr lang="en-US" sz="1500" dirty="0"/>
          </a:p>
        </p:txBody>
      </p:sp>
      <p:sp>
        <p:nvSpPr>
          <p:cNvPr id="15" name="Text 13"/>
          <p:cNvSpPr txBox="1"/>
          <p:nvPr/>
        </p:nvSpPr>
        <p:spPr>
          <a:xfrm>
            <a:off x="8366760" y="235915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Authenticated, field-filtered, paginated incident queries</a:t>
            </a:r>
            <a:endParaRPr lang="en-US" sz="1200" dirty="0"/>
          </a:p>
        </p:txBody>
      </p:sp>
      <p:sp>
        <p:nvSpPr>
          <p:cNvPr id="16" name="Shape 14"/>
          <p:cNvSpPr/>
          <p:nvPr/>
        </p:nvSpPr>
        <p:spPr>
          <a:xfrm>
            <a:off x="548640" y="352044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7" name="Shape 15"/>
          <p:cNvSpPr/>
          <p:nvPr/>
        </p:nvSpPr>
        <p:spPr>
          <a:xfrm>
            <a:off x="777240" y="3721608"/>
            <a:ext cx="128016" cy="128016"/>
          </a:xfrm>
          <a:prstGeom prst="roundRect">
            <a:avLst>
              <a:gd name="adj" fmla="val 21429"/>
            </a:avLst>
          </a:prstGeom>
          <a:solidFill>
            <a:schemeClr val="accent1"/>
          </a:solidFill>
          <a:ln/>
        </p:spPr>
      </p:sp>
      <p:sp>
        <p:nvSpPr>
          <p:cNvPr id="18" name="Text 16"/>
          <p:cNvSpPr txBox="1"/>
          <p:nvPr/>
        </p:nvSpPr>
        <p:spPr>
          <a:xfrm>
            <a:off x="1051560" y="363016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Gmail SMTP</a:t>
            </a:r>
            <a:endParaRPr lang="en-US" sz="1500" dirty="0"/>
          </a:p>
        </p:txBody>
      </p:sp>
      <p:sp>
        <p:nvSpPr>
          <p:cNvPr id="19" name="Text 17"/>
          <p:cNvSpPr txBox="1"/>
          <p:nvPr/>
        </p:nvSpPr>
        <p:spPr>
          <a:xfrm>
            <a:off x="777240" y="405079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smtp.gmail.com + app password, Google Workspace account</a:t>
            </a:r>
            <a:endParaRPr lang="en-US" sz="1200" dirty="0"/>
          </a:p>
        </p:txBody>
      </p:sp>
      <p:sp>
        <p:nvSpPr>
          <p:cNvPr id="20" name="Shape 18"/>
          <p:cNvSpPr/>
          <p:nvPr/>
        </p:nvSpPr>
        <p:spPr>
          <a:xfrm>
            <a:off x="4343400" y="352044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21" name="Shape 19"/>
          <p:cNvSpPr/>
          <p:nvPr/>
        </p:nvSpPr>
        <p:spPr>
          <a:xfrm>
            <a:off x="4572000" y="3721608"/>
            <a:ext cx="128016" cy="128016"/>
          </a:xfrm>
          <a:prstGeom prst="roundRect">
            <a:avLst>
              <a:gd name="adj" fmla="val 21429"/>
            </a:avLst>
          </a:prstGeom>
          <a:solidFill>
            <a:schemeClr val="accent1"/>
          </a:solidFill>
          <a:ln/>
        </p:spPr>
      </p:sp>
      <p:sp>
        <p:nvSpPr>
          <p:cNvPr id="22" name="Text 20"/>
          <p:cNvSpPr txBox="1"/>
          <p:nvPr/>
        </p:nvSpPr>
        <p:spPr>
          <a:xfrm>
            <a:off x="4846320" y="363016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n8n workflow static data</a:t>
            </a:r>
            <a:endParaRPr lang="en-US" sz="1500" dirty="0"/>
          </a:p>
        </p:txBody>
      </p:sp>
      <p:sp>
        <p:nvSpPr>
          <p:cNvPr id="23" name="Text 21"/>
          <p:cNvSpPr txBox="1"/>
          <p:nvPr/>
        </p:nvSpPr>
        <p:spPr>
          <a:xfrm>
            <a:off x="4572000" y="405079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Persistent dedup store — survives restarts on active workflows</a:t>
            </a:r>
            <a:endParaRPr lang="en-US" sz="1200" dirty="0"/>
          </a:p>
        </p:txBody>
      </p:sp>
      <p:sp>
        <p:nvSpPr>
          <p:cNvPr id="24" name="Shape 22"/>
          <p:cNvSpPr/>
          <p:nvPr/>
        </p:nvSpPr>
        <p:spPr>
          <a:xfrm>
            <a:off x="8138160" y="3520440"/>
            <a:ext cx="3520440" cy="1417320"/>
          </a:xfrm>
          <a:prstGeom prst="roundRect">
            <a:avLst>
              <a:gd name="adj" fmla="val 516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25" name="Shape 23"/>
          <p:cNvSpPr/>
          <p:nvPr/>
        </p:nvSpPr>
        <p:spPr>
          <a:xfrm>
            <a:off x="8366760" y="3721608"/>
            <a:ext cx="128016" cy="128016"/>
          </a:xfrm>
          <a:prstGeom prst="roundRect">
            <a:avLst>
              <a:gd name="adj" fmla="val 21429"/>
            </a:avLst>
          </a:prstGeom>
          <a:solidFill>
            <a:schemeClr val="accent3"/>
          </a:solidFill>
          <a:ln/>
        </p:spPr>
      </p:sp>
      <p:sp>
        <p:nvSpPr>
          <p:cNvPr id="26" name="Text 24"/>
          <p:cNvSpPr txBox="1"/>
          <p:nvPr/>
        </p:nvSpPr>
        <p:spPr>
          <a:xfrm>
            <a:off x="8641080" y="3630168"/>
            <a:ext cx="2788920" cy="365760"/>
          </a:xfrm>
          <a:prstGeom prst="rect">
            <a:avLst/>
          </a:prstGeom>
          <a:noFill/>
          <a:ln/>
        </p:spPr>
        <p:txBody>
          <a:bodyPr wrap="square" lIns="0" tIns="0" rIns="0" bIns="0" rtlCol="0" anchor="ctr"/>
          <a:lstStyle/>
          <a:p>
            <a:pPr algn="l" indent="0" marL="0">
              <a:buNone/>
            </a:pPr>
            <a:r>
              <a:rPr lang="en-US" sz="1500" b="1" dirty="0">
                <a:solidFill>
                  <a:schemeClr val="tx1"/>
                </a:solidFill>
                <a:latin typeface="Cambria" pitchFamily="34" charset="0"/>
                <a:ea typeface="Cambria" pitchFamily="34" charset="-122"/>
                <a:cs typeface="Cambria" pitchFamily="34" charset="-120"/>
              </a:rPr>
              <a:t>n8n execution history</a:t>
            </a:r>
            <a:endParaRPr lang="en-US" sz="1500" dirty="0"/>
          </a:p>
        </p:txBody>
      </p:sp>
      <p:sp>
        <p:nvSpPr>
          <p:cNvPr id="27" name="Text 25"/>
          <p:cNvSpPr txBox="1"/>
          <p:nvPr/>
        </p:nvSpPr>
        <p:spPr>
          <a:xfrm>
            <a:off x="8366760" y="4050792"/>
            <a:ext cx="3063240" cy="82296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Logging, retries, error visibility; error workflow pages the admin</a:t>
            </a:r>
            <a:endParaRPr lang="en-US" sz="1200" dirty="0"/>
          </a:p>
        </p:txBody>
      </p:sp>
      <p:sp>
        <p:nvSpPr>
          <p:cNvPr id="28" name="Text 26"/>
          <p:cNvSpPr txBox="1"/>
          <p:nvPr/>
        </p:nvSpPr>
        <p:spPr>
          <a:xfrm>
            <a:off x="548640" y="5989320"/>
            <a:ext cx="11064240" cy="457200"/>
          </a:xfrm>
          <a:prstGeom prst="rect">
            <a:avLst/>
          </a:prstGeom>
          <a:noFill/>
          <a:ln/>
        </p:spPr>
        <p:txBody>
          <a:bodyPr wrap="square" lIns="0" tIns="0" rIns="0" bIns="0" rtlCol="0" anchor="ctr"/>
          <a:lstStyle/>
          <a:p>
            <a:pPr algn="l" indent="0" marL="0">
              <a:lnSpc>
                <a:spcPct val="120000"/>
              </a:lnSpc>
              <a:buNone/>
            </a:pPr>
            <a:r>
              <a:rPr lang="en-US" sz="1150" i="1" dirty="0">
                <a:solidFill>
                  <a:schemeClr val="accent4"/>
                </a:solidFill>
                <a:latin typeface="Calibri" pitchFamily="34" charset="0"/>
                <a:ea typeface="Calibri" pitchFamily="34" charset="-122"/>
                <a:cs typeface="Calibri" pitchFamily="34" charset="-120"/>
              </a:rPr>
              <a:t>Why Gmail, not Teams: Teams alerts need a Microsoft Entra client ID and secret — unavailable on personal or student accounts.</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ALERT RULES</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Three rules decide who gets emailed, and when</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1920240"/>
        </p:xfrm>
        <a:graphic>
          <a:graphicData uri="http://schemas.openxmlformats.org/drawingml/2006/table">
            <a:tbl>
              <a:tblPr/>
              <a:tblGrid>
                <a:gridCol w="2103120"/>
                <a:gridCol w="3291840"/>
                <a:gridCol w="2834640"/>
                <a:gridCol w="2834640"/>
              </a:tblGrid>
              <a:tr h="47548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Rule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Condition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First alert</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Reminder interval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r>
              <a:tr h="475488">
                <a:tc>
                  <a:txBody>
                    <a:bodyPr/>
                    <a:lstStyle/>
                    <a:p>
                      <a:pPr indent="0" marL="0">
                        <a:buNone/>
                      </a:pPr>
                      <a:r>
                        <a:rPr lang="en-US" sz="1350" b="1" dirty="0">
                          <a:solidFill>
                            <a:schemeClr val="tx1"/>
                          </a:solidFill>
                          <a:latin typeface="Calibri" pitchFamily="34" charset="0"/>
                          <a:ea typeface="Calibri" pitchFamily="34" charset="-122"/>
                          <a:cs typeface="Calibri" pitchFamily="34" charset="-120"/>
                        </a:rPr>
                        <a:t>Critical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Priority 1 — Critical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Immediate, on detection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Every 10 minutes while unresolved</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475488">
                <a:tc>
                  <a:txBody>
                    <a:bodyPr/>
                    <a:lstStyle/>
                    <a:p>
                      <a:pPr indent="0" marL="0">
                        <a:buNone/>
                      </a:pPr>
                      <a:r>
                        <a:rPr lang="en-US" sz="1350" b="1" dirty="0">
                          <a:solidFill>
                            <a:schemeClr val="tx1"/>
                          </a:solidFill>
                          <a:latin typeface="Calibri" pitchFamily="34" charset="0"/>
                          <a:ea typeface="Calibri" pitchFamily="34" charset="-122"/>
                          <a:cs typeface="Calibri" pitchFamily="34" charset="-120"/>
                        </a:rPr>
                        <a:t>High-priority</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Priority 2 — High</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Immediate, on detection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Every 10 minutes while unresolved</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475488">
                <a:tc>
                  <a:txBody>
                    <a:bodyPr/>
                    <a:lstStyle/>
                    <a:p>
                      <a:pPr indent="0" marL="0">
                        <a:buNone/>
                      </a:pPr>
                      <a:r>
                        <a:rPr lang="en-US" sz="1350" b="1" dirty="0">
                          <a:solidFill>
                            <a:schemeClr val="tx1"/>
                          </a:solidFill>
                          <a:latin typeface="Calibri" pitchFamily="34" charset="0"/>
                          <a:ea typeface="Calibri" pitchFamily="34" charset="-122"/>
                          <a:cs typeface="Calibri" pitchFamily="34" charset="-120"/>
                        </a:rPr>
                        <a:t>Stale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Unresolved, no update in 24h</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On first detection as stale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Every 24 hours</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bl>
          </a:graphicData>
        </a:graphic>
      </p:graphicFrame>
      <p:sp>
        <p:nvSpPr>
          <p:cNvPr id="5" name="Shape 2"/>
          <p:cNvSpPr/>
          <p:nvPr/>
        </p:nvSpPr>
        <p:spPr>
          <a:xfrm>
            <a:off x="548640" y="4160520"/>
            <a:ext cx="11064240" cy="1371600"/>
          </a:xfrm>
          <a:prstGeom prst="roundRect">
            <a:avLst>
              <a:gd name="adj" fmla="val 5333"/>
            </a:avLst>
          </a:prstGeom>
          <a:solidFill>
            <a:schemeClr val="tx2"/>
          </a:solidFill>
          <a:ln/>
          <a:effectLst>
            <a:outerShdw sx="100000" sy="100000" kx="0" ky="0" algn="bl" rotWithShape="0" blurRad="127000" dist="38100" dir="5400000">
              <a:srgbClr val="1A1F2B">
                <a:alpha val="18000"/>
              </a:srgbClr>
            </a:outerShdw>
          </a:effectLst>
        </p:spPr>
      </p:sp>
      <p:sp>
        <p:nvSpPr>
          <p:cNvPr id="6" name="Text 3"/>
          <p:cNvSpPr txBox="1"/>
          <p:nvPr/>
        </p:nvSpPr>
        <p:spPr>
          <a:xfrm>
            <a:off x="868680" y="4370832"/>
            <a:ext cx="2011680" cy="365760"/>
          </a:xfrm>
          <a:prstGeom prst="rect">
            <a:avLst/>
          </a:prstGeom>
          <a:noFill/>
          <a:ln/>
        </p:spPr>
        <p:txBody>
          <a:bodyPr wrap="square" lIns="0" tIns="0" rIns="0" bIns="0" rtlCol="0" anchor="ctr"/>
          <a:lstStyle/>
          <a:p>
            <a:pPr algn="l" indent="0" marL="0">
              <a:buNone/>
            </a:pPr>
            <a:r>
              <a:rPr lang="en-US" sz="1300" b="1" dirty="0">
                <a:solidFill>
                  <a:schemeClr val="accent1"/>
                </a:solidFill>
                <a:latin typeface="Calibri" pitchFamily="34" charset="0"/>
                <a:ea typeface="Calibri" pitchFamily="34" charset="-122"/>
                <a:cs typeface="Calibri" pitchFamily="34" charset="-120"/>
              </a:rPr>
              <a:t>Dedup key</a:t>
            </a:r>
            <a:endParaRPr lang="en-US" sz="1300" dirty="0"/>
          </a:p>
        </p:txBody>
      </p:sp>
      <p:sp>
        <p:nvSpPr>
          <p:cNvPr id="7" name="Text 4"/>
          <p:cNvSpPr txBox="1"/>
          <p:nvPr/>
        </p:nvSpPr>
        <p:spPr>
          <a:xfrm>
            <a:off x="868680" y="4754880"/>
            <a:ext cx="10424160" cy="41148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incident number</a:t>
            </a:r>
            <a:pPr algn="l" indent="0" marL="0">
              <a:buNone/>
            </a:pPr>
            <a:r>
              <a:rPr lang="en-US" sz="1600" dirty="0">
                <a:solidFill>
                  <a:srgbClr val="AEB8C9"/>
                </a:solidFill>
                <a:latin typeface="Calibri" pitchFamily="34" charset="0"/>
                <a:ea typeface="Calibri" pitchFamily="34" charset="-122"/>
                <a:cs typeface="Calibri" pitchFamily="34" charset="-120"/>
              </a:rPr>
              <a:t> + </a:t>
            </a:r>
            <a:pPr algn="l" indent="0" marL="0">
              <a:buNone/>
            </a:pPr>
            <a:r>
              <a:rPr lang="en-US" sz="1600" dirty="0">
                <a:solidFill>
                  <a:srgbClr val="FFFFFF"/>
                </a:solidFill>
                <a:latin typeface="Calibri" pitchFamily="34" charset="0"/>
                <a:ea typeface="Calibri" pitchFamily="34" charset="-122"/>
                <a:cs typeface="Calibri" pitchFamily="34" charset="-120"/>
              </a:rPr>
              <a:t>alert type</a:t>
            </a:r>
            <a:pPr algn="l" indent="0" marL="0">
              <a:buNone/>
            </a:pPr>
            <a:r>
              <a:rPr lang="en-US" sz="1600" dirty="0">
                <a:solidFill>
                  <a:srgbClr val="AEB8C9"/>
                </a:solidFill>
                <a:latin typeface="Calibri" pitchFamily="34" charset="0"/>
                <a:ea typeface="Calibri" pitchFamily="34" charset="-122"/>
                <a:cs typeface="Calibri" pitchFamily="34" charset="-120"/>
              </a:rPr>
              <a:t>   e.g.   </a:t>
            </a:r>
            <a:pPr algn="l" indent="0" marL="0">
              <a:buNone/>
            </a:pPr>
            <a:r>
              <a:rPr lang="en-US" sz="1600" dirty="0">
                <a:solidFill>
                  <a:schemeClr val="accent1"/>
                </a:solidFill>
                <a:latin typeface="Courier New" pitchFamily="34" charset="0"/>
                <a:ea typeface="Courier New" pitchFamily="34" charset="-122"/>
                <a:cs typeface="Courier New" pitchFamily="34" charset="-120"/>
              </a:rPr>
              <a:t>INC0010042:critical</a:t>
            </a:r>
            <a:endParaRPr lang="en-US" sz="1600" dirty="0"/>
          </a:p>
        </p:txBody>
      </p:sp>
      <p:sp>
        <p:nvSpPr>
          <p:cNvPr id="8" name="Text 5"/>
          <p:cNvSpPr txBox="1"/>
          <p:nvPr/>
        </p:nvSpPr>
        <p:spPr>
          <a:xfrm>
            <a:off x="868680" y="5166360"/>
            <a:ext cx="10424160" cy="320040"/>
          </a:xfrm>
          <a:prstGeom prst="rect">
            <a:avLst/>
          </a:prstGeom>
          <a:noFill/>
          <a:ln/>
        </p:spPr>
        <p:txBody>
          <a:bodyPr wrap="square" lIns="0" tIns="0" rIns="0" bIns="0" rtlCol="0" anchor="ctr"/>
          <a:lstStyle/>
          <a:p>
            <a:pPr algn="l" indent="0" marL="0">
              <a:buNone/>
            </a:pPr>
            <a:r>
              <a:rPr lang="en-US" sz="1150" i="1" dirty="0">
                <a:solidFill>
                  <a:srgbClr val="AEB8C9"/>
                </a:solidFill>
                <a:latin typeface="Calibri" pitchFamily="34" charset="0"/>
                <a:ea typeface="Calibri" pitchFamily="34" charset="-122"/>
                <a:cs typeface="Calibri" pitchFamily="34" charset="-120"/>
              </a:rPr>
              <a:t>A resolved/closed incident (states 6/7/8) is excluded, so reminders stop as soon as it's closed — and start fresh if it's reopened.</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N8N WORKFLOW</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Eleven nodes, one monitoring cycle</a:t>
            </a:r>
            <a:endParaRPr lang="en-US" sz="3200" dirty="0"/>
          </a:p>
        </p:txBody>
      </p:sp>
      <p:sp>
        <p:nvSpPr>
          <p:cNvPr id="4" name="Shape 2"/>
          <p:cNvSpPr/>
          <p:nvPr/>
        </p:nvSpPr>
        <p:spPr>
          <a:xfrm>
            <a:off x="548640" y="1783080"/>
            <a:ext cx="3566160" cy="914400"/>
          </a:xfrm>
          <a:prstGeom prst="roundRect">
            <a:avLst>
              <a:gd name="adj" fmla="val 8000"/>
            </a:avLst>
          </a:prstGeom>
          <a:solidFill>
            <a:schemeClr val="bg1"/>
          </a:solidFill>
          <a:ln w="12700">
            <a:solidFill>
              <a:schemeClr val="accent5"/>
            </a:solidFill>
            <a:prstDash val="solid"/>
          </a:ln>
        </p:spPr>
      </p:sp>
      <p:sp>
        <p:nvSpPr>
          <p:cNvPr id="5" name="Shape 3"/>
          <p:cNvSpPr/>
          <p:nvPr/>
        </p:nvSpPr>
        <p:spPr>
          <a:xfrm>
            <a:off x="713232" y="1984248"/>
            <a:ext cx="512064" cy="512064"/>
          </a:xfrm>
          <a:prstGeom prst="ellipse">
            <a:avLst/>
          </a:prstGeom>
          <a:solidFill>
            <a:schemeClr val="accent2"/>
          </a:solidFill>
          <a:ln/>
        </p:spPr>
      </p:sp>
      <p:sp>
        <p:nvSpPr>
          <p:cNvPr id="6" name="Text 4"/>
          <p:cNvSpPr txBox="1"/>
          <p:nvPr/>
        </p:nvSpPr>
        <p:spPr>
          <a:xfrm>
            <a:off x="713232" y="19842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71600" y="1874520"/>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Every 5 Minutes</a:t>
            </a:r>
            <a:endParaRPr lang="en-US" sz="1250" dirty="0"/>
          </a:p>
        </p:txBody>
      </p:sp>
      <p:sp>
        <p:nvSpPr>
          <p:cNvPr id="8" name="Text 6"/>
          <p:cNvSpPr txBox="1"/>
          <p:nvPr/>
        </p:nvSpPr>
        <p:spPr>
          <a:xfrm>
            <a:off x="1371600" y="2221992"/>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Schedule Trigger starts each cycle</a:t>
            </a:r>
            <a:endParaRPr lang="en-US" sz="1050" dirty="0"/>
          </a:p>
        </p:txBody>
      </p:sp>
      <p:sp>
        <p:nvSpPr>
          <p:cNvPr id="9" name="Shape 7"/>
          <p:cNvSpPr/>
          <p:nvPr/>
        </p:nvSpPr>
        <p:spPr>
          <a:xfrm>
            <a:off x="4297680" y="1783080"/>
            <a:ext cx="3566160" cy="914400"/>
          </a:xfrm>
          <a:prstGeom prst="roundRect">
            <a:avLst>
              <a:gd name="adj" fmla="val 8000"/>
            </a:avLst>
          </a:prstGeom>
          <a:solidFill>
            <a:schemeClr val="bg1"/>
          </a:solidFill>
          <a:ln w="12700">
            <a:solidFill>
              <a:schemeClr val="accent5"/>
            </a:solidFill>
            <a:prstDash val="solid"/>
          </a:ln>
        </p:spPr>
      </p:sp>
      <p:sp>
        <p:nvSpPr>
          <p:cNvPr id="10" name="Shape 8"/>
          <p:cNvSpPr/>
          <p:nvPr/>
        </p:nvSpPr>
        <p:spPr>
          <a:xfrm>
            <a:off x="4462272" y="1984248"/>
            <a:ext cx="512064" cy="512064"/>
          </a:xfrm>
          <a:prstGeom prst="ellipse">
            <a:avLst/>
          </a:prstGeom>
          <a:solidFill>
            <a:schemeClr val="accent2"/>
          </a:solidFill>
          <a:ln/>
        </p:spPr>
      </p:sp>
      <p:sp>
        <p:nvSpPr>
          <p:cNvPr id="11" name="Text 9"/>
          <p:cNvSpPr txBox="1"/>
          <p:nvPr/>
        </p:nvSpPr>
        <p:spPr>
          <a:xfrm>
            <a:off x="4462272" y="19842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5120640" y="1874520"/>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Config</a:t>
            </a:r>
            <a:endParaRPr lang="en-US" sz="1250" dirty="0"/>
          </a:p>
        </p:txBody>
      </p:sp>
      <p:sp>
        <p:nvSpPr>
          <p:cNvPr id="13" name="Text 11"/>
          <p:cNvSpPr txBox="1"/>
          <p:nvPr/>
        </p:nvSpPr>
        <p:spPr>
          <a:xfrm>
            <a:off x="5120640" y="2221992"/>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Instance URL, recipient, thresholds</a:t>
            </a:r>
            <a:endParaRPr lang="en-US" sz="1050" dirty="0"/>
          </a:p>
        </p:txBody>
      </p:sp>
      <p:sp>
        <p:nvSpPr>
          <p:cNvPr id="14" name="Shape 12"/>
          <p:cNvSpPr/>
          <p:nvPr/>
        </p:nvSpPr>
        <p:spPr>
          <a:xfrm>
            <a:off x="8046720" y="1783080"/>
            <a:ext cx="3566160" cy="914400"/>
          </a:xfrm>
          <a:prstGeom prst="roundRect">
            <a:avLst>
              <a:gd name="adj" fmla="val 8000"/>
            </a:avLst>
          </a:prstGeom>
          <a:solidFill>
            <a:schemeClr val="bg1"/>
          </a:solidFill>
          <a:ln w="12700">
            <a:solidFill>
              <a:schemeClr val="accent5"/>
            </a:solidFill>
            <a:prstDash val="solid"/>
          </a:ln>
        </p:spPr>
      </p:sp>
      <p:sp>
        <p:nvSpPr>
          <p:cNvPr id="15" name="Shape 13"/>
          <p:cNvSpPr/>
          <p:nvPr/>
        </p:nvSpPr>
        <p:spPr>
          <a:xfrm>
            <a:off x="8211312" y="1984248"/>
            <a:ext cx="512064" cy="512064"/>
          </a:xfrm>
          <a:prstGeom prst="ellipse">
            <a:avLst/>
          </a:prstGeom>
          <a:solidFill>
            <a:schemeClr val="accent1"/>
          </a:solidFill>
          <a:ln/>
        </p:spPr>
      </p:sp>
      <p:sp>
        <p:nvSpPr>
          <p:cNvPr id="16" name="Text 14"/>
          <p:cNvSpPr txBox="1"/>
          <p:nvPr/>
        </p:nvSpPr>
        <p:spPr>
          <a:xfrm>
            <a:off x="8211312" y="198424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869680" y="1874520"/>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Acquire Run Lock</a:t>
            </a:r>
            <a:endParaRPr lang="en-US" sz="1250" dirty="0"/>
          </a:p>
        </p:txBody>
      </p:sp>
      <p:sp>
        <p:nvSpPr>
          <p:cNvPr id="18" name="Text 16"/>
          <p:cNvSpPr txBox="1"/>
          <p:nvPr/>
        </p:nvSpPr>
        <p:spPr>
          <a:xfrm>
            <a:off x="8869680" y="2221992"/>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TTL lock — stops overlapping runs</a:t>
            </a:r>
            <a:endParaRPr lang="en-US" sz="1050" dirty="0"/>
          </a:p>
        </p:txBody>
      </p:sp>
      <p:sp>
        <p:nvSpPr>
          <p:cNvPr id="19" name="Shape 17"/>
          <p:cNvSpPr/>
          <p:nvPr/>
        </p:nvSpPr>
        <p:spPr>
          <a:xfrm>
            <a:off x="548640" y="2862072"/>
            <a:ext cx="3566160" cy="914400"/>
          </a:xfrm>
          <a:prstGeom prst="roundRect">
            <a:avLst>
              <a:gd name="adj" fmla="val 8000"/>
            </a:avLst>
          </a:prstGeom>
          <a:solidFill>
            <a:schemeClr val="bg1"/>
          </a:solidFill>
          <a:ln w="12700">
            <a:solidFill>
              <a:schemeClr val="accent5"/>
            </a:solidFill>
            <a:prstDash val="solid"/>
          </a:ln>
        </p:spPr>
      </p:sp>
      <p:sp>
        <p:nvSpPr>
          <p:cNvPr id="20" name="Shape 18"/>
          <p:cNvSpPr/>
          <p:nvPr/>
        </p:nvSpPr>
        <p:spPr>
          <a:xfrm>
            <a:off x="713232" y="3063240"/>
            <a:ext cx="512064" cy="512064"/>
          </a:xfrm>
          <a:prstGeom prst="ellipse">
            <a:avLst/>
          </a:prstGeom>
          <a:solidFill>
            <a:schemeClr val="accent1"/>
          </a:solidFill>
          <a:ln/>
        </p:spPr>
      </p:sp>
      <p:sp>
        <p:nvSpPr>
          <p:cNvPr id="21" name="Text 19"/>
          <p:cNvSpPr txBox="1"/>
          <p:nvPr/>
        </p:nvSpPr>
        <p:spPr>
          <a:xfrm>
            <a:off x="713232" y="30632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1371600" y="2953512"/>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Recover Stale Claims</a:t>
            </a:r>
            <a:endParaRPr lang="en-US" sz="1250" dirty="0"/>
          </a:p>
        </p:txBody>
      </p:sp>
      <p:sp>
        <p:nvSpPr>
          <p:cNvPr id="23" name="Text 21"/>
          <p:cNvSpPr txBox="1"/>
          <p:nvPr/>
        </p:nvSpPr>
        <p:spPr>
          <a:xfrm>
            <a:off x="1371600" y="3300984"/>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Resets abandoned pending claims</a:t>
            </a:r>
            <a:endParaRPr lang="en-US" sz="1050" dirty="0"/>
          </a:p>
        </p:txBody>
      </p:sp>
      <p:sp>
        <p:nvSpPr>
          <p:cNvPr id="24" name="Shape 22"/>
          <p:cNvSpPr/>
          <p:nvPr/>
        </p:nvSpPr>
        <p:spPr>
          <a:xfrm>
            <a:off x="4297680" y="2862072"/>
            <a:ext cx="3566160" cy="914400"/>
          </a:xfrm>
          <a:prstGeom prst="roundRect">
            <a:avLst>
              <a:gd name="adj" fmla="val 8000"/>
            </a:avLst>
          </a:prstGeom>
          <a:solidFill>
            <a:schemeClr val="bg1"/>
          </a:solidFill>
          <a:ln w="12700">
            <a:solidFill>
              <a:schemeClr val="accent5"/>
            </a:solidFill>
            <a:prstDash val="solid"/>
          </a:ln>
        </p:spPr>
      </p:sp>
      <p:sp>
        <p:nvSpPr>
          <p:cNvPr id="25" name="Shape 23"/>
          <p:cNvSpPr/>
          <p:nvPr/>
        </p:nvSpPr>
        <p:spPr>
          <a:xfrm>
            <a:off x="4462272" y="3063240"/>
            <a:ext cx="512064" cy="512064"/>
          </a:xfrm>
          <a:prstGeom prst="ellipse">
            <a:avLst/>
          </a:prstGeom>
          <a:solidFill>
            <a:schemeClr val="accent2"/>
          </a:solidFill>
          <a:ln/>
        </p:spPr>
      </p:sp>
      <p:sp>
        <p:nvSpPr>
          <p:cNvPr id="26" name="Text 24"/>
          <p:cNvSpPr txBox="1"/>
          <p:nvPr/>
        </p:nvSpPr>
        <p:spPr>
          <a:xfrm>
            <a:off x="4462272" y="30632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5120640" y="2953512"/>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Get ServiceNow Incidents</a:t>
            </a:r>
            <a:endParaRPr lang="en-US" sz="1250" dirty="0"/>
          </a:p>
        </p:txBody>
      </p:sp>
      <p:sp>
        <p:nvSpPr>
          <p:cNvPr id="28" name="Text 26"/>
          <p:cNvSpPr txBox="1"/>
          <p:nvPr/>
        </p:nvSpPr>
        <p:spPr>
          <a:xfrm>
            <a:off x="5120640" y="3300984"/>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GET the Table API, 3 retries</a:t>
            </a:r>
            <a:endParaRPr lang="en-US" sz="1050" dirty="0"/>
          </a:p>
        </p:txBody>
      </p:sp>
      <p:sp>
        <p:nvSpPr>
          <p:cNvPr id="29" name="Shape 27"/>
          <p:cNvSpPr/>
          <p:nvPr/>
        </p:nvSpPr>
        <p:spPr>
          <a:xfrm>
            <a:off x="8046720" y="2862072"/>
            <a:ext cx="3566160" cy="914400"/>
          </a:xfrm>
          <a:prstGeom prst="roundRect">
            <a:avLst>
              <a:gd name="adj" fmla="val 8000"/>
            </a:avLst>
          </a:prstGeom>
          <a:solidFill>
            <a:schemeClr val="bg1"/>
          </a:solidFill>
          <a:ln w="12700">
            <a:solidFill>
              <a:schemeClr val="accent5"/>
            </a:solidFill>
            <a:prstDash val="solid"/>
          </a:ln>
        </p:spPr>
      </p:sp>
      <p:sp>
        <p:nvSpPr>
          <p:cNvPr id="30" name="Shape 28"/>
          <p:cNvSpPr/>
          <p:nvPr/>
        </p:nvSpPr>
        <p:spPr>
          <a:xfrm>
            <a:off x="8211312" y="3063240"/>
            <a:ext cx="512064" cy="512064"/>
          </a:xfrm>
          <a:prstGeom prst="ellipse">
            <a:avLst/>
          </a:prstGeom>
          <a:solidFill>
            <a:schemeClr val="accent2"/>
          </a:solidFill>
          <a:ln/>
        </p:spPr>
      </p:sp>
      <p:sp>
        <p:nvSpPr>
          <p:cNvPr id="31" name="Text 29"/>
          <p:cNvSpPr txBox="1"/>
          <p:nvPr/>
        </p:nvSpPr>
        <p:spPr>
          <a:xfrm>
            <a:off x="8211312" y="30632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2" name="Text 30"/>
          <p:cNvSpPr txBox="1"/>
          <p:nvPr/>
        </p:nvSpPr>
        <p:spPr>
          <a:xfrm>
            <a:off x="8869680" y="2953512"/>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Split Incidents</a:t>
            </a:r>
            <a:endParaRPr lang="en-US" sz="1250" dirty="0"/>
          </a:p>
        </p:txBody>
      </p:sp>
      <p:sp>
        <p:nvSpPr>
          <p:cNvPr id="33" name="Text 31"/>
          <p:cNvSpPr txBox="1"/>
          <p:nvPr/>
        </p:nvSpPr>
        <p:spPr>
          <a:xfrm>
            <a:off x="8869680" y="3300984"/>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One item per incident</a:t>
            </a:r>
            <a:endParaRPr lang="en-US" sz="1050" dirty="0"/>
          </a:p>
        </p:txBody>
      </p:sp>
      <p:sp>
        <p:nvSpPr>
          <p:cNvPr id="34" name="Shape 32"/>
          <p:cNvSpPr/>
          <p:nvPr/>
        </p:nvSpPr>
        <p:spPr>
          <a:xfrm>
            <a:off x="548640" y="3941064"/>
            <a:ext cx="3566160" cy="914400"/>
          </a:xfrm>
          <a:prstGeom prst="roundRect">
            <a:avLst>
              <a:gd name="adj" fmla="val 8000"/>
            </a:avLst>
          </a:prstGeom>
          <a:solidFill>
            <a:schemeClr val="bg1"/>
          </a:solidFill>
          <a:ln w="12700">
            <a:solidFill>
              <a:schemeClr val="accent5"/>
            </a:solidFill>
            <a:prstDash val="solid"/>
          </a:ln>
        </p:spPr>
      </p:sp>
      <p:sp>
        <p:nvSpPr>
          <p:cNvPr id="35" name="Shape 33"/>
          <p:cNvSpPr/>
          <p:nvPr/>
        </p:nvSpPr>
        <p:spPr>
          <a:xfrm>
            <a:off x="713232" y="4142232"/>
            <a:ext cx="512064" cy="512064"/>
          </a:xfrm>
          <a:prstGeom prst="ellipse">
            <a:avLst/>
          </a:prstGeom>
          <a:solidFill>
            <a:schemeClr val="accent2"/>
          </a:solidFill>
          <a:ln/>
        </p:spPr>
      </p:sp>
      <p:sp>
        <p:nvSpPr>
          <p:cNvPr id="36" name="Text 34"/>
          <p:cNvSpPr txBox="1"/>
          <p:nvPr/>
        </p:nvSpPr>
        <p:spPr>
          <a:xfrm>
            <a:off x="713232" y="414223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7" name="Text 35"/>
          <p:cNvSpPr txBox="1"/>
          <p:nvPr/>
        </p:nvSpPr>
        <p:spPr>
          <a:xfrm>
            <a:off x="1371600" y="4032504"/>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Evaluate Rules</a:t>
            </a:r>
            <a:endParaRPr lang="en-US" sz="1250" dirty="0"/>
          </a:p>
        </p:txBody>
      </p:sp>
      <p:sp>
        <p:nvSpPr>
          <p:cNvPr id="38" name="Text 36"/>
          <p:cNvSpPr txBox="1"/>
          <p:nvPr/>
        </p:nvSpPr>
        <p:spPr>
          <a:xfrm>
            <a:off x="1371600" y="4379976"/>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Critical / high / stale matching</a:t>
            </a:r>
            <a:endParaRPr lang="en-US" sz="1050" dirty="0"/>
          </a:p>
        </p:txBody>
      </p:sp>
      <p:sp>
        <p:nvSpPr>
          <p:cNvPr id="39" name="Shape 37"/>
          <p:cNvSpPr/>
          <p:nvPr/>
        </p:nvSpPr>
        <p:spPr>
          <a:xfrm>
            <a:off x="4297680" y="3941064"/>
            <a:ext cx="3566160" cy="914400"/>
          </a:xfrm>
          <a:prstGeom prst="roundRect">
            <a:avLst>
              <a:gd name="adj" fmla="val 8000"/>
            </a:avLst>
          </a:prstGeom>
          <a:solidFill>
            <a:schemeClr val="bg1"/>
          </a:solidFill>
          <a:ln w="12700">
            <a:solidFill>
              <a:schemeClr val="accent5"/>
            </a:solidFill>
            <a:prstDash val="solid"/>
          </a:ln>
        </p:spPr>
      </p:sp>
      <p:sp>
        <p:nvSpPr>
          <p:cNvPr id="40" name="Shape 38"/>
          <p:cNvSpPr/>
          <p:nvPr/>
        </p:nvSpPr>
        <p:spPr>
          <a:xfrm>
            <a:off x="4462272" y="4142232"/>
            <a:ext cx="512064" cy="512064"/>
          </a:xfrm>
          <a:prstGeom prst="ellipse">
            <a:avLst/>
          </a:prstGeom>
          <a:solidFill>
            <a:schemeClr val="accent1"/>
          </a:solidFill>
          <a:ln/>
        </p:spPr>
      </p:sp>
      <p:sp>
        <p:nvSpPr>
          <p:cNvPr id="41" name="Text 39"/>
          <p:cNvSpPr txBox="1"/>
          <p:nvPr/>
        </p:nvSpPr>
        <p:spPr>
          <a:xfrm>
            <a:off x="4462272" y="414223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42" name="Text 40"/>
          <p:cNvSpPr txBox="1"/>
          <p:nvPr/>
        </p:nvSpPr>
        <p:spPr>
          <a:xfrm>
            <a:off x="5120640" y="4032504"/>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Lookup Reminder Due</a:t>
            </a:r>
            <a:endParaRPr lang="en-US" sz="1250" dirty="0"/>
          </a:p>
        </p:txBody>
      </p:sp>
      <p:sp>
        <p:nvSpPr>
          <p:cNvPr id="43" name="Text 41"/>
          <p:cNvSpPr txBox="1"/>
          <p:nvPr/>
        </p:nvSpPr>
        <p:spPr>
          <a:xfrm>
            <a:off x="5120640" y="4379976"/>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Skip, retry, or reminder-due?</a:t>
            </a:r>
            <a:endParaRPr lang="en-US" sz="1050" dirty="0"/>
          </a:p>
        </p:txBody>
      </p:sp>
      <p:sp>
        <p:nvSpPr>
          <p:cNvPr id="44" name="Shape 42"/>
          <p:cNvSpPr/>
          <p:nvPr/>
        </p:nvSpPr>
        <p:spPr>
          <a:xfrm>
            <a:off x="8046720" y="3941064"/>
            <a:ext cx="3566160" cy="914400"/>
          </a:xfrm>
          <a:prstGeom prst="roundRect">
            <a:avLst>
              <a:gd name="adj" fmla="val 8000"/>
            </a:avLst>
          </a:prstGeom>
          <a:solidFill>
            <a:schemeClr val="bg1"/>
          </a:solidFill>
          <a:ln w="12700">
            <a:solidFill>
              <a:schemeClr val="accent5"/>
            </a:solidFill>
            <a:prstDash val="solid"/>
          </a:ln>
        </p:spPr>
      </p:sp>
      <p:sp>
        <p:nvSpPr>
          <p:cNvPr id="45" name="Shape 43"/>
          <p:cNvSpPr/>
          <p:nvPr/>
        </p:nvSpPr>
        <p:spPr>
          <a:xfrm>
            <a:off x="8211312" y="4142232"/>
            <a:ext cx="512064" cy="512064"/>
          </a:xfrm>
          <a:prstGeom prst="ellipse">
            <a:avLst/>
          </a:prstGeom>
          <a:solidFill>
            <a:schemeClr val="accent1"/>
          </a:solidFill>
          <a:ln/>
        </p:spPr>
      </p:sp>
      <p:sp>
        <p:nvSpPr>
          <p:cNvPr id="46" name="Text 44"/>
          <p:cNvSpPr txBox="1"/>
          <p:nvPr/>
        </p:nvSpPr>
        <p:spPr>
          <a:xfrm>
            <a:off x="8211312" y="414223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47" name="Text 45"/>
          <p:cNvSpPr txBox="1"/>
          <p:nvPr/>
        </p:nvSpPr>
        <p:spPr>
          <a:xfrm>
            <a:off x="8869680" y="4032504"/>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Claim Pending</a:t>
            </a:r>
            <a:endParaRPr lang="en-US" sz="1250" dirty="0"/>
          </a:p>
        </p:txBody>
      </p:sp>
      <p:sp>
        <p:nvSpPr>
          <p:cNvPr id="48" name="Text 46"/>
          <p:cNvSpPr txBox="1"/>
          <p:nvPr/>
        </p:nvSpPr>
        <p:spPr>
          <a:xfrm>
            <a:off x="8869680" y="4379976"/>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Writes “pending” before sending</a:t>
            </a:r>
            <a:endParaRPr lang="en-US" sz="1050" dirty="0"/>
          </a:p>
        </p:txBody>
      </p:sp>
      <p:sp>
        <p:nvSpPr>
          <p:cNvPr id="49" name="Shape 47"/>
          <p:cNvSpPr/>
          <p:nvPr/>
        </p:nvSpPr>
        <p:spPr>
          <a:xfrm>
            <a:off x="548640" y="5020056"/>
            <a:ext cx="3566160" cy="914400"/>
          </a:xfrm>
          <a:prstGeom prst="roundRect">
            <a:avLst>
              <a:gd name="adj" fmla="val 8000"/>
            </a:avLst>
          </a:prstGeom>
          <a:solidFill>
            <a:schemeClr val="bg1"/>
          </a:solidFill>
          <a:ln w="12700">
            <a:solidFill>
              <a:schemeClr val="accent5"/>
            </a:solidFill>
            <a:prstDash val="solid"/>
          </a:ln>
        </p:spPr>
      </p:sp>
      <p:sp>
        <p:nvSpPr>
          <p:cNvPr id="50" name="Shape 48"/>
          <p:cNvSpPr/>
          <p:nvPr/>
        </p:nvSpPr>
        <p:spPr>
          <a:xfrm>
            <a:off x="713232" y="5221224"/>
            <a:ext cx="512064" cy="512064"/>
          </a:xfrm>
          <a:prstGeom prst="ellipse">
            <a:avLst/>
          </a:prstGeom>
          <a:solidFill>
            <a:schemeClr val="accent3"/>
          </a:solidFill>
          <a:ln/>
        </p:spPr>
      </p:sp>
      <p:sp>
        <p:nvSpPr>
          <p:cNvPr id="51" name="Text 49"/>
          <p:cNvSpPr txBox="1"/>
          <p:nvPr/>
        </p:nvSpPr>
        <p:spPr>
          <a:xfrm>
            <a:off x="713232" y="522122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52" name="Text 50"/>
          <p:cNvSpPr txBox="1"/>
          <p:nvPr/>
        </p:nvSpPr>
        <p:spPr>
          <a:xfrm>
            <a:off x="1371600" y="5111496"/>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Send Alert Email</a:t>
            </a:r>
            <a:endParaRPr lang="en-US" sz="1250" dirty="0"/>
          </a:p>
        </p:txBody>
      </p:sp>
      <p:sp>
        <p:nvSpPr>
          <p:cNvPr id="53" name="Text 51"/>
          <p:cNvSpPr txBox="1"/>
          <p:nvPr/>
        </p:nvSpPr>
        <p:spPr>
          <a:xfrm>
            <a:off x="1371600" y="5458968"/>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Gmail SMTP, 3 retries</a:t>
            </a:r>
            <a:endParaRPr lang="en-US" sz="1050" dirty="0"/>
          </a:p>
        </p:txBody>
      </p:sp>
      <p:sp>
        <p:nvSpPr>
          <p:cNvPr id="54" name="Shape 52"/>
          <p:cNvSpPr/>
          <p:nvPr/>
        </p:nvSpPr>
        <p:spPr>
          <a:xfrm>
            <a:off x="4297680" y="5020056"/>
            <a:ext cx="3566160" cy="914400"/>
          </a:xfrm>
          <a:prstGeom prst="roundRect">
            <a:avLst>
              <a:gd name="adj" fmla="val 8000"/>
            </a:avLst>
          </a:prstGeom>
          <a:solidFill>
            <a:schemeClr val="bg1"/>
          </a:solidFill>
          <a:ln w="12700">
            <a:solidFill>
              <a:schemeClr val="accent5"/>
            </a:solidFill>
            <a:prstDash val="solid"/>
          </a:ln>
        </p:spPr>
      </p:sp>
      <p:sp>
        <p:nvSpPr>
          <p:cNvPr id="55" name="Shape 53"/>
          <p:cNvSpPr/>
          <p:nvPr/>
        </p:nvSpPr>
        <p:spPr>
          <a:xfrm>
            <a:off x="4462272" y="5221224"/>
            <a:ext cx="512064" cy="512064"/>
          </a:xfrm>
          <a:prstGeom prst="ellipse">
            <a:avLst/>
          </a:prstGeom>
          <a:solidFill>
            <a:schemeClr val="accent3"/>
          </a:solidFill>
          <a:ln/>
        </p:spPr>
      </p:sp>
      <p:sp>
        <p:nvSpPr>
          <p:cNvPr id="56" name="Text 54"/>
          <p:cNvSpPr txBox="1"/>
          <p:nvPr/>
        </p:nvSpPr>
        <p:spPr>
          <a:xfrm>
            <a:off x="4462272" y="522122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p>
        </p:txBody>
      </p:sp>
      <p:sp>
        <p:nvSpPr>
          <p:cNvPr id="57" name="Text 55"/>
          <p:cNvSpPr txBox="1"/>
          <p:nvPr/>
        </p:nvSpPr>
        <p:spPr>
          <a:xfrm>
            <a:off x="5120640" y="5111496"/>
            <a:ext cx="2560320" cy="365760"/>
          </a:xfrm>
          <a:prstGeom prst="rect">
            <a:avLst/>
          </a:prstGeom>
          <a:noFill/>
          <a:ln/>
        </p:spPr>
        <p:txBody>
          <a:bodyPr wrap="square" lIns="0" tIns="0" rIns="0" bIns="0" rtlCol="0" anchor="ctr"/>
          <a:lstStyle/>
          <a:p>
            <a:pPr algn="l" indent="0" marL="0">
              <a:buNone/>
            </a:pPr>
            <a:r>
              <a:rPr lang="en-US" sz="1250" b="1" dirty="0">
                <a:solidFill>
                  <a:schemeClr val="tx1"/>
                </a:solidFill>
                <a:latin typeface="Calibri" pitchFamily="34" charset="0"/>
                <a:ea typeface="Calibri" pitchFamily="34" charset="-122"/>
                <a:cs typeface="Calibri" pitchFamily="34" charset="-120"/>
              </a:rPr>
              <a:t>Resolve Claim</a:t>
            </a:r>
            <a:endParaRPr lang="en-US" sz="1250" dirty="0"/>
          </a:p>
        </p:txBody>
      </p:sp>
      <p:sp>
        <p:nvSpPr>
          <p:cNvPr id="58" name="Text 56"/>
          <p:cNvSpPr txBox="1"/>
          <p:nvPr/>
        </p:nvSpPr>
        <p:spPr>
          <a:xfrm>
            <a:off x="5120640" y="5458968"/>
            <a:ext cx="2560320" cy="411480"/>
          </a:xfrm>
          <a:prstGeom prst="rect">
            <a:avLst/>
          </a:prstGeom>
          <a:noFill/>
          <a:ln/>
        </p:spPr>
        <p:txBody>
          <a:bodyPr wrap="square" lIns="0" tIns="0" rIns="0" bIns="0" rtlCol="0" anchor="ctr"/>
          <a:lstStyle/>
          <a:p>
            <a:pPr algn="l" indent="0" marL="0">
              <a:lnSpc>
                <a:spcPct val="115000"/>
              </a:lnSpc>
              <a:buNone/>
            </a:pPr>
            <a:r>
              <a:rPr lang="en-US" sz="1050" dirty="0">
                <a:solidFill>
                  <a:schemeClr val="accent6"/>
                </a:solidFill>
                <a:latin typeface="Calibri" pitchFamily="34" charset="0"/>
                <a:ea typeface="Calibri" pitchFamily="34" charset="-122"/>
                <a:cs typeface="Calibri" pitchFamily="34" charset="-120"/>
              </a:rPr>
              <a:t>pending → sent / failed</a:t>
            </a:r>
            <a:endParaRPr lang="en-US" sz="10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22960" y="2011680"/>
            <a:ext cx="91440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latin typeface="Calibri" pitchFamily="34" charset="0"/>
                <a:ea typeface="Calibri" pitchFamily="34" charset="-122"/>
                <a:cs typeface="Calibri" pitchFamily="34" charset="-120"/>
              </a:rPr>
              <a:t>01  —  RELIABILITY ENGINEERING</a:t>
            </a:r>
            <a:endParaRPr lang="en-US" sz="1400" dirty="0"/>
          </a:p>
        </p:txBody>
      </p:sp>
      <p:sp>
        <p:nvSpPr>
          <p:cNvPr id="3" name="Text 0"/>
          <p:cNvSpPr/>
          <p:nvPr>
            <p:ph idx="100" type="title" hasCustomPrompt="1"/>
          </p:nvPr>
        </p:nvSpPr>
        <p:spPr>
          <a:xfrm>
            <a:off x="822960" y="2743200"/>
            <a:ext cx="10515600" cy="1463040"/>
          </a:xfrm>
          <a:prstGeom prst="rect">
            <a:avLst/>
          </a:prstGeom>
          <a:noFill/>
          <a:ln/>
        </p:spPr>
        <p:txBody>
          <a:bodyPr wrap="square" rtlCol="0"/>
          <a:lstStyle/>
          <a:p>
            <a:pPr algn="l" indent="0" marL="0">
              <a:buNone/>
            </a:pPr>
            <a:r>
              <a:rPr lang="en-US" sz="4000" b="1" dirty="0">
                <a:solidFill>
                  <a:schemeClr val="bg1"/>
                </a:solidFill>
                <a:latin typeface="Cambria" pitchFamily="34" charset="0"/>
                <a:ea typeface="Cambria" pitchFamily="34" charset="-122"/>
                <a:cs typeface="Cambria" pitchFamily="34" charset="-120"/>
              </a:rPr>
              <a:t>Reminders, dedup, and crash-safe delivery</a:t>
            </a:r>
            <a:endParaRPr lang="en-US" sz="4000" dirty="0"/>
          </a:p>
        </p:txBody>
      </p:sp>
      <p:sp>
        <p:nvSpPr>
          <p:cNvPr id="4" name="Text 0"/>
          <p:cNvSpPr/>
          <p:nvPr>
            <p:ph idx="101" type="body" hasCustomPrompt="1"/>
          </p:nvPr>
        </p:nvSpPr>
        <p:spPr>
          <a:xfrm>
            <a:off x="822960" y="4160520"/>
            <a:ext cx="9601200" cy="1097280"/>
          </a:xfrm>
          <a:prstGeom prst="rect">
            <a:avLst/>
          </a:prstGeom>
          <a:noFill/>
          <a:ln/>
        </p:spPr>
        <p:txBody>
          <a:bodyPr wrap="square" rtlCol="0"/>
          <a:lstStyle/>
          <a:p>
            <a:pPr algn="l" indent="0" marL="0">
              <a:buNone/>
            </a:pPr>
            <a:r>
              <a:rPr lang="en-US" sz="1600" dirty="0">
                <a:solidFill>
                  <a:srgbClr val="AEB8C9"/>
                </a:solidFill>
                <a:latin typeface="Calibri" pitchFamily="34" charset="0"/>
                <a:ea typeface="Calibri" pitchFamily="34" charset="-122"/>
                <a:cs typeface="Calibri" pitchFamily="34" charset="-120"/>
              </a:rPr>
              <a:t>How the workflow avoids two failure modes: forgetting an incident that stays critical, and duplicating an alert if it crashes mid-send.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THE PROBLEM</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Send-then-save can duplicate an alert</a:t>
            </a:r>
            <a:endParaRPr lang="en-US" sz="3200" dirty="0"/>
          </a:p>
        </p:txBody>
      </p:sp>
      <p:sp>
        <p:nvSpPr>
          <p:cNvPr id="4" name="Text 2"/>
          <p:cNvSpPr txBox="1"/>
          <p:nvPr/>
        </p:nvSpPr>
        <p:spPr>
          <a:xfrm>
            <a:off x="548640" y="1691640"/>
            <a:ext cx="11064240" cy="822960"/>
          </a:xfrm>
          <a:prstGeom prst="rect">
            <a:avLst/>
          </a:prstGeom>
          <a:noFill/>
          <a:ln/>
        </p:spPr>
        <p:txBody>
          <a:bodyPr wrap="square" lIns="0" tIns="0" rIns="0" bIns="0" rtlCol="0" anchor="ctr"/>
          <a:lstStyle/>
          <a:p>
            <a:pPr algn="l" indent="0" marL="0">
              <a:lnSpc>
                <a:spcPct val="130000"/>
              </a:lnSpc>
              <a:buNone/>
            </a:pPr>
            <a:r>
              <a:rPr lang="en-US" sz="1500" dirty="0">
                <a:solidFill>
                  <a:schemeClr val="accent6"/>
                </a:solidFill>
                <a:latin typeface="Calibri" pitchFamily="34" charset="0"/>
                <a:ea typeface="Calibri" pitchFamily="34" charset="-122"/>
                <a:cs typeface="Calibri" pitchFamily="34" charset="-120"/>
              </a:rPr>
              <a:t>A naive design emails the alert first, then records that it was sent. If the workflow crashes or the save step fails in between, the next run has no record of the send — and resends it.</a:t>
            </a:r>
            <a:endParaRPr lang="en-US" sz="1500" dirty="0"/>
          </a:p>
        </p:txBody>
      </p:sp>
      <p:sp>
        <p:nvSpPr>
          <p:cNvPr id="5" name="Shape 3"/>
          <p:cNvSpPr/>
          <p:nvPr/>
        </p:nvSpPr>
        <p:spPr>
          <a:xfrm>
            <a:off x="548640" y="2834640"/>
            <a:ext cx="3291840" cy="1737360"/>
          </a:xfrm>
          <a:prstGeom prst="roundRect">
            <a:avLst>
              <a:gd name="adj" fmla="val 421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6" name="Text 4"/>
          <p:cNvSpPr txBox="1"/>
          <p:nvPr/>
        </p:nvSpPr>
        <p:spPr>
          <a:xfrm>
            <a:off x="777240" y="3063240"/>
            <a:ext cx="2834640" cy="411480"/>
          </a:xfrm>
          <a:prstGeom prst="rect">
            <a:avLst/>
          </a:prstGeom>
          <a:noFill/>
          <a:ln/>
        </p:spPr>
        <p:txBody>
          <a:bodyPr wrap="square" lIns="0" tIns="0" rIns="0" bIns="0" rtlCol="0" anchor="ctr"/>
          <a:lstStyle/>
          <a:p>
            <a:pPr algn="l" indent="0" marL="0">
              <a:buNone/>
            </a:pPr>
            <a:r>
              <a:rPr lang="en-US" sz="1600" b="1" dirty="0">
                <a:solidFill>
                  <a:schemeClr val="tx1"/>
                </a:solidFill>
                <a:latin typeface="Cambria" pitchFamily="34" charset="0"/>
                <a:ea typeface="Cambria" pitchFamily="34" charset="-122"/>
                <a:cs typeface="Cambria" pitchFamily="34" charset="-120"/>
              </a:rPr>
              <a:t>Send email</a:t>
            </a:r>
            <a:endParaRPr lang="en-US" sz="1600" dirty="0"/>
          </a:p>
        </p:txBody>
      </p:sp>
      <p:sp>
        <p:nvSpPr>
          <p:cNvPr id="7" name="Text 5"/>
          <p:cNvSpPr txBox="1"/>
          <p:nvPr/>
        </p:nvSpPr>
        <p:spPr>
          <a:xfrm>
            <a:off x="777240" y="3566160"/>
            <a:ext cx="2834640" cy="822960"/>
          </a:xfrm>
          <a:prstGeom prst="rect">
            <a:avLst/>
          </a:prstGeom>
          <a:noFill/>
          <a:ln/>
        </p:spPr>
        <p:txBody>
          <a:bodyPr wrap="square" lIns="0" tIns="0" rIns="0" bIns="0" rtlCol="0" anchor="ctr"/>
          <a:lstStyle/>
          <a:p>
            <a:pPr algn="l" indent="0" marL="0">
              <a:lnSpc>
                <a:spcPct val="125000"/>
              </a:lnSpc>
              <a:buNone/>
            </a:pPr>
            <a:r>
              <a:rPr lang="en-US" sz="1250" dirty="0">
                <a:solidFill>
                  <a:schemeClr val="accent6"/>
                </a:solidFill>
                <a:latin typeface="Calibri" pitchFamily="34" charset="0"/>
                <a:ea typeface="Calibri" pitchFamily="34" charset="-122"/>
                <a:cs typeface="Calibri" pitchFamily="34" charset="-120"/>
              </a:rPr>
              <a:t>INC0010042:critical delivered</a:t>
            </a:r>
            <a:endParaRPr lang="en-US" sz="1250" dirty="0"/>
          </a:p>
        </p:txBody>
      </p:sp>
      <p:sp>
        <p:nvSpPr>
          <p:cNvPr id="8" name="Shape 6"/>
          <p:cNvSpPr/>
          <p:nvPr/>
        </p:nvSpPr>
        <p:spPr>
          <a:xfrm>
            <a:off x="3895344" y="3566160"/>
            <a:ext cx="301752" cy="274320"/>
          </a:xfrm>
          <a:prstGeom prst="rightArrow">
            <a:avLst/>
          </a:prstGeom>
          <a:solidFill>
            <a:schemeClr val="accent4"/>
          </a:solidFill>
          <a:ln/>
        </p:spPr>
      </p:sp>
      <p:sp>
        <p:nvSpPr>
          <p:cNvPr id="9" name="Shape 7"/>
          <p:cNvSpPr/>
          <p:nvPr/>
        </p:nvSpPr>
        <p:spPr>
          <a:xfrm>
            <a:off x="4251960" y="2834640"/>
            <a:ext cx="3291840" cy="1737360"/>
          </a:xfrm>
          <a:prstGeom prst="roundRect">
            <a:avLst>
              <a:gd name="adj" fmla="val 421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0" name="Text 8"/>
          <p:cNvSpPr txBox="1"/>
          <p:nvPr/>
        </p:nvSpPr>
        <p:spPr>
          <a:xfrm>
            <a:off x="4480560" y="3063240"/>
            <a:ext cx="2834640" cy="411480"/>
          </a:xfrm>
          <a:prstGeom prst="rect">
            <a:avLst/>
          </a:prstGeom>
          <a:noFill/>
          <a:ln/>
        </p:spPr>
        <p:txBody>
          <a:bodyPr wrap="square" lIns="0" tIns="0" rIns="0" bIns="0" rtlCol="0" anchor="ctr"/>
          <a:lstStyle/>
          <a:p>
            <a:pPr algn="l" indent="0" marL="0">
              <a:buNone/>
            </a:pPr>
            <a:r>
              <a:rPr lang="en-US" sz="1600" b="1" dirty="0">
                <a:solidFill>
                  <a:schemeClr val="tx1"/>
                </a:solidFill>
                <a:latin typeface="Cambria" pitchFamily="34" charset="0"/>
                <a:ea typeface="Cambria" pitchFamily="34" charset="-122"/>
                <a:cs typeface="Cambria" pitchFamily="34" charset="-120"/>
              </a:rPr>
              <a:t>⚠ Crash</a:t>
            </a:r>
            <a:endParaRPr lang="en-US" sz="1600" dirty="0"/>
          </a:p>
        </p:txBody>
      </p:sp>
      <p:sp>
        <p:nvSpPr>
          <p:cNvPr id="11" name="Text 9"/>
          <p:cNvSpPr txBox="1"/>
          <p:nvPr/>
        </p:nvSpPr>
        <p:spPr>
          <a:xfrm>
            <a:off x="4480560" y="3566160"/>
            <a:ext cx="2834640" cy="822960"/>
          </a:xfrm>
          <a:prstGeom prst="rect">
            <a:avLst/>
          </a:prstGeom>
          <a:noFill/>
          <a:ln/>
        </p:spPr>
        <p:txBody>
          <a:bodyPr wrap="square" lIns="0" tIns="0" rIns="0" bIns="0" rtlCol="0" anchor="ctr"/>
          <a:lstStyle/>
          <a:p>
            <a:pPr algn="l" indent="0" marL="0">
              <a:lnSpc>
                <a:spcPct val="125000"/>
              </a:lnSpc>
              <a:buNone/>
            </a:pPr>
            <a:r>
              <a:rPr lang="en-US" sz="1250" dirty="0">
                <a:solidFill>
                  <a:schemeClr val="accent6"/>
                </a:solidFill>
                <a:latin typeface="Calibri" pitchFamily="34" charset="0"/>
                <a:ea typeface="Calibri" pitchFamily="34" charset="-122"/>
                <a:cs typeface="Calibri" pitchFamily="34" charset="-120"/>
              </a:rPr>
              <a:t>Workflow dies before saving state</a:t>
            </a:r>
            <a:endParaRPr lang="en-US" sz="1250" dirty="0"/>
          </a:p>
        </p:txBody>
      </p:sp>
      <p:sp>
        <p:nvSpPr>
          <p:cNvPr id="12" name="Shape 10"/>
          <p:cNvSpPr/>
          <p:nvPr/>
        </p:nvSpPr>
        <p:spPr>
          <a:xfrm>
            <a:off x="7598664" y="3566160"/>
            <a:ext cx="301752" cy="274320"/>
          </a:xfrm>
          <a:prstGeom prst="rightArrow">
            <a:avLst/>
          </a:prstGeom>
          <a:solidFill>
            <a:schemeClr val="accent4"/>
          </a:solidFill>
          <a:ln/>
        </p:spPr>
      </p:sp>
      <p:sp>
        <p:nvSpPr>
          <p:cNvPr id="13" name="Shape 11"/>
          <p:cNvSpPr/>
          <p:nvPr/>
        </p:nvSpPr>
        <p:spPr>
          <a:xfrm>
            <a:off x="7955280" y="2834640"/>
            <a:ext cx="3291840" cy="1737360"/>
          </a:xfrm>
          <a:prstGeom prst="roundRect">
            <a:avLst>
              <a:gd name="adj" fmla="val 4211"/>
            </a:avLst>
          </a:prstGeom>
          <a:solidFill>
            <a:schemeClr val="tx2"/>
          </a:solidFill>
          <a:ln/>
          <a:effectLst>
            <a:outerShdw sx="100000" sy="100000" kx="0" ky="0" algn="bl" rotWithShape="0" blurRad="127000" dist="38100" dir="5400000">
              <a:srgbClr val="1A1F2B">
                <a:alpha val="18000"/>
              </a:srgbClr>
            </a:outerShdw>
          </a:effectLst>
        </p:spPr>
      </p:sp>
      <p:sp>
        <p:nvSpPr>
          <p:cNvPr id="14" name="Text 12"/>
          <p:cNvSpPr txBox="1"/>
          <p:nvPr/>
        </p:nvSpPr>
        <p:spPr>
          <a:xfrm>
            <a:off x="8183880" y="3063240"/>
            <a:ext cx="2834640"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Cambria" pitchFamily="34" charset="0"/>
                <a:ea typeface="Cambria" pitchFamily="34" charset="-122"/>
                <a:cs typeface="Cambria" pitchFamily="34" charset="-120"/>
              </a:rPr>
              <a:t>Next run</a:t>
            </a:r>
            <a:endParaRPr lang="en-US" sz="1600" dirty="0"/>
          </a:p>
        </p:txBody>
      </p:sp>
      <p:sp>
        <p:nvSpPr>
          <p:cNvPr id="15" name="Text 13"/>
          <p:cNvSpPr txBox="1"/>
          <p:nvPr/>
        </p:nvSpPr>
        <p:spPr>
          <a:xfrm>
            <a:off x="8183880" y="3566160"/>
            <a:ext cx="2834640" cy="822960"/>
          </a:xfrm>
          <a:prstGeom prst="rect">
            <a:avLst/>
          </a:prstGeom>
          <a:noFill/>
          <a:ln/>
        </p:spPr>
        <p:txBody>
          <a:bodyPr wrap="square" lIns="0" tIns="0" rIns="0" bIns="0" rtlCol="0" anchor="ctr"/>
          <a:lstStyle/>
          <a:p>
            <a:pPr algn="l" indent="0" marL="0">
              <a:lnSpc>
                <a:spcPct val="125000"/>
              </a:lnSpc>
              <a:buNone/>
            </a:pPr>
            <a:r>
              <a:rPr lang="en-US" sz="1250" dirty="0">
                <a:solidFill>
                  <a:srgbClr val="AEB8C9"/>
                </a:solidFill>
                <a:latin typeface="Calibri" pitchFamily="34" charset="0"/>
                <a:ea typeface="Calibri" pitchFamily="34" charset="-122"/>
                <a:cs typeface="Calibri" pitchFamily="34" charset="-120"/>
              </a:rPr>
              <a:t>No record found → sends again</a:t>
            </a:r>
            <a:endParaRPr lang="en-US" sz="1250" dirty="0"/>
          </a:p>
        </p:txBody>
      </p:sp>
      <p:sp>
        <p:nvSpPr>
          <p:cNvPr id="16" name="Text 14"/>
          <p:cNvSpPr txBox="1"/>
          <p:nvPr/>
        </p:nvSpPr>
        <p:spPr>
          <a:xfrm>
            <a:off x="548640" y="5029200"/>
            <a:ext cx="11064240" cy="457200"/>
          </a:xfrm>
          <a:prstGeom prst="rect">
            <a:avLst/>
          </a:prstGeom>
          <a:noFill/>
          <a:ln/>
        </p:spPr>
        <p:txBody>
          <a:bodyPr wrap="square" lIns="0" tIns="0" rIns="0" bIns="0" rtlCol="0" anchor="ctr"/>
          <a:lstStyle/>
          <a:p>
            <a:pPr algn="l" indent="0" marL="0">
              <a:buNone/>
            </a:pPr>
            <a:r>
              <a:rPr lang="en-US" sz="1300" i="1" dirty="0">
                <a:solidFill>
                  <a:schemeClr val="accent4"/>
                </a:solidFill>
                <a:latin typeface="Calibri" pitchFamily="34" charset="0"/>
                <a:ea typeface="Calibri" pitchFamily="34" charset="-122"/>
                <a:cs typeface="Calibri" pitchFamily="34" charset="-120"/>
              </a:rPr>
              <a:t>Why ordinary SMTP can't fix this: there is no transaction spanning “send an email” and “write a database row.” One of them has to come first.</a:t>
            </a:r>
            <a:endParaRPr lang="en-US" sz="13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THE FIX</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Claim before you send</a:t>
            </a:r>
            <a:endParaRPr lang="en-US" sz="3200" dirty="0"/>
          </a:p>
        </p:txBody>
      </p:sp>
      <p:sp>
        <p:nvSpPr>
          <p:cNvPr id="4" name="Shape 2"/>
          <p:cNvSpPr/>
          <p:nvPr/>
        </p:nvSpPr>
        <p:spPr>
          <a:xfrm>
            <a:off x="548640" y="1691640"/>
            <a:ext cx="2606040" cy="502920"/>
          </a:xfrm>
          <a:prstGeom prst="roundRect">
            <a:avLst>
              <a:gd name="adj" fmla="val 49091"/>
            </a:avLst>
          </a:prstGeom>
          <a:solidFill>
            <a:schemeClr val="bg2"/>
          </a:solidFill>
          <a:ln w="12700">
            <a:solidFill>
              <a:schemeClr val="accent5"/>
            </a:solidFill>
            <a:prstDash val="solid"/>
          </a:ln>
        </p:spPr>
      </p:sp>
      <p:sp>
        <p:nvSpPr>
          <p:cNvPr id="5" name="Text 3"/>
          <p:cNvSpPr txBox="1"/>
          <p:nvPr/>
        </p:nvSpPr>
        <p:spPr>
          <a:xfrm>
            <a:off x="548640" y="1691640"/>
            <a:ext cx="2606040" cy="502920"/>
          </a:xfrm>
          <a:prstGeom prst="rect">
            <a:avLst/>
          </a:prstGeom>
          <a:noFill/>
          <a:ln/>
        </p:spPr>
        <p:txBody>
          <a:bodyPr wrap="square" lIns="0" tIns="0" rIns="0" bIns="0" rtlCol="0" anchor="ctr"/>
          <a:lstStyle/>
          <a:p>
            <a:pPr algn="ctr" indent="0" marL="0">
              <a:buNone/>
            </a:pPr>
            <a:r>
              <a:rPr lang="en-US" sz="1250" b="1" dirty="0">
                <a:solidFill>
                  <a:schemeClr val="tx1"/>
                </a:solidFill>
                <a:latin typeface="Calibri" pitchFamily="34" charset="0"/>
                <a:ea typeface="Calibri" pitchFamily="34" charset="-122"/>
                <a:cs typeface="Calibri" pitchFamily="34" charset="-120"/>
              </a:rPr>
              <a:t>1. Look up</a:t>
            </a:r>
            <a:endParaRPr lang="en-US" sz="1250" dirty="0"/>
          </a:p>
        </p:txBody>
      </p:sp>
      <p:sp>
        <p:nvSpPr>
          <p:cNvPr id="6" name="Shape 4"/>
          <p:cNvSpPr/>
          <p:nvPr/>
        </p:nvSpPr>
        <p:spPr>
          <a:xfrm>
            <a:off x="3163824" y="1810512"/>
            <a:ext cx="146304" cy="274320"/>
          </a:xfrm>
          <a:prstGeom prst="rightArrow">
            <a:avLst/>
          </a:prstGeom>
          <a:solidFill>
            <a:schemeClr val="accent4"/>
          </a:solidFill>
          <a:ln/>
        </p:spPr>
      </p:sp>
      <p:sp>
        <p:nvSpPr>
          <p:cNvPr id="7" name="Shape 5"/>
          <p:cNvSpPr/>
          <p:nvPr/>
        </p:nvSpPr>
        <p:spPr>
          <a:xfrm>
            <a:off x="3319272" y="1691640"/>
            <a:ext cx="2606040" cy="502920"/>
          </a:xfrm>
          <a:prstGeom prst="roundRect">
            <a:avLst>
              <a:gd name="adj" fmla="val 49091"/>
            </a:avLst>
          </a:prstGeom>
          <a:solidFill>
            <a:schemeClr val="accent1"/>
          </a:solidFill>
          <a:ln w="12700">
            <a:solidFill>
              <a:schemeClr val="accent5"/>
            </a:solidFill>
            <a:prstDash val="solid"/>
          </a:ln>
        </p:spPr>
      </p:sp>
      <p:sp>
        <p:nvSpPr>
          <p:cNvPr id="8" name="Text 6"/>
          <p:cNvSpPr txBox="1"/>
          <p:nvPr/>
        </p:nvSpPr>
        <p:spPr>
          <a:xfrm>
            <a:off x="3319272" y="1691640"/>
            <a:ext cx="2606040"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 Claim (pending)</a:t>
            </a:r>
            <a:endParaRPr lang="en-US" sz="1250" dirty="0"/>
          </a:p>
        </p:txBody>
      </p:sp>
      <p:sp>
        <p:nvSpPr>
          <p:cNvPr id="9" name="Shape 7"/>
          <p:cNvSpPr/>
          <p:nvPr/>
        </p:nvSpPr>
        <p:spPr>
          <a:xfrm>
            <a:off x="5934456" y="1810512"/>
            <a:ext cx="146304" cy="274320"/>
          </a:xfrm>
          <a:prstGeom prst="rightArrow">
            <a:avLst/>
          </a:prstGeom>
          <a:solidFill>
            <a:schemeClr val="accent4"/>
          </a:solidFill>
          <a:ln/>
        </p:spPr>
      </p:sp>
      <p:sp>
        <p:nvSpPr>
          <p:cNvPr id="10" name="Shape 8"/>
          <p:cNvSpPr/>
          <p:nvPr/>
        </p:nvSpPr>
        <p:spPr>
          <a:xfrm>
            <a:off x="6089904" y="1691640"/>
            <a:ext cx="2606040" cy="502920"/>
          </a:xfrm>
          <a:prstGeom prst="roundRect">
            <a:avLst>
              <a:gd name="adj" fmla="val 49091"/>
            </a:avLst>
          </a:prstGeom>
          <a:solidFill>
            <a:schemeClr val="bg2"/>
          </a:solidFill>
          <a:ln w="12700">
            <a:solidFill>
              <a:schemeClr val="accent5"/>
            </a:solidFill>
            <a:prstDash val="solid"/>
          </a:ln>
        </p:spPr>
      </p:sp>
      <p:sp>
        <p:nvSpPr>
          <p:cNvPr id="11" name="Text 9"/>
          <p:cNvSpPr txBox="1"/>
          <p:nvPr/>
        </p:nvSpPr>
        <p:spPr>
          <a:xfrm>
            <a:off x="6089904" y="1691640"/>
            <a:ext cx="2606040" cy="502920"/>
          </a:xfrm>
          <a:prstGeom prst="rect">
            <a:avLst/>
          </a:prstGeom>
          <a:noFill/>
          <a:ln/>
        </p:spPr>
        <p:txBody>
          <a:bodyPr wrap="square" lIns="0" tIns="0" rIns="0" bIns="0" rtlCol="0" anchor="ctr"/>
          <a:lstStyle/>
          <a:p>
            <a:pPr algn="ctr" indent="0" marL="0">
              <a:buNone/>
            </a:pPr>
            <a:r>
              <a:rPr lang="en-US" sz="1250" b="1" dirty="0">
                <a:solidFill>
                  <a:schemeClr val="tx1"/>
                </a:solidFill>
                <a:latin typeface="Calibri" pitchFamily="34" charset="0"/>
                <a:ea typeface="Calibri" pitchFamily="34" charset="-122"/>
                <a:cs typeface="Calibri" pitchFamily="34" charset="-120"/>
              </a:rPr>
              <a:t>3. Send</a:t>
            </a:r>
            <a:endParaRPr lang="en-US" sz="1250" dirty="0"/>
          </a:p>
        </p:txBody>
      </p:sp>
      <p:sp>
        <p:nvSpPr>
          <p:cNvPr id="12" name="Shape 10"/>
          <p:cNvSpPr/>
          <p:nvPr/>
        </p:nvSpPr>
        <p:spPr>
          <a:xfrm>
            <a:off x="8705088" y="1810512"/>
            <a:ext cx="146304" cy="274320"/>
          </a:xfrm>
          <a:prstGeom prst="rightArrow">
            <a:avLst/>
          </a:prstGeom>
          <a:solidFill>
            <a:schemeClr val="accent4"/>
          </a:solidFill>
          <a:ln/>
        </p:spPr>
      </p:sp>
      <p:sp>
        <p:nvSpPr>
          <p:cNvPr id="13" name="Shape 11"/>
          <p:cNvSpPr/>
          <p:nvPr/>
        </p:nvSpPr>
        <p:spPr>
          <a:xfrm>
            <a:off x="8860536" y="1691640"/>
            <a:ext cx="2606040" cy="502920"/>
          </a:xfrm>
          <a:prstGeom prst="roundRect">
            <a:avLst>
              <a:gd name="adj" fmla="val 49091"/>
            </a:avLst>
          </a:prstGeom>
          <a:solidFill>
            <a:schemeClr val="bg2"/>
          </a:solidFill>
          <a:ln w="12700">
            <a:solidFill>
              <a:schemeClr val="accent5"/>
            </a:solidFill>
            <a:prstDash val="solid"/>
          </a:ln>
        </p:spPr>
      </p:sp>
      <p:sp>
        <p:nvSpPr>
          <p:cNvPr id="14" name="Text 12"/>
          <p:cNvSpPr txBox="1"/>
          <p:nvPr/>
        </p:nvSpPr>
        <p:spPr>
          <a:xfrm>
            <a:off x="8860536" y="1691640"/>
            <a:ext cx="2606040" cy="502920"/>
          </a:xfrm>
          <a:prstGeom prst="rect">
            <a:avLst/>
          </a:prstGeom>
          <a:noFill/>
          <a:ln/>
        </p:spPr>
        <p:txBody>
          <a:bodyPr wrap="square" lIns="0" tIns="0" rIns="0" bIns="0" rtlCol="0" anchor="ctr"/>
          <a:lstStyle/>
          <a:p>
            <a:pPr algn="ctr" indent="0" marL="0">
              <a:buNone/>
            </a:pPr>
            <a:r>
              <a:rPr lang="en-US" sz="1250" b="1" dirty="0">
                <a:solidFill>
                  <a:schemeClr val="tx1"/>
                </a:solidFill>
                <a:latin typeface="Calibri" pitchFamily="34" charset="0"/>
                <a:ea typeface="Calibri" pitchFamily="34" charset="-122"/>
                <a:cs typeface="Calibri" pitchFamily="34" charset="-120"/>
              </a:rPr>
              <a:t>4. Resolve (sent/failed)</a:t>
            </a:r>
            <a:endParaRPr lang="en-US" sz="1250" dirty="0"/>
          </a:p>
        </p:txBody>
      </p:sp>
      <p:sp>
        <p:nvSpPr>
          <p:cNvPr id="15" name="Shape 13"/>
          <p:cNvSpPr/>
          <p:nvPr/>
        </p:nvSpPr>
        <p:spPr>
          <a:xfrm>
            <a:off x="548640" y="2468880"/>
            <a:ext cx="5760720" cy="3566160"/>
          </a:xfrm>
          <a:prstGeom prst="roundRect">
            <a:avLst>
              <a:gd name="adj" fmla="val 1795"/>
            </a:avLst>
          </a:prstGeom>
          <a:solidFill>
            <a:schemeClr val="tx2"/>
          </a:solidFill>
          <a:ln/>
        </p:spPr>
      </p:sp>
      <p:sp>
        <p:nvSpPr>
          <p:cNvPr id="16" name="Text 14"/>
          <p:cNvSpPr txBox="1"/>
          <p:nvPr/>
        </p:nvSpPr>
        <p:spPr>
          <a:xfrm>
            <a:off x="822960" y="2697480"/>
            <a:ext cx="5212080" cy="3108960"/>
          </a:xfrm>
          <a:prstGeom prst="rect">
            <a:avLst/>
          </a:prstGeom>
          <a:noFill/>
          <a:ln/>
        </p:spPr>
        <p:txBody>
          <a:bodyPr wrap="square" lIns="0" tIns="0" rIns="0" bIns="0" rtlCol="0" anchor="t"/>
          <a:lstStyle/>
          <a:p>
            <a:pPr algn="l" indent="0" marL="0">
              <a:lnSpc>
                <a:spcPct val="125000"/>
              </a:lnSpc>
              <a:buNone/>
            </a:pPr>
            <a:r>
              <a:rPr lang="en-US" sz="1300" dirty="0">
                <a:solidFill>
                  <a:srgbClr val="7DD3C0"/>
                </a:solidFill>
                <a:latin typeface="Courier New" pitchFamily="34" charset="0"/>
                <a:ea typeface="Courier New" pitchFamily="34" charset="-122"/>
                <a:cs typeface="Courier New" pitchFamily="34" charset="-120"/>
              </a:rPr>
              <a:t>// lookup.js — is this key eligible to send?</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if (!rec) eligible = true;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(rec.status === 'pending') eligible = false;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(rec.status === 'failed') eligible = true;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(rec.incident_state !== j.stateValue)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  eligible = true;              // e.g. reopened</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(rec.status === 'sent' &amp;&amp;</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    now - rec.last_notified_at &gt;= intervalMs) {</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  eligible = true; isReminder = true;</a:t>
            </a:r>
            <a:endParaRPr lang="en-US" sz="1300" dirty="0"/>
          </a:p>
          <a:p>
            <a:pPr algn="l" indent="0" marL="0">
              <a:lnSpc>
                <a:spcPct val="125000"/>
              </a:lnSpc>
              <a:buNone/>
            </a:pPr>
            <a:r>
              <a:rPr lang="en-US" sz="1300" dirty="0">
                <a:solidFill>
                  <a:srgbClr val="E5E9F0"/>
                </a:solidFill>
                <a:latin typeface="Courier New" pitchFamily="34" charset="0"/>
                <a:ea typeface="Courier New" pitchFamily="34" charset="-122"/>
                <a:cs typeface="Courier New" pitchFamily="34" charset="-120"/>
              </a:rPr>
              <a:t>}</a:t>
            </a:r>
            <a:endParaRPr lang="en-US" sz="1300" dirty="0"/>
          </a:p>
        </p:txBody>
      </p:sp>
      <p:sp>
        <p:nvSpPr>
          <p:cNvPr id="17" name="Shape 15"/>
          <p:cNvSpPr/>
          <p:nvPr/>
        </p:nvSpPr>
        <p:spPr>
          <a:xfrm>
            <a:off x="6309360" y="2468880"/>
            <a:ext cx="5303520" cy="1600200"/>
          </a:xfrm>
          <a:prstGeom prst="roundRect">
            <a:avLst>
              <a:gd name="adj" fmla="val 4571"/>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8" name="Text 16"/>
          <p:cNvSpPr txBox="1"/>
          <p:nvPr/>
        </p:nvSpPr>
        <p:spPr>
          <a:xfrm>
            <a:off x="6537960" y="2615184"/>
            <a:ext cx="4846320" cy="320040"/>
          </a:xfrm>
          <a:prstGeom prst="rect">
            <a:avLst/>
          </a:prstGeom>
          <a:noFill/>
          <a:ln/>
        </p:spPr>
        <p:txBody>
          <a:bodyPr wrap="square" lIns="0" tIns="0" rIns="0" bIns="0" rtlCol="0" anchor="ctr"/>
          <a:lstStyle/>
          <a:p>
            <a:pPr algn="l" indent="0" marL="0">
              <a:buNone/>
            </a:pPr>
            <a:r>
              <a:rPr lang="en-US" sz="1300" b="1" dirty="0">
                <a:solidFill>
                  <a:schemeClr val="tx1"/>
                </a:solidFill>
                <a:latin typeface="Calibri" pitchFamily="34" charset="0"/>
                <a:ea typeface="Calibri" pitchFamily="34" charset="-122"/>
                <a:cs typeface="Calibri" pitchFamily="34" charset="-120"/>
              </a:rPr>
              <a:t>claim.js — written before the send</a:t>
            </a:r>
            <a:endParaRPr lang="en-US" sz="1300" dirty="0"/>
          </a:p>
        </p:txBody>
      </p:sp>
      <p:sp>
        <p:nvSpPr>
          <p:cNvPr id="19" name="Text 17"/>
          <p:cNvSpPr txBox="1"/>
          <p:nvPr/>
        </p:nvSpPr>
        <p:spPr>
          <a:xfrm>
            <a:off x="6537960" y="2926080"/>
            <a:ext cx="4846320" cy="457200"/>
          </a:xfrm>
          <a:prstGeom prst="rect">
            <a:avLst/>
          </a:prstGeom>
          <a:noFill/>
          <a:ln/>
        </p:spPr>
        <p:txBody>
          <a:bodyPr wrap="square" lIns="0" tIns="0" rIns="0" bIns="0" rtlCol="0" anchor="ctr"/>
          <a:lstStyle/>
          <a:p>
            <a:pPr algn="l" indent="0" marL="0">
              <a:buNone/>
            </a:pPr>
            <a:r>
              <a:rPr lang="en-US" sz="1200" dirty="0">
                <a:solidFill>
                  <a:schemeClr val="accent2"/>
                </a:solidFill>
                <a:latin typeface="Courier New" pitchFamily="34" charset="0"/>
                <a:ea typeface="Courier New" pitchFamily="34" charset="-122"/>
                <a:cs typeface="Courier New" pitchFamily="34" charset="-120"/>
              </a:rPr>
              <a:t>sd.alerts[key] = { status: 'pending', claimed_at: now, incident_state }</a:t>
            </a:r>
            <a:endParaRPr lang="en-US" sz="1200" dirty="0"/>
          </a:p>
        </p:txBody>
      </p:sp>
      <p:sp>
        <p:nvSpPr>
          <p:cNvPr id="20" name="Text 18"/>
          <p:cNvSpPr txBox="1"/>
          <p:nvPr/>
        </p:nvSpPr>
        <p:spPr>
          <a:xfrm>
            <a:off x="6537960" y="3429000"/>
            <a:ext cx="4846320" cy="54864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This record is what survives a crash — the next run finds it, not silence.</a:t>
            </a:r>
            <a:endParaRPr lang="en-US" sz="1200" dirty="0"/>
          </a:p>
        </p:txBody>
      </p:sp>
      <p:sp>
        <p:nvSpPr>
          <p:cNvPr id="21" name="Shape 19"/>
          <p:cNvSpPr/>
          <p:nvPr/>
        </p:nvSpPr>
        <p:spPr>
          <a:xfrm>
            <a:off x="6309360" y="4343400"/>
            <a:ext cx="5303520" cy="1691640"/>
          </a:xfrm>
          <a:prstGeom prst="roundRect">
            <a:avLst>
              <a:gd name="adj" fmla="val 4324"/>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22" name="Text 20"/>
          <p:cNvSpPr txBox="1"/>
          <p:nvPr/>
        </p:nvSpPr>
        <p:spPr>
          <a:xfrm>
            <a:off x="6537960" y="4507992"/>
            <a:ext cx="4846320" cy="320040"/>
          </a:xfrm>
          <a:prstGeom prst="rect">
            <a:avLst/>
          </a:prstGeom>
          <a:noFill/>
          <a:ln/>
        </p:spPr>
        <p:txBody>
          <a:bodyPr wrap="square" lIns="0" tIns="0" rIns="0" bIns="0" rtlCol="0" anchor="ctr"/>
          <a:lstStyle/>
          <a:p>
            <a:pPr algn="l" indent="0" marL="0">
              <a:buNone/>
            </a:pPr>
            <a:r>
              <a:rPr lang="en-US" sz="1300" b="1" dirty="0">
                <a:solidFill>
                  <a:schemeClr val="tx1"/>
                </a:solidFill>
                <a:latin typeface="Calibri" pitchFamily="34" charset="0"/>
                <a:ea typeface="Calibri" pitchFamily="34" charset="-122"/>
                <a:cs typeface="Calibri" pitchFamily="34" charset="-120"/>
              </a:rPr>
              <a:t>Self-healing safeguards</a:t>
            </a:r>
            <a:endParaRPr lang="en-US" sz="1300" dirty="0"/>
          </a:p>
        </p:txBody>
      </p:sp>
      <p:sp>
        <p:nvSpPr>
          <p:cNvPr id="23" name="Text 21"/>
          <p:cNvSpPr txBox="1"/>
          <p:nvPr/>
        </p:nvSpPr>
        <p:spPr>
          <a:xfrm>
            <a:off x="6537960" y="4846320"/>
            <a:ext cx="4846320" cy="1097280"/>
          </a:xfrm>
          <a:prstGeom prst="rect">
            <a:avLst/>
          </a:prstGeom>
          <a:noFill/>
          <a:ln/>
        </p:spPr>
        <p:txBody>
          <a:bodyPr wrap="square" lIns="0" tIns="0" rIns="0" bIns="0" rtlCol="0" anchor="ctr"/>
          <a:lstStyle/>
          <a:p>
            <a:pPr algn="l" marL="342900" indent="-342900">
              <a:lnSpc>
                <a:spcPct val="130000"/>
              </a:lnSpc>
              <a:buSzPct val="100000"/>
              <a:buChar char="•"/>
            </a:pPr>
            <a:r>
              <a:rPr lang="en-US" sz="1200" b="1" dirty="0">
                <a:solidFill>
                  <a:schemeClr val="accent6"/>
                </a:solidFill>
                <a:latin typeface="Calibri" pitchFamily="34" charset="0"/>
                <a:ea typeface="Calibri" pitchFamily="34" charset="-122"/>
                <a:cs typeface="Calibri" pitchFamily="34" charset="-120"/>
              </a:rPr>
              <a:t>Stale-claim recovery</a:t>
            </a:r>
            <a:pPr algn="l" indent="0" marL="0">
              <a:lnSpc>
                <a:spcPct val="130000"/>
              </a:lnSpc>
              <a:buNone/>
            </a:pPr>
            <a:r>
              <a:rPr lang="en-US" sz="1200" dirty="0">
                <a:solidFill>
                  <a:schemeClr val="accent6"/>
                </a:solidFill>
                <a:latin typeface="Calibri" pitchFamily="34" charset="0"/>
                <a:ea typeface="Calibri" pitchFamily="34" charset="-122"/>
                <a:cs typeface="Calibri" pitchFamily="34" charset="-120"/>
              </a:rPr>
              <a:t> — a “pending” older than 10 min is reset to retryable.</a:t>
            </a:r>
            <a:endParaRPr lang="en-US" sz="1200" dirty="0"/>
          </a:p>
          <a:p>
            <a:pPr algn="l" marL="342900" indent="-342900">
              <a:lnSpc>
                <a:spcPct val="130000"/>
              </a:lnSpc>
              <a:buSzPct val="100000"/>
              <a:buChar char="•"/>
            </a:pPr>
            <a:r>
              <a:rPr lang="en-US" sz="1200" b="1" dirty="0">
                <a:solidFill>
                  <a:schemeClr val="accent6"/>
                </a:solidFill>
                <a:latin typeface="Calibri" pitchFamily="34" charset="0"/>
                <a:ea typeface="Calibri" pitchFamily="34" charset="-122"/>
                <a:cs typeface="Calibri" pitchFamily="34" charset="-120"/>
              </a:rPr>
              <a:t>Run lock</a:t>
            </a:r>
            <a:pPr algn="l" indent="0" marL="0">
              <a:lnSpc>
                <a:spcPct val="130000"/>
              </a:lnSpc>
              <a:buNone/>
            </a:pPr>
            <a:r>
              <a:rPr lang="en-US" sz="1200" dirty="0">
                <a:solidFill>
                  <a:schemeClr val="accent6"/>
                </a:solidFill>
                <a:latin typeface="Calibri" pitchFamily="34" charset="0"/>
                <a:ea typeface="Calibri" pitchFamily="34" charset="-122"/>
                <a:cs typeface="Calibri" pitchFamily="34" charset="-120"/>
              </a:rPr>
              <a:t> — a TTL lock stops two runs from racing to claim the same key.</a:t>
            </a:r>
            <a:endParaRPr lang="en-US" sz="1200" dirty="0"/>
          </a:p>
        </p:txBody>
      </p:sp>
      <p:sp>
        <p:nvSpPr>
          <p:cNvPr id="24" name="Text 22"/>
          <p:cNvSpPr txBox="1"/>
          <p:nvPr/>
        </p:nvSpPr>
        <p:spPr>
          <a:xfrm>
            <a:off x="548640" y="6080760"/>
            <a:ext cx="11064240" cy="411480"/>
          </a:xfrm>
          <a:prstGeom prst="rect">
            <a:avLst/>
          </a:prstGeom>
          <a:noFill/>
          <a:ln/>
        </p:spPr>
        <p:txBody>
          <a:bodyPr wrap="square" lIns="0" tIns="0" rIns="0" bIns="0" rtlCol="0" anchor="ctr"/>
          <a:lstStyle/>
          <a:p>
            <a:pPr algn="l" indent="0" marL="0">
              <a:lnSpc>
                <a:spcPct val="120000"/>
              </a:lnSpc>
              <a:buNone/>
            </a:pPr>
            <a:r>
              <a:rPr lang="en-US" sz="1150" i="1" dirty="0">
                <a:solidFill>
                  <a:schemeClr val="accent4"/>
                </a:solidFill>
                <a:latin typeface="Calibri" pitchFamily="34" charset="0"/>
                <a:ea typeface="Calibri" pitchFamily="34" charset="-122"/>
                <a:cs typeface="Calibri" pitchFamily="34" charset="-120"/>
              </a:rPr>
              <a:t>At-least-once delivery: a narrow-window duplicate is possible; a missed critical alert is not. Plain SMTP can't guarantee exactly-once — this is the right tradeoff.</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REMINDER POLICY</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An active critical incident isn't ignored forever</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2606040"/>
        </p:xfrm>
        <a:graphic>
          <a:graphicData uri="http://schemas.openxmlformats.org/drawingml/2006/table">
            <a:tbl>
              <a:tblPr/>
              <a:tblGrid>
                <a:gridCol w="1828800"/>
                <a:gridCol w="2834640"/>
                <a:gridCol w="6400800"/>
              </a:tblGrid>
              <a:tr h="56692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Time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Incident state</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Action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r>
              <a:tr h="566928">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Critical, first seen</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b="1" dirty="0">
                          <a:solidFill>
                            <a:schemeClr val="accent2"/>
                          </a:solidFill>
                          <a:latin typeface="Calibri" pitchFamily="34" charset="0"/>
                          <a:ea typeface="Calibri" pitchFamily="34" charset="-122"/>
                          <a:cs typeface="Calibri" pitchFamily="34" charset="-120"/>
                        </a:rPr>
                        <a:t>Send email. Save status=sent, last_notified_at=10:00.</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66928">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10:01–10:09</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Still critical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Wait — reminder interval (10 min) hasn't elapsed.</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66928">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10:10</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Still critical</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b="1" dirty="0">
                          <a:solidFill>
                            <a:schemeClr val="accent1"/>
                          </a:solidFill>
                          <a:latin typeface="Calibri" pitchFamily="34" charset="0"/>
                          <a:ea typeface="Calibri" pitchFamily="34" charset="-122"/>
                          <a:cs typeface="Calibri" pitchFamily="34" charset="-120"/>
                        </a:rPr>
                        <a:t>Reminder sent. Update last_notified_at=10:10.</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66928">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10:15</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dirty="0">
                          <a:solidFill>
                            <a:schemeClr val="tx1"/>
                          </a:solidFill>
                          <a:latin typeface="Calibri" pitchFamily="34" charset="0"/>
                          <a:ea typeface="Calibri" pitchFamily="34" charset="-122"/>
                          <a:cs typeface="Calibri" pitchFamily="34" charset="-120"/>
                        </a:rPr>
                        <a:t>Resolved</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50" b="1" dirty="0">
                          <a:solidFill>
                            <a:schemeClr val="accent3"/>
                          </a:solidFill>
                          <a:latin typeface="Calibri" pitchFamily="34" charset="0"/>
                          <a:ea typeface="Calibri" pitchFamily="34" charset="-122"/>
                          <a:cs typeface="Calibri" pitchFamily="34" charset="-120"/>
                        </a:rPr>
                        <a:t>Stop. No further reminders for this key.</a:t>
                      </a:r>
                      <a:endParaRPr lang="en-US" sz="135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bl>
          </a:graphicData>
        </a:graphic>
      </p:graphicFrame>
      <p:sp>
        <p:nvSpPr>
          <p:cNvPr id="5" name="Text 2"/>
          <p:cNvSpPr txBox="1"/>
          <p:nvPr/>
        </p:nvSpPr>
        <p:spPr>
          <a:xfrm>
            <a:off x="548640" y="4663440"/>
            <a:ext cx="11064240" cy="640080"/>
          </a:xfrm>
          <a:prstGeom prst="rect">
            <a:avLst/>
          </a:prstGeom>
          <a:noFill/>
          <a:ln/>
        </p:spPr>
        <p:txBody>
          <a:bodyPr wrap="square" lIns="0" tIns="0" rIns="0" bIns="0" rtlCol="0" anchor="ctr"/>
          <a:lstStyle/>
          <a:p>
            <a:pPr algn="l" indent="0" marL="0">
              <a:lnSpc>
                <a:spcPct val="130000"/>
              </a:lnSpc>
              <a:buNone/>
            </a:pPr>
            <a:r>
              <a:rPr lang="en-US" sz="1300" dirty="0">
                <a:solidFill>
                  <a:schemeClr val="accent6"/>
                </a:solidFill>
                <a:latin typeface="Calibri" pitchFamily="34" charset="0"/>
                <a:ea typeface="Calibri" pitchFamily="34" charset="-122"/>
                <a:cs typeface="Calibri" pitchFamily="34" charset="-120"/>
              </a:rPr>
              <a:t>Never reset </a:t>
            </a:r>
            <a:pPr algn="l" indent="0" marL="0">
              <a:lnSpc>
                <a:spcPct val="130000"/>
              </a:lnSpc>
              <a:buNone/>
            </a:pPr>
            <a:r>
              <a:rPr lang="en-US" sz="1300" dirty="0">
                <a:solidFill>
                  <a:schemeClr val="accent1"/>
                </a:solidFill>
                <a:latin typeface="Courier New" pitchFamily="34" charset="0"/>
                <a:ea typeface="Courier New" pitchFamily="34" charset="-122"/>
                <a:cs typeface="Courier New" pitchFamily="34" charset="-120"/>
              </a:rPr>
              <a:t>status</a:t>
            </a:r>
            <a:pPr algn="l" indent="0" marL="0">
              <a:lnSpc>
                <a:spcPct val="130000"/>
              </a:lnSpc>
              <a:buNone/>
            </a:pPr>
            <a:r>
              <a:rPr lang="en-US" sz="1300" dirty="0">
                <a:solidFill>
                  <a:schemeClr val="accent6"/>
                </a:solidFill>
                <a:latin typeface="Calibri" pitchFamily="34" charset="0"/>
                <a:ea typeface="Calibri" pitchFamily="34" charset="-122"/>
                <a:cs typeface="Calibri" pitchFamily="34" charset="-120"/>
              </a:rPr>
              <a:t> back to unsent on every run — only </a:t>
            </a:r>
            <a:pPr algn="l" indent="0" marL="0">
              <a:lnSpc>
                <a:spcPct val="130000"/>
              </a:lnSpc>
              <a:buNone/>
            </a:pPr>
            <a:r>
              <a:rPr lang="en-US" sz="1300" dirty="0">
                <a:solidFill>
                  <a:schemeClr val="accent1"/>
                </a:solidFill>
                <a:latin typeface="Courier New" pitchFamily="34" charset="0"/>
                <a:ea typeface="Courier New" pitchFamily="34" charset="-122"/>
                <a:cs typeface="Courier New" pitchFamily="34" charset="-120"/>
              </a:rPr>
              <a:t>last_notified_at</a:t>
            </a:r>
            <a:pPr algn="l" indent="0" marL="0">
              <a:lnSpc>
                <a:spcPct val="130000"/>
              </a:lnSpc>
              <a:buNone/>
            </a:pPr>
            <a:r>
              <a:rPr lang="en-US" sz="1300" dirty="0">
                <a:solidFill>
                  <a:schemeClr val="accent6"/>
                </a:solidFill>
                <a:latin typeface="Calibri" pitchFamily="34" charset="0"/>
                <a:ea typeface="Calibri" pitchFamily="34" charset="-122"/>
                <a:cs typeface="Calibri" pitchFamily="34" charset="-120"/>
              </a:rPr>
              <a:t> moves forward. That's what turns “re-alert” into a controlled reminder instead of an accidental duplicate every 5 minutes.</a:t>
            </a:r>
            <a:endParaRPr lang="en-US" sz="1300" dirty="0"/>
          </a:p>
        </p:txBody>
      </p:sp>
      <p:sp>
        <p:nvSpPr>
          <p:cNvPr id="6" name="Text 3"/>
          <p:cNvSpPr txBox="1"/>
          <p:nvPr/>
        </p:nvSpPr>
        <p:spPr>
          <a:xfrm>
            <a:off x="548640" y="5440680"/>
            <a:ext cx="11064240" cy="365760"/>
          </a:xfrm>
          <a:prstGeom prst="rect">
            <a:avLst/>
          </a:prstGeom>
          <a:noFill/>
          <a:ln/>
        </p:spPr>
        <p:txBody>
          <a:bodyPr wrap="square" lIns="0" tIns="0" rIns="0" bIns="0" rtlCol="0" anchor="ctr"/>
          <a:lstStyle/>
          <a:p>
            <a:pPr algn="l" indent="0" marL="0">
              <a:buNone/>
            </a:pPr>
            <a:r>
              <a:rPr lang="en-US" sz="1200" i="1" dirty="0">
                <a:solidFill>
                  <a:schemeClr val="accent4"/>
                </a:solidFill>
                <a:latin typeface="Calibri" pitchFamily="34" charset="0"/>
                <a:ea typeface="Calibri" pitchFamily="34" charset="-122"/>
                <a:cs typeface="Calibri" pitchFamily="34" charset="-120"/>
              </a:rPr>
              <a:t>The 10-minute interval is configurable per alert type (reminderMinutesUrgent for critical/high, reminderHours for stale).</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DATA MODEL</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Alert State Store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2926080"/>
        </p:xfrm>
        <a:graphic>
          <a:graphicData uri="http://schemas.openxmlformats.org/drawingml/2006/table">
            <a:tbl>
              <a:tblPr/>
              <a:tblGrid>
                <a:gridCol w="2377440"/>
                <a:gridCol w="3566160"/>
                <a:gridCol w="5120640"/>
              </a:tblGrid>
              <a:tr h="51206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Field</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Purpose</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key</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accent2"/>
                          </a:solidFill>
                          <a:latin typeface="Courier New" pitchFamily="34" charset="0"/>
                          <a:ea typeface="Courier New" pitchFamily="34" charset="-122"/>
                          <a:cs typeface="Courier New" pitchFamily="34" charset="-120"/>
                        </a:rPr>
                        <a:t>INC0010042:critical</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incident number + alert type</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status</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pending / sent / failed</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where this alert is in its lifecycle</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claimed_at</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2026-10-25T10:00:03Z</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set on claim; drives stale-claim recovery</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last_notified_at</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2026-10-25T10:10:00Z</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drives the reminder interval</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r h="512064">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incident_state</a:t>
                      </a:r>
                      <a:endParaRPr lang="en-US" sz="1300" dirty="0">
                        <a:latin typeface="Courier New" charset="0"/>
                        <a:ea typeface="Courier New" charset="0"/>
                        <a:cs typeface="Courier New"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 Progress</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detects reopen / state changes</a:t>
                      </a:r>
                      <a:endParaRPr lang="en-US" sz="1300" dirty="0">
                        <a:latin typeface="Calibri" charset="0"/>
                        <a:ea typeface="Calibri" charset="0"/>
                        <a:cs typeface="Calibri" charset="0"/>
                      </a:endParaRPr>
                    </a:p>
                  </a:txBody>
                  <a:tcPr marL="91440" marR="91440" marT="45720" marB="4572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r>
            </a:tbl>
          </a:graphicData>
        </a:graphic>
      </p:graphicFrame>
      <p:sp>
        <p:nvSpPr>
          <p:cNvPr id="5" name="Text 2"/>
          <p:cNvSpPr txBox="1"/>
          <p:nvPr/>
        </p:nvSpPr>
        <p:spPr>
          <a:xfrm>
            <a:off x="548640" y="5120640"/>
            <a:ext cx="11064240" cy="457200"/>
          </a:xfrm>
          <a:prstGeom prst="rect">
            <a:avLst/>
          </a:prstGeom>
          <a:noFill/>
          <a:ln/>
        </p:spPr>
        <p:txBody>
          <a:bodyPr wrap="square" lIns="0" tIns="0" rIns="0" bIns="0" rtlCol="0" anchor="ctr"/>
          <a:lstStyle/>
          <a:p>
            <a:pPr algn="l" indent="0" marL="0">
              <a:lnSpc>
                <a:spcPct val="130000"/>
              </a:lnSpc>
              <a:buNone/>
            </a:pPr>
            <a:r>
              <a:rPr lang="en-US" sz="1250" i="1" dirty="0">
                <a:solidFill>
                  <a:schemeClr val="accent4"/>
                </a:solidFill>
                <a:latin typeface="Calibri" pitchFamily="34" charset="0"/>
                <a:ea typeface="Calibri" pitchFamily="34" charset="-122"/>
                <a:cs typeface="Calibri" pitchFamily="34" charset="-120"/>
              </a:rPr>
              <a:t>Kept in n8n workflow static data — persists across restarts on an active (production) workflow, but only saved by real scheduled runs, not manual test runs.</a:t>
            </a:r>
            <a:endParaRPr lang="en-US" sz="12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EXAMPLE</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What the team actually receives</a:t>
            </a:r>
            <a:endParaRPr lang="en-US" sz="3200" dirty="0"/>
          </a:p>
        </p:txBody>
      </p:sp>
      <p:sp>
        <p:nvSpPr>
          <p:cNvPr id="4" name="Shape 2"/>
          <p:cNvSpPr/>
          <p:nvPr/>
        </p:nvSpPr>
        <p:spPr>
          <a:xfrm>
            <a:off x="548640" y="1737360"/>
            <a:ext cx="11064240" cy="4297680"/>
          </a:xfrm>
          <a:prstGeom prst="roundRect">
            <a:avLst>
              <a:gd name="adj" fmla="val 1702"/>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5" name="Shape 3"/>
          <p:cNvSpPr/>
          <p:nvPr/>
        </p:nvSpPr>
        <p:spPr>
          <a:xfrm>
            <a:off x="548640" y="1737360"/>
            <a:ext cx="11064240" cy="502920"/>
          </a:xfrm>
          <a:prstGeom prst="roundRect">
            <a:avLst>
              <a:gd name="adj" fmla="val 9091"/>
            </a:avLst>
          </a:prstGeom>
          <a:solidFill>
            <a:schemeClr val="accent1"/>
          </a:solidFill>
          <a:ln/>
        </p:spPr>
      </p:sp>
      <p:sp>
        <p:nvSpPr>
          <p:cNvPr id="6" name="Text 4"/>
          <p:cNvSpPr txBox="1"/>
          <p:nvPr/>
        </p:nvSpPr>
        <p:spPr>
          <a:xfrm>
            <a:off x="822960" y="1737360"/>
            <a:ext cx="10515600" cy="502920"/>
          </a:xfrm>
          <a:prstGeom prst="rect">
            <a:avLst/>
          </a:prstGeom>
          <a:noFill/>
          <a:ln/>
        </p:spPr>
        <p:txBody>
          <a:bodyPr wrap="square" lIns="0" tIns="0" rIns="0" bIns="0"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[CRITICAL INCIDENT]  INC0010042 — Production application unavailable</a:t>
            </a:r>
            <a:endParaRPr lang="en-US" sz="1400" dirty="0"/>
          </a:p>
        </p:txBody>
      </p:sp>
      <p:sp>
        <p:nvSpPr>
          <p:cNvPr id="7" name="Text 5"/>
          <p:cNvSpPr txBox="1"/>
          <p:nvPr/>
        </p:nvSpPr>
        <p:spPr>
          <a:xfrm>
            <a:off x="868680" y="2423160"/>
            <a:ext cx="10424160" cy="3429000"/>
          </a:xfrm>
          <a:prstGeom prst="rect">
            <a:avLst/>
          </a:prstGeom>
          <a:noFill/>
          <a:ln/>
        </p:spPr>
        <p:txBody>
          <a:bodyPr wrap="square" lIns="0" tIns="0" rIns="0" bIns="0" rtlCol="0" anchor="ctr"/>
          <a:lstStyle/>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Hello Team,</a:t>
            </a:r>
            <a:endParaRPr lang="en-US" sz="1300" dirty="0"/>
          </a:p>
          <a:p>
            <a:pPr algn="l" indent="0" marL="0">
              <a:lnSpc>
                <a:spcPct val="120000"/>
              </a:lnSpc>
              <a:buNone/>
            </a:pP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A critical incident has been detected in ServiceNow.</a:t>
            </a:r>
            <a:endParaRPr lang="en-US" sz="1300" dirty="0"/>
          </a:p>
          <a:p>
            <a:pPr algn="l" indent="0" marL="0">
              <a:lnSpc>
                <a:spcPct val="120000"/>
              </a:lnSpc>
              <a:buNone/>
            </a:pP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Incident:       INC0010042</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Priority:       1 — Critical</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Status:         In Progress</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Assigned to:    Example User</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Description:    Production application unavailable</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  Last updated:   2026-10-25 09:58 UTC</a:t>
            </a:r>
            <a:endParaRPr lang="en-US" sz="1300" dirty="0"/>
          </a:p>
          <a:p>
            <a:pPr algn="l" indent="0" marL="0">
              <a:lnSpc>
                <a:spcPct val="120000"/>
              </a:lnSpc>
              <a:buNone/>
            </a:pP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Please investigate this incident as soon as possible.</a:t>
            </a:r>
            <a:endParaRPr lang="en-US" sz="1300" dirty="0"/>
          </a:p>
          <a:p>
            <a:pPr algn="l" indent="0" marL="0">
              <a:lnSpc>
                <a:spcPct val="120000"/>
              </a:lnSpc>
              <a:buNone/>
            </a:pPr>
            <a:r>
              <a:rPr lang="en-US" sz="1300" dirty="0">
                <a:solidFill>
                  <a:schemeClr val="tx1"/>
                </a:solidFill>
                <a:latin typeface="Courier New" pitchFamily="34" charset="0"/>
                <a:ea typeface="Courier New" pitchFamily="34" charset="-122"/>
                <a:cs typeface="Courier New" pitchFamily="34" charset="-120"/>
              </a:rPr>
              <a:t>View incident: https://dev421307.service-now.com/nav_to.do?...</a:t>
            </a:r>
            <a:endParaRPr lang="en-US" sz="1300" dirty="0"/>
          </a:p>
        </p:txBody>
      </p:sp>
      <p:sp>
        <p:nvSpPr>
          <p:cNvPr id="8" name="Text 6"/>
          <p:cNvSpPr txBox="1"/>
          <p:nvPr/>
        </p:nvSpPr>
        <p:spPr>
          <a:xfrm>
            <a:off x="548640" y="6172200"/>
            <a:ext cx="11064240" cy="365760"/>
          </a:xfrm>
          <a:prstGeom prst="rect">
            <a:avLst/>
          </a:prstGeom>
          <a:noFill/>
          <a:ln/>
        </p:spPr>
        <p:txBody>
          <a:bodyPr wrap="square" lIns="0" tIns="0" rIns="0" bIns="0" rtlCol="0" anchor="ctr"/>
          <a:lstStyle/>
          <a:p>
            <a:pPr algn="l" indent="0" marL="0">
              <a:buNone/>
            </a:pPr>
            <a:r>
              <a:rPr lang="en-US" sz="1200" i="1" dirty="0">
                <a:solidFill>
                  <a:schemeClr val="accent4"/>
                </a:solidFill>
                <a:latin typeface="Calibri" pitchFamily="34" charset="0"/>
                <a:ea typeface="Calibri" pitchFamily="34" charset="-122"/>
                <a:cs typeface="Calibri" pitchFamily="34" charset="-120"/>
              </a:rPr>
              <a:t>A reminder reuses this template with a [REMINDER] subject prefix and a one-line note that the incident is still unresolved.</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822960" y="2011680"/>
            <a:ext cx="9144000" cy="365760"/>
          </a:xfrm>
          <a:prstGeom prst="rect">
            <a:avLst/>
          </a:prstGeom>
          <a:noFill/>
          <a:ln/>
        </p:spPr>
        <p:txBody>
          <a:bodyPr wrap="square" lIns="0" tIns="0" rIns="0" bIns="0" rtlCol="0" anchor="ctr"/>
          <a:lstStyle/>
          <a:p>
            <a:pPr algn="l" indent="0" marL="0">
              <a:buNone/>
            </a:pPr>
            <a:r>
              <a:rPr lang="en-US" sz="1400" b="1" spc="200" kern="0" dirty="0">
                <a:solidFill>
                  <a:schemeClr val="accent1"/>
                </a:solidFill>
                <a:latin typeface="Calibri" pitchFamily="34" charset="0"/>
                <a:ea typeface="Calibri" pitchFamily="34" charset="-122"/>
                <a:cs typeface="Calibri" pitchFamily="34" charset="-120"/>
              </a:rPr>
              <a:t>02  —  TESTING &amp; DELIVERY</a:t>
            </a:r>
            <a:endParaRPr lang="en-US" sz="1400" dirty="0"/>
          </a:p>
        </p:txBody>
      </p:sp>
      <p:sp>
        <p:nvSpPr>
          <p:cNvPr id="3" name="Text 0"/>
          <p:cNvSpPr/>
          <p:nvPr>
            <p:ph idx="100" type="title" hasCustomPrompt="1"/>
          </p:nvPr>
        </p:nvSpPr>
        <p:spPr>
          <a:xfrm>
            <a:off x="822960" y="2743200"/>
            <a:ext cx="10515600" cy="1463040"/>
          </a:xfrm>
          <a:prstGeom prst="rect">
            <a:avLst/>
          </a:prstGeom>
          <a:noFill/>
          <a:ln/>
        </p:spPr>
        <p:txBody>
          <a:bodyPr wrap="square" rtlCol="0"/>
          <a:lstStyle/>
          <a:p>
            <a:pPr algn="l" indent="0" marL="0">
              <a:buNone/>
            </a:pPr>
            <a:r>
              <a:rPr lang="en-US" sz="4000" b="1" dirty="0">
                <a:solidFill>
                  <a:schemeClr val="bg1"/>
                </a:solidFill>
                <a:latin typeface="Cambria" pitchFamily="34" charset="0"/>
                <a:ea typeface="Cambria" pitchFamily="34" charset="-122"/>
                <a:cs typeface="Cambria" pitchFamily="34" charset="-120"/>
              </a:rPr>
              <a:t>Proving it works, and where it lives</a:t>
            </a:r>
            <a:endParaRPr lang="en-US" sz="4000" dirty="0"/>
          </a:p>
        </p:txBody>
      </p:sp>
      <p:sp>
        <p:nvSpPr>
          <p:cNvPr id="4" name="Text 0"/>
          <p:cNvSpPr/>
          <p:nvPr>
            <p:ph idx="101" type="body" hasCustomPrompt="1"/>
          </p:nvPr>
        </p:nvSpPr>
        <p:spPr>
          <a:xfrm>
            <a:off x="822960" y="4160520"/>
            <a:ext cx="9601200" cy="1097280"/>
          </a:xfrm>
          <a:prstGeom prst="rect">
            <a:avLst/>
          </a:prstGeom>
          <a:noFill/>
          <a:ln/>
        </p:spPr>
        <p:txBody>
          <a:bodyPr wrap="square" rtlCol="0"/>
          <a:lstStyle/>
          <a:p>
            <a:pPr algn="l" indent="0" marL="0">
              <a:buNone/>
            </a:pPr>
            <a:r>
              <a:rPr lang="en-US" sz="1600" dirty="0">
                <a:solidFill>
                  <a:srgbClr val="AEB8C9"/>
                </a:solidFill>
                <a:latin typeface="Calibri" pitchFamily="34" charset="0"/>
                <a:ea typeface="Calibri" pitchFamily="34" charset="-122"/>
                <a:cs typeface="Calibri" pitchFamily="34" charset="-120"/>
              </a:rPr>
              <a:t>Unit tests on the dedup logic, an end-to-end run against a mock ServiceNow and SMTP sink, and a public GitHub repo with everything documented.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TESTING</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Verified without touching production data</a:t>
            </a:r>
            <a:endParaRPr lang="en-US" sz="3200" dirty="0"/>
          </a:p>
        </p:txBody>
      </p:sp>
      <p:sp>
        <p:nvSpPr>
          <p:cNvPr id="4" name="Shape 2"/>
          <p:cNvSpPr/>
          <p:nvPr/>
        </p:nvSpPr>
        <p:spPr>
          <a:xfrm>
            <a:off x="548640" y="1737360"/>
            <a:ext cx="5349240" cy="3200400"/>
          </a:xfrm>
          <a:prstGeom prst="roundRect">
            <a:avLst>
              <a:gd name="adj" fmla="val 2286"/>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5" name="Text 3"/>
          <p:cNvSpPr txBox="1"/>
          <p:nvPr/>
        </p:nvSpPr>
        <p:spPr>
          <a:xfrm>
            <a:off x="822960" y="1920240"/>
            <a:ext cx="4846320" cy="365760"/>
          </a:xfrm>
          <a:prstGeom prst="rect">
            <a:avLst/>
          </a:prstGeom>
          <a:noFill/>
          <a:ln/>
        </p:spPr>
        <p:txBody>
          <a:bodyPr wrap="square" lIns="0" tIns="0" rIns="0" bIns="0" rtlCol="0" anchor="ctr"/>
          <a:lstStyle/>
          <a:p>
            <a:pPr algn="l" indent="0" marL="0">
              <a:buNone/>
            </a:pPr>
            <a:r>
              <a:rPr lang="en-US" sz="1500" b="1" dirty="0">
                <a:solidFill>
                  <a:schemeClr val="accent3"/>
                </a:solidFill>
                <a:latin typeface="Cambria" pitchFamily="34" charset="0"/>
                <a:ea typeface="Cambria" pitchFamily="34" charset="-122"/>
                <a:cs typeface="Cambria" pitchFamily="34" charset="-120"/>
              </a:rPr>
              <a:t>Unit tests — 13/13 passing</a:t>
            </a:r>
            <a:endParaRPr lang="en-US" sz="1500" dirty="0"/>
          </a:p>
        </p:txBody>
      </p:sp>
      <p:sp>
        <p:nvSpPr>
          <p:cNvPr id="6" name="Text 4"/>
          <p:cNvSpPr txBox="1"/>
          <p:nvPr/>
        </p:nvSpPr>
        <p:spPr>
          <a:xfrm>
            <a:off x="822960" y="2377440"/>
            <a:ext cx="4846320" cy="2423160"/>
          </a:xfrm>
          <a:prstGeom prst="rect">
            <a:avLst/>
          </a:prstGeom>
          <a:noFill/>
          <a:ln/>
        </p:spPr>
        <p:txBody>
          <a:bodyPr wrap="square" lIns="0" tIns="0" rIns="0" bIns="0" rtlCol="0" anchor="ctr"/>
          <a:lstStyle/>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Rule logic — critical / high / stale / resolved classification</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Run lock — blocks within TTL, allows after expiry</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Stale-claim recovery — abandoned claims reset to retryable</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Lookup — skip, retry, reminder-due, and reopen cases</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Claim — every eligible item marked pending before send</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Resolve — success → sent, failure → failed, error raised</a:t>
            </a:r>
            <a:endParaRPr lang="en-US" sz="1150" dirty="0"/>
          </a:p>
          <a:p>
            <a:pPr algn="l" marL="342900" indent="-342900">
              <a:lnSpc>
                <a:spcPct val="130000"/>
              </a:lnSpc>
              <a:spcAft>
                <a:spcPts val="600"/>
              </a:spcAft>
              <a:buSzPct val="100000"/>
              <a:buChar char="✓"/>
            </a:pPr>
            <a:r>
              <a:rPr lang="en-US" sz="1150" dirty="0">
                <a:solidFill>
                  <a:schemeClr val="accent6"/>
                </a:solidFill>
                <a:latin typeface="Calibri" pitchFamily="34" charset="0"/>
                <a:ea typeface="Calibri" pitchFamily="34" charset="-122"/>
                <a:cs typeface="Calibri" pitchFamily="34" charset="-120"/>
              </a:rPr>
              <a:t>Two-run integration — run 2 sends nothing new right after run 1</a:t>
            </a:r>
            <a:endParaRPr lang="en-US" sz="1150" dirty="0"/>
          </a:p>
        </p:txBody>
      </p:sp>
      <p:sp>
        <p:nvSpPr>
          <p:cNvPr id="7" name="Shape 5"/>
          <p:cNvSpPr/>
          <p:nvPr/>
        </p:nvSpPr>
        <p:spPr>
          <a:xfrm>
            <a:off x="6080760" y="1737360"/>
            <a:ext cx="5532120" cy="3200400"/>
          </a:xfrm>
          <a:prstGeom prst="roundRect">
            <a:avLst>
              <a:gd name="adj" fmla="val 2286"/>
            </a:avLst>
          </a:prstGeom>
          <a:solidFill>
            <a:schemeClr val="tx2"/>
          </a:solidFill>
          <a:ln/>
          <a:effectLst>
            <a:outerShdw sx="100000" sy="100000" kx="0" ky="0" algn="bl" rotWithShape="0" blurRad="127000" dist="38100" dir="5400000">
              <a:srgbClr val="1A1F2B">
                <a:alpha val="18000"/>
              </a:srgbClr>
            </a:outerShdw>
          </a:effectLst>
        </p:spPr>
      </p:sp>
      <p:sp>
        <p:nvSpPr>
          <p:cNvPr id="8" name="Text 6"/>
          <p:cNvSpPr txBox="1"/>
          <p:nvPr/>
        </p:nvSpPr>
        <p:spPr>
          <a:xfrm>
            <a:off x="6355080" y="1920240"/>
            <a:ext cx="4983480" cy="365760"/>
          </a:xfrm>
          <a:prstGeom prst="rect">
            <a:avLst/>
          </a:prstGeom>
          <a:noFill/>
          <a:ln/>
        </p:spPr>
        <p:txBody>
          <a:bodyPr wrap="square" lIns="0" tIns="0" rIns="0" bIns="0" rtlCol="0" anchor="ctr"/>
          <a:lstStyle/>
          <a:p>
            <a:pPr algn="l" indent="0" marL="0">
              <a:buNone/>
            </a:pPr>
            <a:r>
              <a:rPr lang="en-US" sz="1500" b="1" dirty="0">
                <a:solidFill>
                  <a:srgbClr val="FFFFFF"/>
                </a:solidFill>
                <a:latin typeface="Cambria" pitchFamily="34" charset="0"/>
                <a:ea typeface="Cambria" pitchFamily="34" charset="-122"/>
                <a:cs typeface="Cambria" pitchFamily="34" charset="-120"/>
              </a:rPr>
              <a:t>End-to-end (mock ServiceNow + SMTP sink)</a:t>
            </a:r>
            <a:endParaRPr lang="en-US" sz="1500" dirty="0"/>
          </a:p>
        </p:txBody>
      </p:sp>
      <p:sp>
        <p:nvSpPr>
          <p:cNvPr id="9" name="Text 7"/>
          <p:cNvSpPr txBox="1"/>
          <p:nvPr/>
        </p:nvSpPr>
        <p:spPr>
          <a:xfrm>
            <a:off x="6355080" y="2377440"/>
            <a:ext cx="4983480" cy="2423160"/>
          </a:xfrm>
          <a:prstGeom prst="rect">
            <a:avLst/>
          </a:prstGeom>
          <a:noFill/>
          <a:ln/>
        </p:spPr>
        <p:txBody>
          <a:bodyPr wrap="square" lIns="0" tIns="0" rIns="0" bIns="0" rtlCol="0" anchor="ctr"/>
          <a:lstStyle/>
          <a:p>
            <a:pPr algn="l" indent="0" marL="0">
              <a:lnSpc>
                <a:spcPct val="135000"/>
              </a:lnSpc>
              <a:buNone/>
            </a:pPr>
            <a:r>
              <a:rPr lang="en-US" sz="1300" b="1" dirty="0">
                <a:solidFill>
                  <a:schemeClr val="accent1"/>
                </a:solidFill>
                <a:latin typeface="Calibri" pitchFamily="34" charset="0"/>
                <a:ea typeface="Calibri" pitchFamily="34" charset="-122"/>
                <a:cs typeface="Calibri" pitchFamily="34" charset="-120"/>
              </a:rPr>
              <a:t>Run 1  </a:t>
            </a:r>
            <a:pPr algn="l" indent="0" marL="0">
              <a:lnSpc>
                <a:spcPct val="135000"/>
              </a:lnSpc>
              <a:buNone/>
            </a:pPr>
            <a:r>
              <a:rPr lang="en-US" sz="1300" dirty="0">
                <a:solidFill>
                  <a:srgbClr val="E5E9F0"/>
                </a:solidFill>
                <a:latin typeface="Calibri" pitchFamily="34" charset="0"/>
                <a:ea typeface="Calibri" pitchFamily="34" charset="-122"/>
                <a:cs typeface="Calibri" pitchFamily="34" charset="-120"/>
              </a:rPr>
              <a:t>— 5 mock incidents in → 3 emails out (critical, high, stale). Moderate and resolved incidents produced none.
</a:t>
            </a:r>
            <a:pPr algn="l" indent="0" marL="0">
              <a:lnSpc>
                <a:spcPct val="135000"/>
              </a:lnSpc>
              <a:buNone/>
            </a:pPr>
            <a:r>
              <a:rPr lang="en-US" sz="1300" b="1" dirty="0">
                <a:solidFill>
                  <a:schemeClr val="accent1"/>
                </a:solidFill>
                <a:latin typeface="Calibri" pitchFamily="34" charset="0"/>
                <a:ea typeface="Calibri" pitchFamily="34" charset="-122"/>
                <a:cs typeface="Calibri" pitchFamily="34" charset="-120"/>
              </a:rPr>
              <a:t>Run 2  </a:t>
            </a:r>
            <a:pPr algn="l" indent="0" marL="0">
              <a:lnSpc>
                <a:spcPct val="135000"/>
              </a:lnSpc>
              <a:buNone/>
            </a:pPr>
            <a:r>
              <a:rPr lang="en-US" sz="1300" dirty="0">
                <a:solidFill>
                  <a:srgbClr val="E5E9F0"/>
                </a:solidFill>
                <a:latin typeface="Calibri" pitchFamily="34" charset="0"/>
                <a:ea typeface="Calibri" pitchFamily="34" charset="-122"/>
                <a:cs typeface="Calibri" pitchFamily="34" charset="-120"/>
              </a:rPr>
              <a:t>— same static data, run immediately after → 0 new emails. All three keys correctly recognized as already sent.</a:t>
            </a:r>
            <a:endParaRPr lang="en-US" sz="1300" dirty="0"/>
          </a:p>
        </p:txBody>
      </p:sp>
      <p:sp>
        <p:nvSpPr>
          <p:cNvPr id="10" name="Shape 8"/>
          <p:cNvSpPr/>
          <p:nvPr/>
        </p:nvSpPr>
        <p:spPr>
          <a:xfrm>
            <a:off x="548640" y="5120640"/>
            <a:ext cx="11064240" cy="1005840"/>
          </a:xfrm>
          <a:prstGeom prst="roundRect">
            <a:avLst>
              <a:gd name="adj" fmla="val 7273"/>
            </a:avLst>
          </a:prstGeom>
          <a:solidFill>
            <a:schemeClr val="bg1"/>
          </a:solidFill>
          <a:ln w="12700">
            <a:solidFill>
              <a:schemeClr val="accent5"/>
            </a:solidFill>
            <a:prstDash val="solid"/>
          </a:ln>
          <a:effectLst>
            <a:outerShdw sx="100000" sy="100000" kx="0" ky="0" algn="bl" rotWithShape="0" blurRad="127000" dist="38100" dir="5400000">
              <a:srgbClr val="1A1F2B">
                <a:alpha val="18000"/>
              </a:srgbClr>
            </a:outerShdw>
          </a:effectLst>
        </p:spPr>
      </p:sp>
      <p:sp>
        <p:nvSpPr>
          <p:cNvPr id="11" name="Text 9"/>
          <p:cNvSpPr txBox="1"/>
          <p:nvPr/>
        </p:nvSpPr>
        <p:spPr>
          <a:xfrm>
            <a:off x="822960" y="5257800"/>
            <a:ext cx="3017520" cy="274320"/>
          </a:xfrm>
          <a:prstGeom prst="rect">
            <a:avLst/>
          </a:prstGeom>
          <a:noFill/>
          <a:ln/>
        </p:spPr>
        <p:txBody>
          <a:bodyPr wrap="square" lIns="0" tIns="0" rIns="0" bIns="0" rtlCol="0" anchor="ctr"/>
          <a:lstStyle/>
          <a:p>
            <a:pPr algn="l" indent="0" marL="0">
              <a:buNone/>
            </a:pPr>
            <a:r>
              <a:rPr lang="en-US" sz="1200" b="1" dirty="0">
                <a:solidFill>
                  <a:schemeClr val="accent1"/>
                </a:solidFill>
                <a:latin typeface="Calibri" pitchFamily="34" charset="0"/>
                <a:ea typeface="Calibri" pitchFamily="34" charset="-122"/>
                <a:cs typeface="Calibri" pitchFamily="34" charset="-120"/>
              </a:rPr>
              <a:t>Not yet tested — needs live credentials</a:t>
            </a:r>
            <a:endParaRPr lang="en-US" sz="1200" dirty="0"/>
          </a:p>
        </p:txBody>
      </p:sp>
      <p:sp>
        <p:nvSpPr>
          <p:cNvPr id="12" name="Text 10"/>
          <p:cNvSpPr txBox="1"/>
          <p:nvPr/>
        </p:nvSpPr>
        <p:spPr>
          <a:xfrm>
            <a:off x="822960" y="5532120"/>
            <a:ext cx="10515600" cy="457200"/>
          </a:xfrm>
          <a:prstGeom prst="rect">
            <a:avLst/>
          </a:prstGeom>
          <a:noFill/>
          <a:ln/>
        </p:spPr>
        <p:txBody>
          <a:bodyPr wrap="square" lIns="0" tIns="0" rIns="0" bIns="0" rtlCol="0" anchor="ctr"/>
          <a:lstStyle/>
          <a:p>
            <a:pPr algn="l" indent="0" marL="0">
              <a:lnSpc>
                <a:spcPct val="125000"/>
              </a:lnSpc>
              <a:buNone/>
            </a:pPr>
            <a:r>
              <a:rPr lang="en-US" sz="1200" dirty="0">
                <a:solidFill>
                  <a:schemeClr val="accent6"/>
                </a:solidFill>
                <a:latin typeface="Calibri" pitchFamily="34" charset="0"/>
                <a:ea typeface="Calibri" pitchFamily="34" charset="-122"/>
                <a:cs typeface="Calibri" pitchFamily="34" charset="-120"/>
              </a:rPr>
              <a:t>Live ServiceNow connectivity (instance hibernating)  ·  real Gmail SMTP delivery  ·  reminder firing on a real clock  ·  error-workflow delivery</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9144000" cy="320040"/>
          </a:xfrm>
          <a:prstGeom prst="rect">
            <a:avLst/>
          </a:prstGeom>
          <a:noFill/>
          <a:ln/>
        </p:spPr>
        <p:txBody>
          <a:bodyPr wrap="square" rtlCol="0"/>
          <a:lstStyle/>
          <a:p>
            <a:pPr algn="l" indent="0" marL="0">
              <a:buNone/>
            </a:pPr>
            <a:r>
              <a:rPr lang="en-US" sz="1300" b="1" spc="200" kern="0" dirty="0">
                <a:solidFill>
                  <a:schemeClr val="accent2"/>
                </a:solidFill>
                <a:latin typeface="Calibri" pitchFamily="34" charset="0"/>
                <a:ea typeface="Calibri" pitchFamily="34" charset="-122"/>
                <a:cs typeface="Calibri" pitchFamily="34" charset="-120"/>
              </a:rPr>
              <a:t>REPOSITORY</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p>
            <a:pPr algn="l" indent="0" marL="0">
              <a:buNone/>
            </a:pPr>
            <a:r>
              <a:rPr lang="en-US" sz="3200" b="1" dirty="0">
                <a:solidFill>
                  <a:schemeClr val="tx1"/>
                </a:solidFill>
                <a:latin typeface="Cambria" pitchFamily="34" charset="0"/>
                <a:ea typeface="Cambria" pitchFamily="34" charset="-122"/>
                <a:cs typeface="Cambria" pitchFamily="34" charset="-120"/>
              </a:rPr>
              <a:t>github.com/Chethan616/n8n-epsilon  ·  public</a:t>
            </a:r>
            <a:endParaRPr lang="en-US" sz="3200" dirty="0"/>
          </a:p>
        </p:txBody>
      </p:sp>
      <p:sp>
        <p:nvSpPr>
          <p:cNvPr id="4" name="Shape 2"/>
          <p:cNvSpPr/>
          <p:nvPr/>
        </p:nvSpPr>
        <p:spPr>
          <a:xfrm>
            <a:off x="548640" y="1783080"/>
            <a:ext cx="5349240" cy="868680"/>
          </a:xfrm>
          <a:prstGeom prst="roundRect">
            <a:avLst>
              <a:gd name="adj" fmla="val 8421"/>
            </a:avLst>
          </a:prstGeom>
          <a:solidFill>
            <a:schemeClr val="bg1"/>
          </a:solidFill>
          <a:ln w="12700">
            <a:solidFill>
              <a:schemeClr val="accent5"/>
            </a:solidFill>
            <a:prstDash val="solid"/>
          </a:ln>
        </p:spPr>
      </p:sp>
      <p:sp>
        <p:nvSpPr>
          <p:cNvPr id="5" name="Text 3"/>
          <p:cNvSpPr txBox="1"/>
          <p:nvPr/>
        </p:nvSpPr>
        <p:spPr>
          <a:xfrm>
            <a:off x="777240" y="1874520"/>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README.md</a:t>
            </a:r>
            <a:endParaRPr lang="en-US" sz="1300" dirty="0"/>
          </a:p>
        </p:txBody>
      </p:sp>
      <p:sp>
        <p:nvSpPr>
          <p:cNvPr id="6" name="Text 4"/>
          <p:cNvSpPr txBox="1"/>
          <p:nvPr/>
        </p:nvSpPr>
        <p:spPr>
          <a:xfrm>
            <a:off x="777240" y="2221992"/>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Overview, architecture diagram, setup</a:t>
            </a:r>
            <a:endParaRPr lang="en-US" sz="1150" dirty="0"/>
          </a:p>
        </p:txBody>
      </p:sp>
      <p:sp>
        <p:nvSpPr>
          <p:cNvPr id="7" name="Shape 5"/>
          <p:cNvSpPr/>
          <p:nvPr/>
        </p:nvSpPr>
        <p:spPr>
          <a:xfrm>
            <a:off x="6263640" y="1783080"/>
            <a:ext cx="5349240" cy="868680"/>
          </a:xfrm>
          <a:prstGeom prst="roundRect">
            <a:avLst>
              <a:gd name="adj" fmla="val 8421"/>
            </a:avLst>
          </a:prstGeom>
          <a:solidFill>
            <a:schemeClr val="bg1"/>
          </a:solidFill>
          <a:ln w="12700">
            <a:solidFill>
              <a:schemeClr val="accent5"/>
            </a:solidFill>
            <a:prstDash val="solid"/>
          </a:ln>
        </p:spPr>
      </p:sp>
      <p:sp>
        <p:nvSpPr>
          <p:cNvPr id="8" name="Text 6"/>
          <p:cNvSpPr txBox="1"/>
          <p:nvPr/>
        </p:nvSpPr>
        <p:spPr>
          <a:xfrm>
            <a:off x="6492240" y="1874520"/>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plan.md</a:t>
            </a:r>
            <a:endParaRPr lang="en-US" sz="1300" dirty="0"/>
          </a:p>
        </p:txBody>
      </p:sp>
      <p:sp>
        <p:nvSpPr>
          <p:cNvPr id="9" name="Text 7"/>
          <p:cNvSpPr txBox="1"/>
          <p:nvPr/>
        </p:nvSpPr>
        <p:spPr>
          <a:xfrm>
            <a:off x="6492240" y="2221992"/>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Reminder + claim-based design, task split</a:t>
            </a:r>
            <a:endParaRPr lang="en-US" sz="1150" dirty="0"/>
          </a:p>
        </p:txBody>
      </p:sp>
      <p:sp>
        <p:nvSpPr>
          <p:cNvPr id="10" name="Shape 8"/>
          <p:cNvSpPr/>
          <p:nvPr/>
        </p:nvSpPr>
        <p:spPr>
          <a:xfrm>
            <a:off x="548640" y="2816352"/>
            <a:ext cx="5349240" cy="868680"/>
          </a:xfrm>
          <a:prstGeom prst="roundRect">
            <a:avLst>
              <a:gd name="adj" fmla="val 8421"/>
            </a:avLst>
          </a:prstGeom>
          <a:solidFill>
            <a:schemeClr val="bg1"/>
          </a:solidFill>
          <a:ln w="12700">
            <a:solidFill>
              <a:schemeClr val="accent5"/>
            </a:solidFill>
            <a:prstDash val="solid"/>
          </a:ln>
        </p:spPr>
      </p:sp>
      <p:sp>
        <p:nvSpPr>
          <p:cNvPr id="11" name="Text 9"/>
          <p:cNvSpPr txBox="1"/>
          <p:nvPr/>
        </p:nvSpPr>
        <p:spPr>
          <a:xfrm>
            <a:off x="777240" y="2907792"/>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docs/architecture.md</a:t>
            </a:r>
            <a:endParaRPr lang="en-US" sz="1300" dirty="0"/>
          </a:p>
        </p:txBody>
      </p:sp>
      <p:sp>
        <p:nvSpPr>
          <p:cNvPr id="12" name="Text 10"/>
          <p:cNvSpPr txBox="1"/>
          <p:nvPr/>
        </p:nvSpPr>
        <p:spPr>
          <a:xfrm>
            <a:off x="777240" y="3255264"/>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Full design doc</a:t>
            </a:r>
            <a:endParaRPr lang="en-US" sz="1150" dirty="0"/>
          </a:p>
        </p:txBody>
      </p:sp>
      <p:sp>
        <p:nvSpPr>
          <p:cNvPr id="13" name="Shape 11"/>
          <p:cNvSpPr/>
          <p:nvPr/>
        </p:nvSpPr>
        <p:spPr>
          <a:xfrm>
            <a:off x="6263640" y="2816352"/>
            <a:ext cx="5349240" cy="868680"/>
          </a:xfrm>
          <a:prstGeom prst="roundRect">
            <a:avLst>
              <a:gd name="adj" fmla="val 8421"/>
            </a:avLst>
          </a:prstGeom>
          <a:solidFill>
            <a:schemeClr val="bg1"/>
          </a:solidFill>
          <a:ln w="12700">
            <a:solidFill>
              <a:schemeClr val="accent5"/>
            </a:solidFill>
            <a:prstDash val="solid"/>
          </a:ln>
        </p:spPr>
      </p:sp>
      <p:sp>
        <p:nvSpPr>
          <p:cNvPr id="14" name="Text 12"/>
          <p:cNvSpPr txBox="1"/>
          <p:nvPr/>
        </p:nvSpPr>
        <p:spPr>
          <a:xfrm>
            <a:off x="6492240" y="2907792"/>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docs/test-results.md</a:t>
            </a:r>
            <a:endParaRPr lang="en-US" sz="1300" dirty="0"/>
          </a:p>
        </p:txBody>
      </p:sp>
      <p:sp>
        <p:nvSpPr>
          <p:cNvPr id="15" name="Text 13"/>
          <p:cNvSpPr txBox="1"/>
          <p:nvPr/>
        </p:nvSpPr>
        <p:spPr>
          <a:xfrm>
            <a:off x="6492240" y="3255264"/>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Unit + end-to-end results</a:t>
            </a:r>
            <a:endParaRPr lang="en-US" sz="1150" dirty="0"/>
          </a:p>
        </p:txBody>
      </p:sp>
      <p:sp>
        <p:nvSpPr>
          <p:cNvPr id="16" name="Shape 14"/>
          <p:cNvSpPr/>
          <p:nvPr/>
        </p:nvSpPr>
        <p:spPr>
          <a:xfrm>
            <a:off x="548640" y="3849624"/>
            <a:ext cx="5349240" cy="868680"/>
          </a:xfrm>
          <a:prstGeom prst="roundRect">
            <a:avLst>
              <a:gd name="adj" fmla="val 8421"/>
            </a:avLst>
          </a:prstGeom>
          <a:solidFill>
            <a:schemeClr val="bg1"/>
          </a:solidFill>
          <a:ln w="12700">
            <a:solidFill>
              <a:schemeClr val="accent5"/>
            </a:solidFill>
            <a:prstDash val="solid"/>
          </a:ln>
        </p:spPr>
      </p:sp>
      <p:sp>
        <p:nvSpPr>
          <p:cNvPr id="17" name="Text 15"/>
          <p:cNvSpPr txBox="1"/>
          <p:nvPr/>
        </p:nvSpPr>
        <p:spPr>
          <a:xfrm>
            <a:off x="777240" y="3941064"/>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workflows/*.json</a:t>
            </a:r>
            <a:endParaRPr lang="en-US" sz="1300" dirty="0"/>
          </a:p>
        </p:txBody>
      </p:sp>
      <p:sp>
        <p:nvSpPr>
          <p:cNvPr id="18" name="Text 16"/>
          <p:cNvSpPr txBox="1"/>
          <p:nvPr/>
        </p:nvSpPr>
        <p:spPr>
          <a:xfrm>
            <a:off x="777240" y="4288536"/>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Importable n8n workflow + error handler</a:t>
            </a:r>
            <a:endParaRPr lang="en-US" sz="1150" dirty="0"/>
          </a:p>
        </p:txBody>
      </p:sp>
      <p:sp>
        <p:nvSpPr>
          <p:cNvPr id="19" name="Shape 17"/>
          <p:cNvSpPr/>
          <p:nvPr/>
        </p:nvSpPr>
        <p:spPr>
          <a:xfrm>
            <a:off x="6263640" y="3849624"/>
            <a:ext cx="5349240" cy="868680"/>
          </a:xfrm>
          <a:prstGeom prst="roundRect">
            <a:avLst>
              <a:gd name="adj" fmla="val 8421"/>
            </a:avLst>
          </a:prstGeom>
          <a:solidFill>
            <a:schemeClr val="bg1"/>
          </a:solidFill>
          <a:ln w="12700">
            <a:solidFill>
              <a:schemeClr val="accent5"/>
            </a:solidFill>
            <a:prstDash val="solid"/>
          </a:ln>
        </p:spPr>
      </p:sp>
      <p:sp>
        <p:nvSpPr>
          <p:cNvPr id="20" name="Text 18"/>
          <p:cNvSpPr txBox="1"/>
          <p:nvPr/>
        </p:nvSpPr>
        <p:spPr>
          <a:xfrm>
            <a:off x="6492240" y="3941064"/>
            <a:ext cx="4892040" cy="320040"/>
          </a:xfrm>
          <a:prstGeom prst="rect">
            <a:avLst/>
          </a:prstGeom>
          <a:noFill/>
          <a:ln/>
        </p:spPr>
        <p:txBody>
          <a:bodyPr wrap="square" lIns="0" tIns="0" rIns="0" bIns="0" rtlCol="0" anchor="ctr"/>
          <a:lstStyle/>
          <a:p>
            <a:pPr algn="l" indent="0" marL="0">
              <a:buNone/>
            </a:pPr>
            <a:r>
              <a:rPr lang="en-US" sz="1300" b="1" dirty="0">
                <a:solidFill>
                  <a:schemeClr val="accent2"/>
                </a:solidFill>
                <a:latin typeface="Courier New" pitchFamily="34" charset="0"/>
                <a:ea typeface="Courier New" pitchFamily="34" charset="-122"/>
                <a:cs typeface="Courier New" pitchFamily="34" charset="-120"/>
              </a:rPr>
              <a:t>.env.example, links.txt</a:t>
            </a:r>
            <a:endParaRPr lang="en-US" sz="1300" dirty="0"/>
          </a:p>
        </p:txBody>
      </p:sp>
      <p:sp>
        <p:nvSpPr>
          <p:cNvPr id="21" name="Text 19"/>
          <p:cNvSpPr txBox="1"/>
          <p:nvPr/>
        </p:nvSpPr>
        <p:spPr>
          <a:xfrm>
            <a:off x="6492240" y="4288536"/>
            <a:ext cx="4892040" cy="365760"/>
          </a:xfrm>
          <a:prstGeom prst="rect">
            <a:avLst/>
          </a:prstGeom>
          <a:noFill/>
          <a:ln/>
        </p:spPr>
        <p:txBody>
          <a:bodyPr wrap="square" lIns="0" tIns="0" rIns="0" bIns="0" rtlCol="0" anchor="ctr"/>
          <a:lstStyle/>
          <a:p>
            <a:pPr algn="l" indent="0" marL="0">
              <a:buNone/>
            </a:pPr>
            <a:r>
              <a:rPr lang="en-US" sz="1150" dirty="0">
                <a:solidFill>
                  <a:schemeClr val="accent6"/>
                </a:solidFill>
                <a:latin typeface="Calibri" pitchFamily="34" charset="0"/>
                <a:ea typeface="Calibri" pitchFamily="34" charset="-122"/>
                <a:cs typeface="Calibri" pitchFamily="34" charset="-120"/>
              </a:rPr>
              <a:t>Config template and reference links</a:t>
            </a:r>
            <a:endParaRPr lang="en-US" sz="1150" dirty="0"/>
          </a:p>
        </p:txBody>
      </p:sp>
      <p:sp>
        <p:nvSpPr>
          <p:cNvPr id="22" name="Shape 20"/>
          <p:cNvSpPr/>
          <p:nvPr/>
        </p:nvSpPr>
        <p:spPr>
          <a:xfrm>
            <a:off x="548640" y="5074920"/>
            <a:ext cx="5349240" cy="1188720"/>
          </a:xfrm>
          <a:prstGeom prst="roundRect">
            <a:avLst>
              <a:gd name="adj" fmla="val 6154"/>
            </a:avLst>
          </a:prstGeom>
          <a:solidFill>
            <a:schemeClr val="tx2"/>
          </a:solidFill>
          <a:ln/>
          <a:effectLst>
            <a:outerShdw sx="100000" sy="100000" kx="0" ky="0" algn="bl" rotWithShape="0" blurRad="127000" dist="38100" dir="5400000">
              <a:srgbClr val="1A1F2B">
                <a:alpha val="18000"/>
              </a:srgbClr>
            </a:outerShdw>
          </a:effectLst>
        </p:spPr>
      </p:sp>
      <p:sp>
        <p:nvSpPr>
          <p:cNvPr id="23" name="Text 21"/>
          <p:cNvSpPr txBox="1"/>
          <p:nvPr/>
        </p:nvSpPr>
        <p:spPr>
          <a:xfrm>
            <a:off x="822960" y="5212080"/>
            <a:ext cx="4846320" cy="320040"/>
          </a:xfrm>
          <a:prstGeom prst="rect">
            <a:avLst/>
          </a:prstGeom>
          <a:noFill/>
          <a:ln/>
        </p:spPr>
        <p:txBody>
          <a:bodyPr wrap="square" lIns="0" tIns="0" rIns="0" bIns="0" rtlCol="0" anchor="ctr"/>
          <a:lstStyle/>
          <a:p>
            <a:pPr algn="l" indent="0" marL="0">
              <a:buNone/>
            </a:pPr>
            <a:r>
              <a:rPr lang="en-US" sz="1400" b="1" dirty="0">
                <a:solidFill>
                  <a:schemeClr val="accent1"/>
                </a:solidFill>
                <a:latin typeface="Cambria" pitchFamily="34" charset="0"/>
                <a:ea typeface="Cambria" pitchFamily="34" charset="-122"/>
                <a:cs typeface="Cambria" pitchFamily="34" charset="-120"/>
              </a:rPr>
              <a:t>Chethan</a:t>
            </a:r>
            <a:endParaRPr lang="en-US" sz="1400" dirty="0"/>
          </a:p>
        </p:txBody>
      </p:sp>
      <p:sp>
        <p:nvSpPr>
          <p:cNvPr id="24" name="Text 22"/>
          <p:cNvSpPr txBox="1"/>
          <p:nvPr/>
        </p:nvSpPr>
        <p:spPr>
          <a:xfrm>
            <a:off x="822960" y="5532120"/>
            <a:ext cx="4846320" cy="640080"/>
          </a:xfrm>
          <a:prstGeom prst="rect">
            <a:avLst/>
          </a:prstGeom>
          <a:noFill/>
          <a:ln/>
        </p:spPr>
        <p:txBody>
          <a:bodyPr wrap="square" lIns="0" tIns="0" rIns="0" bIns="0" rtlCol="0" anchor="ctr"/>
          <a:lstStyle/>
          <a:p>
            <a:pPr algn="l" indent="0" marL="0">
              <a:lnSpc>
                <a:spcPct val="125000"/>
              </a:lnSpc>
              <a:buNone/>
            </a:pPr>
            <a:r>
              <a:rPr lang="en-US" sz="1150" dirty="0">
                <a:solidFill>
                  <a:srgbClr val="E5E9F0"/>
                </a:solidFill>
                <a:latin typeface="Calibri" pitchFamily="34" charset="0"/>
                <a:ea typeface="Calibri" pitchFamily="34" charset="-122"/>
                <a:cs typeface="Calibri" pitchFamily="34" charset="-120"/>
              </a:rPr>
              <a:t>Design, claim-based dedup implementation, workflow build, testing, ServiceNow connectivity</a:t>
            </a:r>
            <a:endParaRPr lang="en-US" sz="1150" dirty="0"/>
          </a:p>
        </p:txBody>
      </p:sp>
      <p:sp>
        <p:nvSpPr>
          <p:cNvPr id="25" name="Shape 23"/>
          <p:cNvSpPr/>
          <p:nvPr/>
        </p:nvSpPr>
        <p:spPr>
          <a:xfrm>
            <a:off x="6080760" y="5074920"/>
            <a:ext cx="5532120" cy="1188720"/>
          </a:xfrm>
          <a:prstGeom prst="roundRect">
            <a:avLst>
              <a:gd name="adj" fmla="val 6154"/>
            </a:avLst>
          </a:prstGeom>
          <a:solidFill>
            <a:schemeClr val="tx2"/>
          </a:solidFill>
          <a:ln/>
          <a:effectLst>
            <a:outerShdw sx="100000" sy="100000" kx="0" ky="0" algn="bl" rotWithShape="0" blurRad="127000" dist="38100" dir="5400000">
              <a:srgbClr val="1A1F2B">
                <a:alpha val="18000"/>
              </a:srgbClr>
            </a:outerShdw>
          </a:effectLst>
        </p:spPr>
      </p:sp>
      <p:sp>
        <p:nvSpPr>
          <p:cNvPr id="26" name="Text 24"/>
          <p:cNvSpPr txBox="1"/>
          <p:nvPr/>
        </p:nvSpPr>
        <p:spPr>
          <a:xfrm>
            <a:off x="6355080" y="5212080"/>
            <a:ext cx="5029200" cy="320040"/>
          </a:xfrm>
          <a:prstGeom prst="rect">
            <a:avLst/>
          </a:prstGeom>
          <a:noFill/>
          <a:ln/>
        </p:spPr>
        <p:txBody>
          <a:bodyPr wrap="square" lIns="0" tIns="0" rIns="0" bIns="0" rtlCol="0" anchor="ctr"/>
          <a:lstStyle/>
          <a:p>
            <a:pPr algn="l" indent="0" marL="0">
              <a:buNone/>
            </a:pPr>
            <a:r>
              <a:rPr lang="en-US" sz="1400" b="1" dirty="0">
                <a:solidFill>
                  <a:schemeClr val="accent3"/>
                </a:solidFill>
                <a:latin typeface="Cambria" pitchFamily="34" charset="0"/>
                <a:ea typeface="Cambria" pitchFamily="34" charset="-122"/>
                <a:cs typeface="Cambria" pitchFamily="34" charset="-120"/>
              </a:rPr>
              <a:t>Sanjna</a:t>
            </a:r>
            <a:endParaRPr lang="en-US" sz="1400" dirty="0"/>
          </a:p>
        </p:txBody>
      </p:sp>
      <p:sp>
        <p:nvSpPr>
          <p:cNvPr id="27" name="Text 25"/>
          <p:cNvSpPr txBox="1"/>
          <p:nvPr/>
        </p:nvSpPr>
        <p:spPr>
          <a:xfrm>
            <a:off x="6355080" y="5532120"/>
            <a:ext cx="5029200" cy="640080"/>
          </a:xfrm>
          <a:prstGeom prst="rect">
            <a:avLst/>
          </a:prstGeom>
          <a:noFill/>
          <a:ln/>
        </p:spPr>
        <p:txBody>
          <a:bodyPr wrap="square" lIns="0" tIns="0" rIns="0" bIns="0" rtlCol="0" anchor="ctr"/>
          <a:lstStyle/>
          <a:p>
            <a:pPr algn="l" indent="0" marL="0">
              <a:lnSpc>
                <a:spcPct val="125000"/>
              </a:lnSpc>
              <a:buNone/>
            </a:pPr>
            <a:r>
              <a:rPr lang="en-US" sz="1150" dirty="0">
                <a:solidFill>
                  <a:srgbClr val="E5E9F0"/>
                </a:solidFill>
                <a:latin typeface="Calibri" pitchFamily="34" charset="0"/>
                <a:ea typeface="Calibri" pitchFamily="34" charset="-122"/>
                <a:cs typeface="Calibri" pitchFamily="34" charset="-120"/>
              </a:rPr>
              <a:t>Gmail SMTP setup + live send test, reminder-firing validation, error-workflow delivery test</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822960"/>
            <a:ext cx="10515600" cy="1005840"/>
          </a:xfrm>
          <a:prstGeom prst="rect">
            <a:avLst/>
          </a:prstGeom>
          <a:noFill/>
          <a:ln/>
        </p:spPr>
        <p:txBody>
          <a:bodyPr wrap="square" rtlCol="0"/>
          <a:lstStyle/>
          <a:p>
            <a:pPr algn="l" indent="0" marL="0">
              <a:buNone/>
            </a:pPr>
            <a:r>
              <a:rPr lang="en-US" sz="3600" b="1" dirty="0">
                <a:solidFill>
                  <a:schemeClr val="bg1"/>
                </a:solidFill>
                <a:latin typeface="Cambria" pitchFamily="34" charset="0"/>
                <a:ea typeface="Cambria" pitchFamily="34" charset="-122"/>
                <a:cs typeface="Cambria" pitchFamily="34" charset="-120"/>
              </a:rPr>
              <a:t>Status &amp; Next Steps</a:t>
            </a:r>
            <a:endParaRPr lang="en-US" sz="3600" dirty="0"/>
          </a:p>
        </p:txBody>
      </p:sp>
      <p:sp>
        <p:nvSpPr>
          <p:cNvPr id="3" name="Text 1"/>
          <p:cNvSpPr txBox="1"/>
          <p:nvPr/>
        </p:nvSpPr>
        <p:spPr>
          <a:xfrm>
            <a:off x="822960" y="2103120"/>
            <a:ext cx="5120640" cy="365760"/>
          </a:xfrm>
          <a:prstGeom prst="rect">
            <a:avLst/>
          </a:prstGeom>
          <a:noFill/>
          <a:ln/>
        </p:spPr>
        <p:txBody>
          <a:bodyPr wrap="square" lIns="0" tIns="0" rIns="0" bIns="0" rtlCol="0" anchor="ctr"/>
          <a:lstStyle/>
          <a:p>
            <a:pPr algn="l" indent="0" marL="0">
              <a:buNone/>
            </a:pPr>
            <a:r>
              <a:rPr lang="en-US" sz="1300" b="1" spc="200" kern="0" dirty="0">
                <a:solidFill>
                  <a:srgbClr val="7DD3C0"/>
                </a:solidFill>
                <a:latin typeface="Calibri" pitchFamily="34" charset="0"/>
                <a:ea typeface="Calibri" pitchFamily="34" charset="-122"/>
                <a:cs typeface="Calibri" pitchFamily="34" charset="-120"/>
              </a:rPr>
              <a:t>DONE</a:t>
            </a:r>
            <a:endParaRPr lang="en-US" sz="1300" dirty="0"/>
          </a:p>
        </p:txBody>
      </p:sp>
      <p:sp>
        <p:nvSpPr>
          <p:cNvPr id="4" name="Text 2"/>
          <p:cNvSpPr txBox="1"/>
          <p:nvPr/>
        </p:nvSpPr>
        <p:spPr>
          <a:xfrm>
            <a:off x="822960" y="2560320"/>
            <a:ext cx="5120640" cy="2377440"/>
          </a:xfrm>
          <a:prstGeom prst="rect">
            <a:avLst/>
          </a:prstGeom>
          <a:noFill/>
          <a:ln/>
        </p:spPr>
        <p:txBody>
          <a:bodyPr wrap="square" lIns="0" tIns="0" rIns="0" bIns="0" rtlCol="0" anchor="ctr"/>
          <a:lstStyle/>
          <a:p>
            <a:pPr algn="l" marL="342900" indent="-342900">
              <a:lnSpc>
                <a:spcPct val="140000"/>
              </a:lnSpc>
              <a:spcAft>
                <a:spcPts val="1000"/>
              </a:spcAft>
              <a:buSzPct val="100000"/>
              <a:buChar char="•"/>
            </a:pPr>
            <a:r>
              <a:rPr lang="en-US" sz="1450" dirty="0">
                <a:solidFill>
                  <a:srgbClr val="E5E9F0"/>
                </a:solidFill>
                <a:latin typeface="Calibri" pitchFamily="34" charset="0"/>
                <a:ea typeface="Calibri" pitchFamily="34" charset="-122"/>
                <a:cs typeface="Calibri" pitchFamily="34" charset="-120"/>
              </a:rPr>
              <a:t>Design: reminder policy + claim-based dedup</a:t>
            </a:r>
            <a:endParaRPr lang="en-US" sz="1450" dirty="0"/>
          </a:p>
          <a:p>
            <a:pPr algn="l" marL="342900" indent="-342900">
              <a:lnSpc>
                <a:spcPct val="140000"/>
              </a:lnSpc>
              <a:spcAft>
                <a:spcPts val="1000"/>
              </a:spcAft>
              <a:buSzPct val="100000"/>
              <a:buChar char="•"/>
            </a:pPr>
            <a:r>
              <a:rPr lang="en-US" sz="1450" dirty="0">
                <a:solidFill>
                  <a:srgbClr val="E5E9F0"/>
                </a:solidFill>
                <a:latin typeface="Calibri" pitchFamily="34" charset="0"/>
                <a:ea typeface="Calibri" pitchFamily="34" charset="-122"/>
                <a:cs typeface="Calibri" pitchFamily="34" charset="-120"/>
              </a:rPr>
              <a:t>All code nodes implemented and unit-tested</a:t>
            </a:r>
            <a:endParaRPr lang="en-US" sz="1450" dirty="0"/>
          </a:p>
          <a:p>
            <a:pPr algn="l" marL="342900" indent="-342900">
              <a:lnSpc>
                <a:spcPct val="140000"/>
              </a:lnSpc>
              <a:spcAft>
                <a:spcPts val="1000"/>
              </a:spcAft>
              <a:buSzPct val="100000"/>
              <a:buChar char="•"/>
            </a:pPr>
            <a:r>
              <a:rPr lang="en-US" sz="1450" dirty="0">
                <a:solidFill>
                  <a:srgbClr val="E5E9F0"/>
                </a:solidFill>
                <a:latin typeface="Calibri" pitchFamily="34" charset="0"/>
                <a:ea typeface="Calibri" pitchFamily="34" charset="-122"/>
                <a:cs typeface="Calibri" pitchFamily="34" charset="-120"/>
              </a:rPr>
              <a:t>End-to-end verified on mock ServiceNow + SMTP</a:t>
            </a:r>
            <a:endParaRPr lang="en-US" sz="1450" dirty="0"/>
          </a:p>
        </p:txBody>
      </p:sp>
      <p:sp>
        <p:nvSpPr>
          <p:cNvPr id="5" name="Text 3"/>
          <p:cNvSpPr txBox="1"/>
          <p:nvPr/>
        </p:nvSpPr>
        <p:spPr>
          <a:xfrm>
            <a:off x="6400800" y="2103120"/>
            <a:ext cx="5120640" cy="365760"/>
          </a:xfrm>
          <a:prstGeom prst="rect">
            <a:avLst/>
          </a:prstGeom>
          <a:noFill/>
          <a:ln/>
        </p:spPr>
        <p:txBody>
          <a:bodyPr wrap="square" lIns="0" tIns="0" rIns="0" bIns="0" rtlCol="0" anchor="ctr"/>
          <a:lstStyle/>
          <a:p>
            <a:pPr algn="l" indent="0" marL="0">
              <a:buNone/>
            </a:pPr>
            <a:r>
              <a:rPr lang="en-US" sz="1300" b="1" spc="200" kern="0" dirty="0">
                <a:solidFill>
                  <a:srgbClr val="FFB86B"/>
                </a:solidFill>
                <a:latin typeface="Calibri" pitchFamily="34" charset="0"/>
                <a:ea typeface="Calibri" pitchFamily="34" charset="-122"/>
                <a:cs typeface="Calibri" pitchFamily="34" charset="-120"/>
              </a:rPr>
              <a:t>NEXT</a:t>
            </a:r>
            <a:endParaRPr lang="en-US" sz="1300" dirty="0"/>
          </a:p>
        </p:txBody>
      </p:sp>
      <p:sp>
        <p:nvSpPr>
          <p:cNvPr id="6" name="Text 4"/>
          <p:cNvSpPr txBox="1"/>
          <p:nvPr/>
        </p:nvSpPr>
        <p:spPr>
          <a:xfrm>
            <a:off x="6400800" y="2560320"/>
            <a:ext cx="5120640" cy="2377440"/>
          </a:xfrm>
          <a:prstGeom prst="rect">
            <a:avLst/>
          </a:prstGeom>
          <a:noFill/>
          <a:ln/>
        </p:spPr>
        <p:txBody>
          <a:bodyPr wrap="square" lIns="0" tIns="0" rIns="0" bIns="0" rtlCol="0" anchor="ctr"/>
          <a:lstStyle/>
          <a:p>
            <a:pPr algn="l" marL="342900" indent="-342900">
              <a:lnSpc>
                <a:spcPct val="140000"/>
              </a:lnSpc>
              <a:spcAft>
                <a:spcPts val="1000"/>
              </a:spcAft>
              <a:buSzPct val="100000"/>
              <a:buChar char="•"/>
            </a:pPr>
            <a:r>
              <a:rPr lang="en-US" sz="1450" dirty="0">
                <a:solidFill>
                  <a:srgbClr val="E5E9F0"/>
                </a:solidFill>
                <a:latin typeface="Calibri" pitchFamily="34" charset="0"/>
                <a:ea typeface="Calibri" pitchFamily="34" charset="-122"/>
                <a:cs typeface="Calibri" pitchFamily="34" charset="-120"/>
              </a:rPr>
              <a:t>Wake dev421307 and seed sample incidents</a:t>
            </a:r>
            <a:endParaRPr lang="en-US" sz="1450" dirty="0"/>
          </a:p>
          <a:p>
            <a:pPr algn="l" marL="342900" indent="-342900">
              <a:lnSpc>
                <a:spcPct val="140000"/>
              </a:lnSpc>
              <a:spcAft>
                <a:spcPts val="1000"/>
              </a:spcAft>
              <a:buSzPct val="100000"/>
              <a:buChar char="•"/>
            </a:pPr>
            <a:r>
              <a:rPr lang="en-US" sz="1450" dirty="0">
                <a:solidFill>
                  <a:srgbClr val="E5E9F0"/>
                </a:solidFill>
                <a:latin typeface="Calibri" pitchFamily="34" charset="0"/>
                <a:ea typeface="Calibri" pitchFamily="34" charset="-122"/>
                <a:cs typeface="Calibri" pitchFamily="34" charset="-120"/>
              </a:rPr>
              <a:t>Wire up Gmail SMTP, run a real send</a:t>
            </a:r>
            <a:endParaRPr lang="en-US" sz="1450" dirty="0"/>
          </a:p>
          <a:p>
            <a:pPr algn="l" marL="342900" indent="-342900">
              <a:lnSpc>
                <a:spcPct val="140000"/>
              </a:lnSpc>
              <a:spcAft>
                <a:spcPts val="1000"/>
              </a:spcAft>
              <a:buSzPct val="100000"/>
              <a:buChar char="•"/>
            </a:pPr>
            <a:r>
              <a:rPr lang="en-US" sz="1450" dirty="0">
                <a:solidFill>
                  <a:srgbClr val="E5E9F0"/>
                </a:solidFill>
                <a:latin typeface="Calibri" pitchFamily="34" charset="0"/>
                <a:ea typeface="Calibri" pitchFamily="34" charset="-122"/>
                <a:cs typeface="Calibri" pitchFamily="34" charset="-120"/>
              </a:rPr>
              <a:t>Validate a reminder firing on a real clock</a:t>
            </a:r>
            <a:endParaRPr lang="en-US" sz="1450" dirty="0"/>
          </a:p>
        </p:txBody>
      </p:sp>
      <p:sp>
        <p:nvSpPr>
          <p:cNvPr id="7" name="Text 5"/>
          <p:cNvSpPr txBox="1"/>
          <p:nvPr/>
        </p:nvSpPr>
        <p:spPr>
          <a:xfrm>
            <a:off x="822960" y="6035040"/>
            <a:ext cx="9144000" cy="365760"/>
          </a:xfrm>
          <a:prstGeom prst="rect">
            <a:avLst/>
          </a:prstGeom>
          <a:noFill/>
          <a:ln/>
        </p:spPr>
        <p:txBody>
          <a:bodyPr wrap="square" lIns="0" tIns="0" rIns="0" bIns="0" rtlCol="0" anchor="ctr"/>
          <a:lstStyle/>
          <a:p>
            <a:pPr algn="l" indent="0" marL="0">
              <a:buNone/>
            </a:pPr>
            <a:r>
              <a:rPr lang="en-US" sz="1400" dirty="0">
                <a:solidFill>
                  <a:schemeClr val="accent1"/>
                </a:solidFill>
                <a:latin typeface="Courier New" pitchFamily="34" charset="0"/>
                <a:ea typeface="Courier New" pitchFamily="34" charset="-122"/>
                <a:cs typeface="Courier New" pitchFamily="34" charset="-120"/>
              </a:rPr>
              <a:t>github.com/Chethan616/n8n-epsilon</a:t>
            </a:r>
            <a:endParaRPr lang="en-US" sz="1400" dirty="0"/>
          </a:p>
        </p:txBody>
      </p:sp>
    </p:spTree>
  </p:cSld>
  <p:clrMapOvr>
    <a:masterClrMapping/>
  </p:clrMapOvr>
</p:sld>
</file>

<file path=ppt/theme/theme1.xml><?xml version="1.0" encoding="utf-8"?>
<a:theme xmlns:a="http://schemas.openxmlformats.org/drawingml/2006/main" name="Epsilon Incident Monitor">
  <a:themeElements>
    <a:clrScheme name="Epsilon Incident Monitor">
      <a:dk1>
        <a:srgbClr val="101828"/>
      </a:dk1>
      <a:lt1>
        <a:srgbClr val="FFFFFF"/>
      </a:lt1>
      <a:dk2>
        <a:srgbClr val="0B1220"/>
      </a:dk2>
      <a:lt2>
        <a:srgbClr val="F7F8FA"/>
      </a:lt2>
      <a:accent1>
        <a:srgbClr val="F2994A"/>
      </a:accent1>
      <a:accent2>
        <a:srgbClr val="2F6FED"/>
      </a:accent2>
      <a:accent3>
        <a:srgbClr val="0EA5A3"/>
      </a:accent3>
      <a:accent4>
        <a:srgbClr val="6B7280"/>
      </a:accent4>
      <a:accent5>
        <a:srgbClr val="E3E6E4"/>
      </a:accent5>
      <a:accent6>
        <a:srgbClr val="4A5568"/>
      </a:accent6>
      <a:hlink>
        <a:srgbClr val="2F6FED"/>
      </a:hlink>
      <a:folHlink>
        <a:srgbClr val="6B7280"/>
      </a:folHlink>
    </a:clrScheme>
    <a:fontScheme name="Epsilon Incident Monito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2026-10-25T09:43:36Z</dcterms:created>
  <dcterms:modified xsi:type="dcterms:W3CDTF">2026-10-25T09:43:36Z</dcterms:modified>
</cp:coreProperties>
</file>